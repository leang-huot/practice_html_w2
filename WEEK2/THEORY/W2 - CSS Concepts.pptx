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1"/>
  </p:notesMasterIdLst>
  <p:sldIdLst>
    <p:sldId id="291" r:id="rId2"/>
    <p:sldId id="257" r:id="rId3"/>
    <p:sldId id="700" r:id="rId4"/>
    <p:sldId id="699" r:id="rId5"/>
    <p:sldId id="701" r:id="rId6"/>
    <p:sldId id="718" r:id="rId7"/>
    <p:sldId id="720" r:id="rId8"/>
    <p:sldId id="710" r:id="rId9"/>
    <p:sldId id="525" r:id="rId10"/>
    <p:sldId id="517" r:id="rId11"/>
    <p:sldId id="726" r:id="rId12"/>
    <p:sldId id="719" r:id="rId13"/>
    <p:sldId id="722" r:id="rId14"/>
    <p:sldId id="740" r:id="rId15"/>
    <p:sldId id="741" r:id="rId16"/>
    <p:sldId id="728" r:id="rId17"/>
    <p:sldId id="727" r:id="rId18"/>
    <p:sldId id="730" r:id="rId19"/>
    <p:sldId id="702" r:id="rId20"/>
    <p:sldId id="711" r:id="rId21"/>
    <p:sldId id="314" r:id="rId22"/>
    <p:sldId id="313" r:id="rId23"/>
    <p:sldId id="715" r:id="rId24"/>
    <p:sldId id="716" r:id="rId25"/>
    <p:sldId id="717" r:id="rId26"/>
    <p:sldId id="703" r:id="rId27"/>
    <p:sldId id="689" r:id="rId28"/>
    <p:sldId id="732" r:id="rId29"/>
    <p:sldId id="734" r:id="rId30"/>
    <p:sldId id="733" r:id="rId31"/>
    <p:sldId id="735" r:id="rId32"/>
    <p:sldId id="738" r:id="rId33"/>
    <p:sldId id="739" r:id="rId34"/>
    <p:sldId id="708" r:id="rId35"/>
    <p:sldId id="731" r:id="rId36"/>
    <p:sldId id="332" r:id="rId37"/>
    <p:sldId id="351" r:id="rId38"/>
    <p:sldId id="729" r:id="rId39"/>
    <p:sldId id="325" r:id="rId40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1459D"/>
    <a:srgbClr val="EACEE9"/>
    <a:srgbClr val="0BC0D3"/>
    <a:srgbClr val="98EBF6"/>
    <a:srgbClr val="60DFF2"/>
    <a:srgbClr val="EDEFA0"/>
    <a:srgbClr val="A2A0EF"/>
    <a:srgbClr val="70AD47"/>
    <a:srgbClr val="F4CA02"/>
    <a:srgbClr val="FF89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831" autoAdjust="0"/>
    <p:restoredTop sz="92527" autoAdjust="0"/>
  </p:normalViewPr>
  <p:slideViewPr>
    <p:cSldViewPr snapToGrid="0">
      <p:cViewPr>
        <p:scale>
          <a:sx n="66" d="100"/>
          <a:sy n="66" d="100"/>
        </p:scale>
        <p:origin x="2262" y="10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microsoft.com/office/2016/11/relationships/changesInfo" Target="changesInfos/changesInfo1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nan Ogor" userId="473d6ea9-be06-4609-b78d-125cc115ecf4" providerId="ADAL" clId="{B561F487-D44B-4102-99BC-5E6CD2D241BF}"/>
    <pc:docChg chg="modSld">
      <pc:chgData name="Ronan Ogor" userId="473d6ea9-be06-4609-b78d-125cc115ecf4" providerId="ADAL" clId="{B561F487-D44B-4102-99BC-5E6CD2D241BF}" dt="2026-09-19T06:58:01.241" v="1" actId="6549"/>
      <pc:docMkLst>
        <pc:docMk/>
      </pc:docMkLst>
      <pc:sldChg chg="modSp mod">
        <pc:chgData name="Ronan Ogor" userId="473d6ea9-be06-4609-b78d-125cc115ecf4" providerId="ADAL" clId="{B561F487-D44B-4102-99BC-5E6CD2D241BF}" dt="2026-09-19T06:58:01.241" v="1" actId="6549"/>
        <pc:sldMkLst>
          <pc:docMk/>
          <pc:sldMk cId="0" sldId="291"/>
        </pc:sldMkLst>
        <pc:spChg chg="mod">
          <ac:chgData name="Ronan Ogor" userId="473d6ea9-be06-4609-b78d-125cc115ecf4" providerId="ADAL" clId="{B561F487-D44B-4102-99BC-5E6CD2D241BF}" dt="2026-09-19T06:58:01.241" v="1" actId="6549"/>
          <ac:spMkLst>
            <pc:docMk/>
            <pc:sldMk cId="0" sldId="291"/>
            <ac:spMk id="90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EF39A5-AB1C-4D55-809E-63FF56202F34}" type="datetimeFigureOut">
              <a:rPr lang="fr-FR" smtClean="0"/>
              <a:t>19/09/2026</a:t>
            </a:fld>
            <a:endParaRPr lang="fr-F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D5043A9-BB72-4FFD-BD93-7EA4C896927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876280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87" name="Google Shape;8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 txBox="1">
            <a:spLocks noGrp="1"/>
          </p:cNvSpPr>
          <p:nvPr>
            <p:ph type="body" idx="1"/>
          </p:nvPr>
        </p:nvSpPr>
        <p:spPr>
          <a:xfrm>
            <a:off x="701993" y="4420315"/>
            <a:ext cx="5615940" cy="4187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250" tIns="93250" rIns="93250" bIns="932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96" name="Google Shape;9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7988" y="698500"/>
            <a:ext cx="6203950" cy="34893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4" name="Google Shape;224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0966125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4" name="Google Shape;224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973043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4" name="Google Shape;224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251585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4" name="Google Shape;224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0143958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 txBox="1">
            <a:spLocks noGrp="1"/>
          </p:cNvSpPr>
          <p:nvPr>
            <p:ph type="body" idx="1"/>
          </p:nvPr>
        </p:nvSpPr>
        <p:spPr>
          <a:xfrm>
            <a:off x="701993" y="4420315"/>
            <a:ext cx="5615940" cy="4187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250" tIns="93250" rIns="93250" bIns="932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96" name="Google Shape;9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7988" y="698500"/>
            <a:ext cx="6203950" cy="34893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67523634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925345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E08290-09D1-4C02-8587-C092F93918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5A540B-A268-479A-AC70-BFEC9D80BD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8B1C46-B6DB-4228-A7B3-D798945C7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0D5BD7-1730-4067-A404-5EA2D4E3C7FF}" type="datetimeFigureOut">
              <a:rPr lang="fr-FR" smtClean="0"/>
              <a:t>19/09/2026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B6428C-134C-44CB-B9AE-B3EE8E5F04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F4A90A-87BA-4AEC-A062-6A328A3EFE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0D252-CE09-46B4-8CA4-4D7D82D4C793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795483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640B00-13DE-4943-97B0-C06DBF9F3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016CC9-408D-4E7D-A2DB-DE60695DDD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AA0FD4-4A2D-41D6-A6AD-34CB8424E4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0D5BD7-1730-4067-A404-5EA2D4E3C7FF}" type="datetimeFigureOut">
              <a:rPr lang="fr-FR" smtClean="0"/>
              <a:t>19/09/2026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900EAD-8DF1-44B7-991A-032640F895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CB4BCF-BA88-4BFA-BB9A-1F03C4EFDD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0D252-CE09-46B4-8CA4-4D7D82D4C793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549735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7FA64-20AF-4C22-8AE8-1FCB7AC40C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8B86C7-4C37-4EE2-9726-F86EFA828E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8DFD38-901B-4662-B895-16FC9A72BE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0D5BD7-1730-4067-A404-5EA2D4E3C7FF}" type="datetimeFigureOut">
              <a:rPr lang="fr-FR" smtClean="0"/>
              <a:t>19/09/2026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1A6F85-227E-4491-8243-91C1928608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365D39-CBA2-42A8-8F2C-A8C85A6CF1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0D252-CE09-46B4-8CA4-4D7D82D4C793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874022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D76558-521A-4B97-BC60-656A800160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275F5-5FDD-49F8-8D8B-01CC476F71D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86329A-DD37-44E6-BDB5-74B9DEE447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98B529-E587-413D-92BC-37D851FB9E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0D5BD7-1730-4067-A404-5EA2D4E3C7FF}" type="datetimeFigureOut">
              <a:rPr lang="fr-FR" smtClean="0"/>
              <a:t>19/09/2026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1D7F7D-F5A6-4064-B46D-064458A1A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2585E9-0324-4062-BEE6-831F3BD80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0D252-CE09-46B4-8CA4-4D7D82D4C793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953680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4DDA69-1353-42F4-8F9F-6A8D9F07C5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509180-1EA1-4BD3-A47D-A0F04CAD50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AA60B3-A8CC-483B-9EC4-8E3EE98DA2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67B2AAA-8618-4DB5-A1B1-77BC37BB2B7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3FB6BE5-2D4E-4BDD-BE36-35D51EA2E3C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42C9320-AC5F-4DA9-8C9D-081FDB8EC2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0D5BD7-1730-4067-A404-5EA2D4E3C7FF}" type="datetimeFigureOut">
              <a:rPr lang="fr-FR" smtClean="0"/>
              <a:t>19/09/2026</a:t>
            </a:fld>
            <a:endParaRPr lang="fr-F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1314272-3453-42FE-8C34-9AAE0510D6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633D27B-10A5-4771-BD2D-DFDDB8B551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0D252-CE09-46B4-8CA4-4D7D82D4C793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478967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8DE47C-5773-4F02-A9AD-20AB36413B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51540E-C27A-4B46-B232-D34AE77B73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0D5BD7-1730-4067-A404-5EA2D4E3C7FF}" type="datetimeFigureOut">
              <a:rPr lang="fr-FR" smtClean="0"/>
              <a:t>19/09/2026</a:t>
            </a:fld>
            <a:endParaRPr lang="fr-F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E91FCD-EF21-42DE-898D-60E28CE6AB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47D0EED-E689-4EC8-A8FD-4F342404F4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0D252-CE09-46B4-8CA4-4D7D82D4C793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842303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0D7D54A-CCF1-44D1-A3B6-6CF68C995D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0D5BD7-1730-4067-A404-5EA2D4E3C7FF}" type="datetimeFigureOut">
              <a:rPr lang="fr-FR" smtClean="0"/>
              <a:t>19/09/2026</a:t>
            </a:fld>
            <a:endParaRPr lang="fr-F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86549E9-597D-469D-83E9-FFB49ADF1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405E72-2BD9-4255-BA7A-084384D8A9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0D252-CE09-46B4-8CA4-4D7D82D4C793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308906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7FD675-8C51-4277-AB34-2CB9245EBA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AF3BCA-AB1F-486D-B279-F27F7D642C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A37F72-6F70-41E2-A476-C4156A4B05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69C42A-8E26-44CA-BD36-961D3B56EE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0D5BD7-1730-4067-A404-5EA2D4E3C7FF}" type="datetimeFigureOut">
              <a:rPr lang="fr-FR" smtClean="0"/>
              <a:t>19/09/2026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ADEC16-6590-43AA-8A27-86964CD594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4F0053-92D5-4D66-8AC3-1BE1FF56EB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0D252-CE09-46B4-8CA4-4D7D82D4C793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427788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4B0165-B170-428A-B0F2-CBDD5B7122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6EC68D1-A5A4-44FA-80D1-BA411863BAE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853335-616E-4F95-AD49-228A590626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8609BD-4BF0-4C0E-A8F4-D71C48C514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0D5BD7-1730-4067-A404-5EA2D4E3C7FF}" type="datetimeFigureOut">
              <a:rPr lang="fr-FR" smtClean="0"/>
              <a:t>19/09/2026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70C957-2808-4C58-B575-2A11C04112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8E1D3D-250A-489D-B7E4-2AFDD110EF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0D252-CE09-46B4-8CA4-4D7D82D4C793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716608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E769E3-3585-41F7-9062-0B88FDBD08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75B2E2-CBE1-45C8-85C5-9C8852379C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06B3B0-D4FF-4CE8-93FD-A68C4E80D5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0D5BD7-1730-4067-A404-5EA2D4E3C7FF}" type="datetimeFigureOut">
              <a:rPr lang="fr-FR" smtClean="0"/>
              <a:t>19/09/2026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F9C8E7-972C-4006-96E9-C372762C8B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A0064A-6AEB-4DA2-B014-6AA6897D70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0D252-CE09-46B4-8CA4-4D7D82D4C793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217676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40C1BC9-7A36-460A-BC37-86814C4D50F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EDD2DD5-29AE-4BEB-B79F-900069C7C5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48D0F4-260F-43F9-8899-617A542AC7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0D5BD7-1730-4067-A404-5EA2D4E3C7FF}" type="datetimeFigureOut">
              <a:rPr lang="fr-FR" smtClean="0"/>
              <a:t>19/09/2026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D802B0-9A8A-4DF1-8DB7-234D7AD948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D3C039-4CA4-4ED0-9EA1-6531DCD144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0D252-CE09-46B4-8CA4-4D7D82D4C793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757455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1_Title Slide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248979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72EBEB9-4FF6-4D4C-ABAB-D7A519F5B9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4BB3DA-2DD5-45FD-8160-696F123BD0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496A0A-BA94-431B-8D1E-F345B0370D4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0D5BD7-1730-4067-A404-5EA2D4E3C7FF}" type="datetimeFigureOut">
              <a:rPr lang="fr-FR" smtClean="0"/>
              <a:t>19/09/2026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57E793-2066-4E7D-A232-25C61B4693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6619E4-94E4-4457-B708-F7356FDC39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50D252-CE09-46B4-8CA4-4D7D82D4C793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925601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hyperlink" Target="https://www.w3schools.com/css/css_colors.asp" TargetMode="Externa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8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2.xml"/><Relationship Id="rId5" Type="http://schemas.openxmlformats.org/officeDocument/2006/relationships/hyperlink" Target="https://adam-marsden.co.uk/css-cheat-sheet" TargetMode="External"/><Relationship Id="rId4" Type="http://schemas.openxmlformats.org/officeDocument/2006/relationships/image" Target="../media/image21.pn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9.png"/><Relationship Id="rId7" Type="http://schemas.openxmlformats.org/officeDocument/2006/relationships/hyperlink" Target="https://css-tricks.com/css-selectors/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adam-marsden.co.uk/css-cheat-sheet" TargetMode="External"/><Relationship Id="rId5" Type="http://schemas.openxmlformats.org/officeDocument/2006/relationships/hyperlink" Target="https://web.dev/learn/css/selectors" TargetMode="External"/><Relationship Id="rId4" Type="http://schemas.openxmlformats.org/officeDocument/2006/relationships/hyperlink" Target="https://flukeout.github.io/" TargetMode="External"/><Relationship Id="rId9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F"/>
        </a:solidFill>
        <a:effectLst/>
      </p:bgPr>
    </p:bg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"/>
          <p:cNvSpPr txBox="1"/>
          <p:nvPr/>
        </p:nvSpPr>
        <p:spPr>
          <a:xfrm>
            <a:off x="3498174" y="310655"/>
            <a:ext cx="5195652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9600"/>
              <a:buFont typeface="Open Sans"/>
              <a:buNone/>
            </a:pPr>
            <a:r>
              <a:rPr lang="en-US" sz="6000" b="1" i="0" u="none" strike="noStrike" cap="none" dirty="0">
                <a:solidFill>
                  <a:schemeClr val="bg1">
                    <a:lumMod val="65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WEB DESIGN</a:t>
            </a:r>
            <a:endParaRPr lang="en-US" sz="800" b="0" i="0" u="none" strike="noStrike" cap="none" dirty="0">
              <a:solidFill>
                <a:schemeClr val="bg1">
                  <a:lumMod val="65000"/>
                </a:schemeClr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0" name="Google Shape;90;p1"/>
          <p:cNvSpPr txBox="1"/>
          <p:nvPr/>
        </p:nvSpPr>
        <p:spPr>
          <a:xfrm>
            <a:off x="1243968" y="1370329"/>
            <a:ext cx="10465432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800"/>
              <a:buFont typeface="Open Sans"/>
              <a:buNone/>
            </a:pPr>
            <a:r>
              <a:rPr lang="en-US" sz="6000" b="1" i="0" u="none" strike="noStrike" cap="none" dirty="0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rPr>
              <a:t>W2 – CSS Concepts</a:t>
            </a:r>
            <a:endParaRPr sz="2000" b="0" i="1" u="none" strike="noStrike" cap="none" dirty="0">
              <a:solidFill>
                <a:srgbClr val="995DB5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92" name="Google Shape;92;p1"/>
          <p:cNvCxnSpPr/>
          <p:nvPr/>
        </p:nvCxnSpPr>
        <p:spPr>
          <a:xfrm>
            <a:off x="1277257" y="1298712"/>
            <a:ext cx="9637486" cy="0"/>
          </a:xfrm>
          <a:prstGeom prst="straightConnector1">
            <a:avLst/>
          </a:prstGeom>
          <a:noFill/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AC7E9EEA-28A4-4556-A8D1-A55BD5DB0F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5173" y="6075708"/>
            <a:ext cx="1156237" cy="60400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153382A-9C5A-4E14-B2F1-21F858B8ED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20285" y="2659890"/>
            <a:ext cx="4621449" cy="419811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/>
          <p:cNvSpPr txBox="1"/>
          <p:nvPr/>
        </p:nvSpPr>
        <p:spPr>
          <a:xfrm>
            <a:off x="3896346" y="572938"/>
            <a:ext cx="4532232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lang="en-US" sz="40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Course Objectives </a:t>
            </a:r>
            <a:endParaRPr sz="40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9" name="Google Shape;99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331214" y="374638"/>
            <a:ext cx="801896" cy="8018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28578" y="385436"/>
            <a:ext cx="801896" cy="801896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6D50FBD-7847-43CA-8062-E19D388DFF61}"/>
              </a:ext>
            </a:extLst>
          </p:cNvPr>
          <p:cNvSpPr txBox="1"/>
          <p:nvPr/>
        </p:nvSpPr>
        <p:spPr>
          <a:xfrm>
            <a:off x="809856" y="1794957"/>
            <a:ext cx="8842144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000" dirty="0"/>
              <a:t>Use CSS using either </a:t>
            </a:r>
            <a:r>
              <a:rPr lang="en-US" sz="2000" b="1" dirty="0"/>
              <a:t>inline</a:t>
            </a:r>
            <a:r>
              <a:rPr lang="en-US" sz="2000" dirty="0"/>
              <a:t>, </a:t>
            </a:r>
            <a:r>
              <a:rPr lang="en-US" sz="2000" b="1" dirty="0"/>
              <a:t>internal</a:t>
            </a:r>
            <a:r>
              <a:rPr lang="en-US" sz="2000" dirty="0"/>
              <a:t> or </a:t>
            </a:r>
            <a:r>
              <a:rPr lang="en-US" sz="2000" b="1" dirty="0"/>
              <a:t>external</a:t>
            </a:r>
            <a:r>
              <a:rPr lang="en-US" sz="2000" dirty="0"/>
              <a:t> syntax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endParaRPr lang="en-US" sz="2000" dirty="0"/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000" dirty="0"/>
              <a:t>Manipulate </a:t>
            </a:r>
            <a:r>
              <a:rPr lang="en-US" sz="2000" b="1" dirty="0"/>
              <a:t>font and color properties</a:t>
            </a:r>
            <a:r>
              <a:rPr lang="en-US" sz="2000" dirty="0"/>
              <a:t> on HTML elements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endParaRPr lang="en-US" sz="2000" b="1" dirty="0"/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000" dirty="0"/>
              <a:t>Use various </a:t>
            </a:r>
            <a:r>
              <a:rPr lang="en-US" sz="2000" b="1" dirty="0"/>
              <a:t>CSS selectors </a:t>
            </a:r>
            <a:r>
              <a:rPr lang="en-US" sz="2000" dirty="0"/>
              <a:t>to target HTML elements</a:t>
            </a:r>
          </a:p>
          <a:p>
            <a:pPr marL="1371600" lvl="2" indent="-457200"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chemeClr val="accent2"/>
                </a:solidFill>
              </a:rPr>
              <a:t>Type</a:t>
            </a:r>
            <a:r>
              <a:rPr lang="en-US" sz="2000" dirty="0"/>
              <a:t> Selector  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h3 {}</a:t>
            </a:r>
          </a:p>
          <a:p>
            <a:pPr marL="1371600" lvl="2" indent="-457200"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chemeClr val="accent6"/>
                </a:solidFill>
              </a:rPr>
              <a:t>ID</a:t>
            </a:r>
            <a:r>
              <a:rPr lang="en-US" sz="2000" dirty="0"/>
              <a:t> Selector 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#id {}</a:t>
            </a:r>
          </a:p>
          <a:p>
            <a:pPr marL="1371600" lvl="2" indent="-457200"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chemeClr val="accent1"/>
                </a:solidFill>
              </a:rPr>
              <a:t>Class</a:t>
            </a:r>
            <a:r>
              <a:rPr lang="en-US" sz="2000" dirty="0"/>
              <a:t> Selector 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.class {}</a:t>
            </a:r>
          </a:p>
          <a:p>
            <a:pPr marL="1371600" lvl="2" indent="-457200"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rgbClr val="A1459D"/>
                </a:solidFill>
              </a:rPr>
              <a:t>Grouping </a:t>
            </a:r>
            <a:r>
              <a:rPr lang="en-US" sz="2000" dirty="0"/>
              <a:t>Selector</a:t>
            </a:r>
            <a:r>
              <a:rPr lang="en-US" sz="2000" dirty="0">
                <a:solidFill>
                  <a:srgbClr val="A1459D"/>
                </a:solidFill>
              </a:rPr>
              <a:t>    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h3, .warning {}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endParaRPr lang="en-US" sz="2000" dirty="0"/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000" dirty="0"/>
              <a:t>Understand the </a:t>
            </a:r>
            <a:r>
              <a:rPr lang="en-US" sz="2000" b="1" dirty="0"/>
              <a:t>concept of CSS Inheritance</a:t>
            </a:r>
            <a:endParaRPr lang="en-US" sz="2000" i="1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A9260F3-FED1-427A-80A7-E00FAE5D3C58}"/>
              </a:ext>
            </a:extLst>
          </p:cNvPr>
          <p:cNvSpPr txBox="1"/>
          <p:nvPr/>
        </p:nvSpPr>
        <p:spPr>
          <a:xfrm>
            <a:off x="0" y="0"/>
            <a:ext cx="1714499" cy="369332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EXPLAIN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4CE2A3A-985F-4F43-9077-0997143B715B}"/>
              </a:ext>
            </a:extLst>
          </p:cNvPr>
          <p:cNvSpPr txBox="1"/>
          <p:nvPr/>
        </p:nvSpPr>
        <p:spPr>
          <a:xfrm>
            <a:off x="4457461" y="209705"/>
            <a:ext cx="386195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i="0" u="none" strike="noStrike" cap="none" dirty="0">
                <a:solidFill>
                  <a:srgbClr val="000000"/>
                </a:solidFill>
                <a:ea typeface="Montserrat Black"/>
                <a:cs typeface="Montserrat Black"/>
                <a:sym typeface="Montserrat Black"/>
              </a:rPr>
              <a:t>What is </a:t>
            </a:r>
            <a:r>
              <a:rPr lang="en-US" sz="5400" b="1" i="0" u="none" strike="noStrike" cap="none" dirty="0">
                <a:solidFill>
                  <a:srgbClr val="000000"/>
                </a:solidFill>
                <a:ea typeface="Montserrat Black"/>
                <a:cs typeface="Montserrat Black"/>
                <a:sym typeface="Montserrat Black"/>
              </a:rPr>
              <a:t>CSS?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7AD4870-581C-42A1-8CF4-B351EF03C3D3}"/>
              </a:ext>
            </a:extLst>
          </p:cNvPr>
          <p:cNvSpPr txBox="1"/>
          <p:nvPr/>
        </p:nvSpPr>
        <p:spPr>
          <a:xfrm>
            <a:off x="1461768" y="1210390"/>
            <a:ext cx="10551884" cy="5587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</a:pPr>
            <a:r>
              <a:rPr lang="en-US" sz="2800" b="0" i="0" u="none" strike="noStrike" cap="none" dirty="0">
                <a:solidFill>
                  <a:srgbClr val="000000"/>
                </a:solidFill>
                <a:ea typeface="Montserrat"/>
                <a:cs typeface="Montserrat"/>
                <a:sym typeface="Montserrat"/>
              </a:rPr>
              <a:t>CSS is a language </a:t>
            </a:r>
            <a:r>
              <a:rPr lang="en-US" sz="2800" dirty="0">
                <a:solidFill>
                  <a:srgbClr val="000000"/>
                </a:solidFill>
                <a:ea typeface="Montserrat"/>
                <a:cs typeface="Montserrat"/>
                <a:sym typeface="Montserrat"/>
              </a:rPr>
              <a:t>to describe </a:t>
            </a:r>
            <a:r>
              <a:rPr lang="en-US" sz="2800" b="0" i="0" u="none" strike="noStrike" cap="none" dirty="0">
                <a:solidFill>
                  <a:srgbClr val="000000"/>
                </a:solidFill>
                <a:ea typeface="Montserrat"/>
                <a:cs typeface="Montserrat"/>
                <a:sym typeface="Montserrat"/>
              </a:rPr>
              <a:t>the </a:t>
            </a:r>
            <a:r>
              <a:rPr lang="en-US" sz="2800" b="1" i="0" u="none" strike="noStrike" cap="none" dirty="0">
                <a:solidFill>
                  <a:srgbClr val="A1459D"/>
                </a:solidFill>
                <a:ea typeface="Montserrat"/>
                <a:cs typeface="Montserrat"/>
                <a:sym typeface="Montserrat"/>
              </a:rPr>
              <a:t>appearance of an HTML document</a:t>
            </a:r>
            <a:r>
              <a:rPr lang="en-US" sz="2800" b="0" i="0" u="none" strike="noStrike" cap="none" dirty="0">
                <a:solidFill>
                  <a:srgbClr val="000000"/>
                </a:solidFill>
                <a:ea typeface="Montserrat"/>
                <a:cs typeface="Montserrat"/>
                <a:sym typeface="Montserrat"/>
              </a:rPr>
              <a:t>.</a:t>
            </a:r>
            <a:endParaRPr lang="en-US" sz="2800" dirty="0">
              <a:solidFill>
                <a:schemeClr val="dk1"/>
              </a:solidFill>
              <a:ea typeface="Montserrat"/>
              <a:cs typeface="Montserrat"/>
              <a:sym typeface="Montserrat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878DD89-0F3A-47C8-A284-AABC9977F744}"/>
              </a:ext>
            </a:extLst>
          </p:cNvPr>
          <p:cNvCxnSpPr>
            <a:cxnSpLocks/>
            <a:endCxn id="20" idx="0"/>
          </p:cNvCxnSpPr>
          <p:nvPr/>
        </p:nvCxnSpPr>
        <p:spPr>
          <a:xfrm flipV="1">
            <a:off x="6388437" y="2202829"/>
            <a:ext cx="1" cy="3045608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A6C07070-0DFB-440C-95A2-C8D515B24E8C}"/>
              </a:ext>
            </a:extLst>
          </p:cNvPr>
          <p:cNvSpPr txBox="1"/>
          <p:nvPr/>
        </p:nvSpPr>
        <p:spPr>
          <a:xfrm>
            <a:off x="7003524" y="2786198"/>
            <a:ext cx="3983783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0" i="0" dirty="0">
                <a:solidFill>
                  <a:schemeClr val="bg2">
                    <a:lumMod val="25000"/>
                  </a:schemeClr>
                </a:solidFill>
                <a:effectLst/>
                <a:latin typeface="Consolas" panose="020B0609020204030204" pitchFamily="49" charset="0"/>
              </a:rPr>
              <a:t>body {</a:t>
            </a:r>
            <a:br>
              <a:rPr lang="en-US" b="0" i="0" dirty="0">
                <a:solidFill>
                  <a:schemeClr val="bg2">
                    <a:lumMod val="25000"/>
                  </a:schemeClr>
                </a:solidFill>
                <a:effectLst/>
                <a:latin typeface="Consolas" panose="020B0609020204030204" pitchFamily="49" charset="0"/>
              </a:rPr>
            </a:br>
            <a:r>
              <a:rPr lang="en-US" b="0" i="0" dirty="0">
                <a:solidFill>
                  <a:schemeClr val="bg2">
                    <a:lumMod val="25000"/>
                  </a:schemeClr>
                </a:solidFill>
                <a:effectLst/>
                <a:latin typeface="Consolas" panose="020B0609020204030204" pitchFamily="49" charset="0"/>
              </a:rPr>
              <a:t>  background-color: lightblue;</a:t>
            </a:r>
            <a:br>
              <a:rPr lang="en-US" b="0" i="0" dirty="0">
                <a:solidFill>
                  <a:schemeClr val="bg2">
                    <a:lumMod val="25000"/>
                  </a:schemeClr>
                </a:solidFill>
                <a:effectLst/>
                <a:latin typeface="Consolas" panose="020B0609020204030204" pitchFamily="49" charset="0"/>
              </a:rPr>
            </a:br>
            <a:r>
              <a:rPr lang="en-US" b="0" i="0" dirty="0">
                <a:solidFill>
                  <a:schemeClr val="bg2">
                    <a:lumMod val="25000"/>
                  </a:schemeClr>
                </a:solidFill>
                <a:effectLst/>
                <a:latin typeface="Consolas" panose="020B0609020204030204" pitchFamily="49" charset="0"/>
              </a:rPr>
              <a:t>}</a:t>
            </a:r>
            <a:br>
              <a:rPr lang="en-US" dirty="0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</a:rPr>
            </a:br>
            <a:br>
              <a:rPr lang="en-US" dirty="0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</a:rPr>
            </a:br>
            <a:r>
              <a:rPr lang="en-US" b="0" i="0" dirty="0">
                <a:solidFill>
                  <a:schemeClr val="bg2">
                    <a:lumMod val="25000"/>
                  </a:schemeClr>
                </a:solidFill>
                <a:effectLst/>
                <a:latin typeface="Consolas" panose="020B0609020204030204" pitchFamily="49" charset="0"/>
              </a:rPr>
              <a:t>h1 {</a:t>
            </a:r>
            <a:br>
              <a:rPr lang="en-US" b="0" i="0" dirty="0">
                <a:solidFill>
                  <a:schemeClr val="bg2">
                    <a:lumMod val="25000"/>
                  </a:schemeClr>
                </a:solidFill>
                <a:effectLst/>
                <a:latin typeface="Consolas" panose="020B0609020204030204" pitchFamily="49" charset="0"/>
              </a:rPr>
            </a:br>
            <a:r>
              <a:rPr lang="en-US" b="0" i="0" dirty="0">
                <a:solidFill>
                  <a:schemeClr val="bg2">
                    <a:lumMod val="25000"/>
                  </a:schemeClr>
                </a:solidFill>
                <a:effectLst/>
                <a:latin typeface="Consolas" panose="020B0609020204030204" pitchFamily="49" charset="0"/>
              </a:rPr>
              <a:t>  color: white;</a:t>
            </a:r>
            <a:br>
              <a:rPr lang="en-US" b="0" i="0" dirty="0">
                <a:solidFill>
                  <a:schemeClr val="bg2">
                    <a:lumMod val="25000"/>
                  </a:schemeClr>
                </a:solidFill>
                <a:effectLst/>
                <a:latin typeface="Consolas" panose="020B0609020204030204" pitchFamily="49" charset="0"/>
              </a:rPr>
            </a:br>
            <a:r>
              <a:rPr lang="en-US" b="0" i="0" dirty="0">
                <a:solidFill>
                  <a:schemeClr val="bg2">
                    <a:lumMod val="25000"/>
                  </a:schemeClr>
                </a:solidFill>
                <a:effectLst/>
                <a:latin typeface="Consolas" panose="020B0609020204030204" pitchFamily="49" charset="0"/>
              </a:rPr>
              <a:t>  text-align: center;</a:t>
            </a:r>
            <a:br>
              <a:rPr lang="en-US" b="0" i="0" dirty="0">
                <a:solidFill>
                  <a:schemeClr val="bg2">
                    <a:lumMod val="25000"/>
                  </a:schemeClr>
                </a:solidFill>
                <a:effectLst/>
                <a:latin typeface="Consolas" panose="020B0609020204030204" pitchFamily="49" charset="0"/>
              </a:rPr>
            </a:br>
            <a:r>
              <a:rPr lang="en-US" b="0" i="0" dirty="0">
                <a:solidFill>
                  <a:schemeClr val="bg2">
                    <a:lumMod val="25000"/>
                  </a:schemeClr>
                </a:solidFill>
                <a:effectLst/>
                <a:latin typeface="Consolas" panose="020B0609020204030204" pitchFamily="49" charset="0"/>
              </a:rPr>
              <a:t>}</a:t>
            </a: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DFB90F2-E9EC-4885-BA81-EE0FB2186F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3996" y="5559373"/>
            <a:ext cx="5034988" cy="1165122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CD32340F-3239-418D-9C71-D0C61B363420}"/>
              </a:ext>
            </a:extLst>
          </p:cNvPr>
          <p:cNvSpPr txBox="1"/>
          <p:nvPr/>
        </p:nvSpPr>
        <p:spPr>
          <a:xfrm>
            <a:off x="1615241" y="3263967"/>
            <a:ext cx="458560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&lt;body&gt;</a:t>
            </a:r>
          </a:p>
          <a:p>
            <a:r>
              <a:rPr lang="en-US" dirty="0">
                <a:latin typeface="Consolas" panose="020B0609020204030204" pitchFamily="49" charset="0"/>
              </a:rPr>
              <a:t>     &lt;h1&gt;My First CSS Example&lt;/h1&gt;</a:t>
            </a:r>
          </a:p>
          <a:p>
            <a:r>
              <a:rPr lang="en-US" dirty="0">
                <a:latin typeface="Consolas" panose="020B0609020204030204" pitchFamily="49" charset="0"/>
              </a:rPr>
              <a:t>&lt;/body&gt;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04B273D-F4FA-4E3C-A2D0-365721E4C906}"/>
              </a:ext>
            </a:extLst>
          </p:cNvPr>
          <p:cNvSpPr txBox="1"/>
          <p:nvPr/>
        </p:nvSpPr>
        <p:spPr>
          <a:xfrm>
            <a:off x="2983749" y="2299702"/>
            <a:ext cx="20404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HTML (STRUCTURE)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4A580ED-AC43-409F-A61F-72B44A256FF5}"/>
              </a:ext>
            </a:extLst>
          </p:cNvPr>
          <p:cNvSpPr txBox="1"/>
          <p:nvPr/>
        </p:nvSpPr>
        <p:spPr>
          <a:xfrm>
            <a:off x="7721962" y="2290698"/>
            <a:ext cx="20224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A1459D"/>
                </a:solidFill>
              </a:rPr>
              <a:t>CSS  (</a:t>
            </a:r>
            <a:r>
              <a:rPr lang="en-US" sz="1800" b="0" i="0" u="none" strike="noStrike" cap="none" dirty="0">
                <a:solidFill>
                  <a:srgbClr val="A1459D"/>
                </a:solidFill>
                <a:ea typeface="Montserrat"/>
                <a:cs typeface="Montserrat"/>
                <a:sym typeface="Montserrat"/>
              </a:rPr>
              <a:t>APPEARANCE</a:t>
            </a:r>
            <a:r>
              <a:rPr lang="en-US" dirty="0">
                <a:solidFill>
                  <a:srgbClr val="A1459D"/>
                </a:solidFill>
              </a:rPr>
              <a:t>)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3C4CD7B-6E9C-42A5-A9A9-4BA8511328AE}"/>
              </a:ext>
            </a:extLst>
          </p:cNvPr>
          <p:cNvSpPr/>
          <p:nvPr/>
        </p:nvSpPr>
        <p:spPr>
          <a:xfrm>
            <a:off x="1112496" y="2202829"/>
            <a:ext cx="10551883" cy="3045607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22102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EFC5124-0566-4816-8B73-D44737047787}"/>
              </a:ext>
            </a:extLst>
          </p:cNvPr>
          <p:cNvSpPr txBox="1"/>
          <p:nvPr/>
        </p:nvSpPr>
        <p:spPr>
          <a:xfrm>
            <a:off x="0" y="0"/>
            <a:ext cx="1714499" cy="369332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EXPLAIN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F60F23F-A01A-41AA-A3AC-04B5EF794881}"/>
              </a:ext>
            </a:extLst>
          </p:cNvPr>
          <p:cNvSpPr txBox="1"/>
          <p:nvPr/>
        </p:nvSpPr>
        <p:spPr>
          <a:xfrm>
            <a:off x="2983402" y="285470"/>
            <a:ext cx="744197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i="0" u="none" strike="noStrike" cap="none" dirty="0">
                <a:solidFill>
                  <a:srgbClr val="000000"/>
                </a:solidFill>
                <a:ea typeface="Montserrat Black"/>
                <a:cs typeface="Montserrat Black"/>
                <a:sym typeface="Montserrat Black"/>
              </a:rPr>
              <a:t>How to define a </a:t>
            </a:r>
            <a:r>
              <a:rPr lang="en-US" sz="5400" b="1" i="0" u="none" strike="noStrike" cap="none" dirty="0">
                <a:solidFill>
                  <a:srgbClr val="000000"/>
                </a:solidFill>
                <a:ea typeface="Montserrat Black"/>
                <a:cs typeface="Montserrat Black"/>
                <a:sym typeface="Montserrat Black"/>
              </a:rPr>
              <a:t>CSS rule?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228C296-4989-4045-87F9-E2026F34F212}"/>
              </a:ext>
            </a:extLst>
          </p:cNvPr>
          <p:cNvSpPr txBox="1"/>
          <p:nvPr/>
        </p:nvSpPr>
        <p:spPr>
          <a:xfrm>
            <a:off x="1833558" y="1196862"/>
            <a:ext cx="9562132" cy="5587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</a:pPr>
            <a:r>
              <a:rPr lang="en-US" sz="2800" b="0" i="0" u="none" strike="noStrike" cap="none" dirty="0">
                <a:solidFill>
                  <a:srgbClr val="000000"/>
                </a:solidFill>
                <a:ea typeface="Montserrat"/>
                <a:cs typeface="Montserrat"/>
                <a:sym typeface="Montserrat"/>
              </a:rPr>
              <a:t>A CSS  </a:t>
            </a:r>
            <a:r>
              <a:rPr lang="en-US" sz="2800" b="1" i="0" u="none" strike="noStrike" cap="none" dirty="0">
                <a:solidFill>
                  <a:schemeClr val="accent1"/>
                </a:solidFill>
                <a:ea typeface="Montserrat"/>
                <a:cs typeface="Montserrat"/>
                <a:sym typeface="Montserrat"/>
              </a:rPr>
              <a:t>rule</a:t>
            </a:r>
            <a:r>
              <a:rPr lang="en-US" sz="2800" b="0" i="0" u="none" strike="noStrike" cap="none" dirty="0">
                <a:solidFill>
                  <a:srgbClr val="000000"/>
                </a:solidFill>
                <a:ea typeface="Montserrat"/>
                <a:cs typeface="Montserrat"/>
                <a:sym typeface="Montserrat"/>
              </a:rPr>
              <a:t> is composed of a </a:t>
            </a:r>
            <a:r>
              <a:rPr lang="en-US" sz="2800" b="1" i="0" u="none" strike="noStrike" cap="none" dirty="0">
                <a:solidFill>
                  <a:schemeClr val="accent2"/>
                </a:solidFill>
                <a:ea typeface="Montserrat"/>
                <a:cs typeface="Montserrat"/>
                <a:sym typeface="Montserrat"/>
              </a:rPr>
              <a:t>selector</a:t>
            </a:r>
            <a:r>
              <a:rPr lang="en-US" sz="2800" b="0" i="0" u="none" strike="noStrike" cap="none" dirty="0">
                <a:solidFill>
                  <a:srgbClr val="000000"/>
                </a:solidFill>
                <a:ea typeface="Montserrat"/>
                <a:cs typeface="Montserrat"/>
                <a:sym typeface="Montserrat"/>
              </a:rPr>
              <a:t> and a list of  </a:t>
            </a:r>
            <a:r>
              <a:rPr lang="en-US" sz="2800" b="1" i="0" u="none" strike="noStrike" cap="none" dirty="0">
                <a:solidFill>
                  <a:srgbClr val="7030A0"/>
                </a:solidFill>
                <a:ea typeface="Montserrat"/>
                <a:cs typeface="Montserrat"/>
                <a:sym typeface="Montserrat"/>
              </a:rPr>
              <a:t>definitions</a:t>
            </a:r>
            <a:endParaRPr lang="en-US" sz="2800" b="1" dirty="0">
              <a:solidFill>
                <a:srgbClr val="7030A0"/>
              </a:solidFill>
              <a:ea typeface="Montserrat"/>
              <a:cs typeface="Montserrat"/>
              <a:sym typeface="Montserrat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3FBB97E-0700-4958-94BF-F1E260465269}"/>
              </a:ext>
            </a:extLst>
          </p:cNvPr>
          <p:cNvSpPr txBox="1"/>
          <p:nvPr/>
        </p:nvSpPr>
        <p:spPr>
          <a:xfrm>
            <a:off x="3390900" y="3584405"/>
            <a:ext cx="800479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>
                <a:solidFill>
                  <a:schemeClr val="accent2"/>
                </a:solidFill>
                <a:latin typeface="Consolas" panose="020B0609020204030204" pitchFamily="49" charset="0"/>
              </a:rPr>
              <a:t>p</a:t>
            </a:r>
            <a:r>
              <a:rPr lang="en-US" sz="3600" dirty="0">
                <a:latin typeface="Consolas" panose="020B0609020204030204" pitchFamily="49" charset="0"/>
              </a:rPr>
              <a:t> {</a:t>
            </a:r>
          </a:p>
          <a:p>
            <a:r>
              <a:rPr lang="en-US" sz="3600" dirty="0">
                <a:latin typeface="Consolas" panose="020B0609020204030204" pitchFamily="49" charset="0"/>
              </a:rPr>
              <a:t>	</a:t>
            </a:r>
            <a:r>
              <a:rPr lang="en-US" sz="3600" dirty="0">
                <a:solidFill>
                  <a:srgbClr val="A1459D"/>
                </a:solidFill>
                <a:latin typeface="Consolas" panose="020B0609020204030204" pitchFamily="49" charset="0"/>
              </a:rPr>
              <a:t>color</a:t>
            </a:r>
            <a:r>
              <a:rPr lang="en-US" sz="3600" dirty="0">
                <a:latin typeface="Consolas" panose="020B0609020204030204" pitchFamily="49" charset="0"/>
              </a:rPr>
              <a:t>:</a:t>
            </a:r>
            <a:r>
              <a:rPr lang="en-US" sz="3600" dirty="0">
                <a:solidFill>
                  <a:srgbClr val="A1459D"/>
                </a:solidFill>
                <a:latin typeface="Consolas" panose="020B0609020204030204" pitchFamily="49" charset="0"/>
              </a:rPr>
              <a:t> red</a:t>
            </a:r>
            <a:r>
              <a:rPr lang="en-US" sz="3600" dirty="0">
                <a:latin typeface="Consolas" panose="020B0609020204030204" pitchFamily="49" charset="0"/>
              </a:rPr>
              <a:t>;</a:t>
            </a:r>
          </a:p>
          <a:p>
            <a:r>
              <a:rPr lang="en-US" sz="3600" dirty="0">
                <a:latin typeface="Consolas" panose="020B0609020204030204" pitchFamily="49" charset="0"/>
              </a:rPr>
              <a:t>	</a:t>
            </a:r>
            <a:r>
              <a:rPr lang="en-US" sz="3600" dirty="0">
                <a:solidFill>
                  <a:srgbClr val="A1459D"/>
                </a:solidFill>
                <a:latin typeface="Consolas" panose="020B0609020204030204" pitchFamily="49" charset="0"/>
              </a:rPr>
              <a:t>background-color</a:t>
            </a:r>
            <a:r>
              <a:rPr lang="en-US" sz="3600" dirty="0">
                <a:latin typeface="Consolas" panose="020B0609020204030204" pitchFamily="49" charset="0"/>
              </a:rPr>
              <a:t>:</a:t>
            </a:r>
            <a:r>
              <a:rPr lang="en-US" sz="3600" dirty="0">
                <a:solidFill>
                  <a:srgbClr val="A1459D"/>
                </a:solidFill>
                <a:latin typeface="Consolas" panose="020B0609020204030204" pitchFamily="49" charset="0"/>
              </a:rPr>
              <a:t> blue</a:t>
            </a:r>
            <a:r>
              <a:rPr lang="en-US" sz="3600" dirty="0">
                <a:latin typeface="Consolas" panose="020B0609020204030204" pitchFamily="49" charset="0"/>
              </a:rPr>
              <a:t>;</a:t>
            </a:r>
          </a:p>
          <a:p>
            <a:r>
              <a:rPr lang="en-US" sz="3600" dirty="0">
                <a:latin typeface="Consolas" panose="020B0609020204030204" pitchFamily="49" charset="0"/>
              </a:rPr>
              <a:t>}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10B1C94-E99C-49EA-AF17-ADE0CBDF5333}"/>
              </a:ext>
            </a:extLst>
          </p:cNvPr>
          <p:cNvCxnSpPr>
            <a:cxnSpLocks/>
          </p:cNvCxnSpPr>
          <p:nvPr/>
        </p:nvCxnSpPr>
        <p:spPr>
          <a:xfrm>
            <a:off x="3638550" y="2876550"/>
            <a:ext cx="0" cy="707855"/>
          </a:xfrm>
          <a:prstGeom prst="straightConnector1">
            <a:avLst/>
          </a:prstGeom>
          <a:ln w="28575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0848F9B8-38AA-40D7-B257-2FEE0E687D35}"/>
              </a:ext>
            </a:extLst>
          </p:cNvPr>
          <p:cNvSpPr txBox="1"/>
          <p:nvPr/>
        </p:nvSpPr>
        <p:spPr>
          <a:xfrm>
            <a:off x="2983402" y="2370052"/>
            <a:ext cx="139781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accent2"/>
                </a:solidFill>
              </a:rPr>
              <a:t>Selector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2844878F-B7E8-48F9-A1AD-5C4879668588}"/>
              </a:ext>
            </a:extLst>
          </p:cNvPr>
          <p:cNvCxnSpPr>
            <a:cxnSpLocks/>
          </p:cNvCxnSpPr>
          <p:nvPr/>
        </p:nvCxnSpPr>
        <p:spPr>
          <a:xfrm flipV="1">
            <a:off x="6916058" y="5309605"/>
            <a:ext cx="0" cy="801260"/>
          </a:xfrm>
          <a:prstGeom prst="straightConnector1">
            <a:avLst/>
          </a:prstGeom>
          <a:ln w="28575">
            <a:solidFill>
              <a:srgbClr val="A1459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0AC44FB0-9D07-4269-BA3F-6E481C099329}"/>
              </a:ext>
            </a:extLst>
          </p:cNvPr>
          <p:cNvSpPr txBox="1"/>
          <p:nvPr/>
        </p:nvSpPr>
        <p:spPr>
          <a:xfrm>
            <a:off x="6323753" y="5979109"/>
            <a:ext cx="148835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A1459D"/>
                </a:solidFill>
              </a:rPr>
              <a:t>Property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00E8E33-A763-4826-AE89-25B254A47C05}"/>
              </a:ext>
            </a:extLst>
          </p:cNvPr>
          <p:cNvSpPr txBox="1"/>
          <p:nvPr/>
        </p:nvSpPr>
        <p:spPr>
          <a:xfrm>
            <a:off x="9035877" y="6004451"/>
            <a:ext cx="10160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A1459D"/>
                </a:solidFill>
              </a:rPr>
              <a:t>Value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A0A3DB3-CC53-413F-84EF-B8A022A947CA}"/>
              </a:ext>
            </a:extLst>
          </p:cNvPr>
          <p:cNvSpPr txBox="1"/>
          <p:nvPr/>
        </p:nvSpPr>
        <p:spPr>
          <a:xfrm>
            <a:off x="2042439" y="4476957"/>
            <a:ext cx="91082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accent1"/>
                </a:solidFill>
              </a:rPr>
              <a:t>Rule 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BE2C193C-A4D0-4CCE-830A-D4EB6E37C0E7}"/>
              </a:ext>
            </a:extLst>
          </p:cNvPr>
          <p:cNvCxnSpPr>
            <a:cxnSpLocks/>
          </p:cNvCxnSpPr>
          <p:nvPr/>
        </p:nvCxnSpPr>
        <p:spPr>
          <a:xfrm flipV="1">
            <a:off x="2983402" y="3810000"/>
            <a:ext cx="0" cy="2015115"/>
          </a:xfrm>
          <a:prstGeom prst="straightConnector1">
            <a:avLst/>
          </a:prstGeom>
          <a:ln w="28575">
            <a:solidFill>
              <a:schemeClr val="accent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F53CEED0-C1BD-4B69-A632-7BEC5D8AE371}"/>
              </a:ext>
            </a:extLst>
          </p:cNvPr>
          <p:cNvCxnSpPr>
            <a:cxnSpLocks/>
          </p:cNvCxnSpPr>
          <p:nvPr/>
        </p:nvCxnSpPr>
        <p:spPr>
          <a:xfrm flipV="1">
            <a:off x="9490650" y="5203191"/>
            <a:ext cx="0" cy="801260"/>
          </a:xfrm>
          <a:prstGeom prst="straightConnector1">
            <a:avLst/>
          </a:prstGeom>
          <a:ln w="28575">
            <a:solidFill>
              <a:srgbClr val="A1459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635702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Curved Connector 11">
            <a:extLst>
              <a:ext uri="{FF2B5EF4-FFF2-40B4-BE49-F238E27FC236}">
                <a16:creationId xmlns:a16="http://schemas.microsoft.com/office/drawing/2014/main" id="{FCC55DE5-CA7C-4104-9EEE-AB27BE1863F3}"/>
              </a:ext>
            </a:extLst>
          </p:cNvPr>
          <p:cNvCxnSpPr>
            <a:cxnSpLocks/>
          </p:cNvCxnSpPr>
          <p:nvPr/>
        </p:nvCxnSpPr>
        <p:spPr>
          <a:xfrm rot="5400000">
            <a:off x="6145895" y="2764539"/>
            <a:ext cx="1114131" cy="1105069"/>
          </a:xfrm>
          <a:prstGeom prst="curvedConnector3">
            <a:avLst>
              <a:gd name="adj1" fmla="val 50000"/>
            </a:avLst>
          </a:prstGeom>
          <a:ln w="762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">
            <a:extLst>
              <a:ext uri="{FF2B5EF4-FFF2-40B4-BE49-F238E27FC236}">
                <a16:creationId xmlns:a16="http://schemas.microsoft.com/office/drawing/2014/main" id="{90DC256D-383B-4C38-83BD-3E927B6E9F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11580" y="2184610"/>
            <a:ext cx="328782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2400" dirty="0">
                <a:solidFill>
                  <a:srgbClr val="0070C0"/>
                </a:solidFill>
                <a:latin typeface="+mn-lt"/>
                <a:ea typeface="Verdana" panose="020B0604030504040204" pitchFamily="34" charset="0"/>
                <a:cs typeface="Arial" panose="020B0604020202020204" pitchFamily="34" charset="0"/>
              </a:rPr>
              <a:t>colon</a:t>
            </a:r>
          </a:p>
        </p:txBody>
      </p:sp>
      <p:sp>
        <p:nvSpPr>
          <p:cNvPr id="12" name="TextBox 1">
            <a:extLst>
              <a:ext uri="{FF2B5EF4-FFF2-40B4-BE49-F238E27FC236}">
                <a16:creationId xmlns:a16="http://schemas.microsoft.com/office/drawing/2014/main" id="{D160D433-41B8-4A8C-9C15-1E58AB1BBB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49401" y="5992265"/>
            <a:ext cx="316454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2400" dirty="0">
                <a:solidFill>
                  <a:srgbClr val="0070C0"/>
                </a:solidFill>
                <a:latin typeface="+mn-lt"/>
                <a:ea typeface="Verdana" panose="020B0604030504040204" pitchFamily="34" charset="0"/>
                <a:cs typeface="Arial" panose="020B0604020202020204" pitchFamily="34" charset="0"/>
              </a:rPr>
              <a:t>semi-colon</a:t>
            </a:r>
            <a:endParaRPr lang="en-US" altLang="en-US" sz="2400" b="1" dirty="0">
              <a:solidFill>
                <a:srgbClr val="0070C0"/>
              </a:solidFill>
              <a:latin typeface="+mn-lt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61D9EB0-B9C0-4789-BD2D-536C7C9B1708}"/>
              </a:ext>
            </a:extLst>
          </p:cNvPr>
          <p:cNvSpPr txBox="1"/>
          <p:nvPr/>
        </p:nvSpPr>
        <p:spPr>
          <a:xfrm>
            <a:off x="0" y="0"/>
            <a:ext cx="1714499" cy="369332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EXPLAIN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C172D1B-3C0F-4D9E-BCE7-378281606475}"/>
              </a:ext>
            </a:extLst>
          </p:cNvPr>
          <p:cNvSpPr txBox="1"/>
          <p:nvPr/>
        </p:nvSpPr>
        <p:spPr>
          <a:xfrm>
            <a:off x="2617432" y="279167"/>
            <a:ext cx="744197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i="0" u="none" strike="noStrike" cap="none" dirty="0">
                <a:solidFill>
                  <a:srgbClr val="000000"/>
                </a:solidFill>
                <a:ea typeface="Montserrat Black"/>
                <a:cs typeface="Montserrat Black"/>
                <a:sym typeface="Montserrat Black"/>
              </a:rPr>
              <a:t>How to define a </a:t>
            </a:r>
            <a:r>
              <a:rPr lang="en-US" sz="5400" b="1" i="0" u="none" strike="noStrike" cap="none" dirty="0">
                <a:solidFill>
                  <a:srgbClr val="000000"/>
                </a:solidFill>
                <a:ea typeface="Montserrat Black"/>
                <a:cs typeface="Montserrat Black"/>
                <a:sym typeface="Montserrat Black"/>
              </a:rPr>
              <a:t>CSS rule?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046757D-EF5C-4D37-B0AB-9E7A847C3FC8}"/>
              </a:ext>
            </a:extLst>
          </p:cNvPr>
          <p:cNvSpPr txBox="1"/>
          <p:nvPr/>
        </p:nvSpPr>
        <p:spPr>
          <a:xfrm>
            <a:off x="3688869" y="3268357"/>
            <a:ext cx="800479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>
                <a:solidFill>
                  <a:schemeClr val="accent2"/>
                </a:solidFill>
                <a:latin typeface="Consolas" panose="020B0609020204030204" pitchFamily="49" charset="0"/>
              </a:rPr>
              <a:t>p</a:t>
            </a:r>
            <a:r>
              <a:rPr lang="en-US" sz="3600" dirty="0">
                <a:latin typeface="Consolas" panose="020B0609020204030204" pitchFamily="49" charset="0"/>
              </a:rPr>
              <a:t> {</a:t>
            </a:r>
          </a:p>
          <a:p>
            <a:r>
              <a:rPr lang="en-US" sz="3600" dirty="0">
                <a:latin typeface="Consolas" panose="020B0609020204030204" pitchFamily="49" charset="0"/>
              </a:rPr>
              <a:t>	</a:t>
            </a:r>
            <a:r>
              <a:rPr lang="en-US" sz="3600" dirty="0">
                <a:solidFill>
                  <a:srgbClr val="A1459D"/>
                </a:solidFill>
                <a:latin typeface="Consolas" panose="020B0609020204030204" pitchFamily="49" charset="0"/>
              </a:rPr>
              <a:t>color</a:t>
            </a:r>
            <a:r>
              <a:rPr lang="en-US" sz="3600" dirty="0">
                <a:latin typeface="Consolas" panose="020B0609020204030204" pitchFamily="49" charset="0"/>
              </a:rPr>
              <a:t>:</a:t>
            </a:r>
            <a:r>
              <a:rPr lang="en-US" sz="3600" dirty="0">
                <a:solidFill>
                  <a:srgbClr val="A1459D"/>
                </a:solidFill>
                <a:latin typeface="Consolas" panose="020B0609020204030204" pitchFamily="49" charset="0"/>
              </a:rPr>
              <a:t> red</a:t>
            </a:r>
            <a:r>
              <a:rPr lang="en-US" sz="3600" dirty="0">
                <a:latin typeface="Consolas" panose="020B0609020204030204" pitchFamily="49" charset="0"/>
              </a:rPr>
              <a:t>;</a:t>
            </a:r>
          </a:p>
          <a:p>
            <a:r>
              <a:rPr lang="en-US" sz="3600" dirty="0">
                <a:latin typeface="Consolas" panose="020B0609020204030204" pitchFamily="49" charset="0"/>
              </a:rPr>
              <a:t>	</a:t>
            </a:r>
            <a:r>
              <a:rPr lang="en-US" sz="3600" dirty="0">
                <a:solidFill>
                  <a:srgbClr val="A1459D"/>
                </a:solidFill>
                <a:latin typeface="Consolas" panose="020B0609020204030204" pitchFamily="49" charset="0"/>
              </a:rPr>
              <a:t>background-color</a:t>
            </a:r>
            <a:r>
              <a:rPr lang="en-US" sz="3600" dirty="0">
                <a:latin typeface="Consolas" panose="020B0609020204030204" pitchFamily="49" charset="0"/>
              </a:rPr>
              <a:t>:</a:t>
            </a:r>
            <a:r>
              <a:rPr lang="en-US" sz="3600" dirty="0">
                <a:solidFill>
                  <a:srgbClr val="A1459D"/>
                </a:solidFill>
                <a:latin typeface="Consolas" panose="020B0609020204030204" pitchFamily="49" charset="0"/>
              </a:rPr>
              <a:t> blue</a:t>
            </a:r>
            <a:r>
              <a:rPr lang="en-US" sz="3600" dirty="0">
                <a:latin typeface="Consolas" panose="020B0609020204030204" pitchFamily="49" charset="0"/>
              </a:rPr>
              <a:t>;</a:t>
            </a:r>
          </a:p>
          <a:p>
            <a:r>
              <a:rPr lang="en-US" sz="3600" dirty="0">
                <a:latin typeface="Consolas" panose="020B0609020204030204" pitchFamily="49" charset="0"/>
              </a:rPr>
              <a:t>}</a:t>
            </a:r>
          </a:p>
        </p:txBody>
      </p:sp>
      <p:cxnSp>
        <p:nvCxnSpPr>
          <p:cNvPr id="21" name="Curved Connector 11">
            <a:extLst>
              <a:ext uri="{FF2B5EF4-FFF2-40B4-BE49-F238E27FC236}">
                <a16:creationId xmlns:a16="http://schemas.microsoft.com/office/drawing/2014/main" id="{93C83C18-91F7-4FF1-A722-CBAEB6630577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9509621" y="5192969"/>
            <a:ext cx="947171" cy="503063"/>
          </a:xfrm>
          <a:prstGeom prst="curvedConnector3">
            <a:avLst>
              <a:gd name="adj1" fmla="val 50000"/>
            </a:avLst>
          </a:prstGeom>
          <a:ln w="762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1">
            <a:extLst>
              <a:ext uri="{FF2B5EF4-FFF2-40B4-BE49-F238E27FC236}">
                <a16:creationId xmlns:a16="http://schemas.microsoft.com/office/drawing/2014/main" id="{C60C617D-DCAB-41AB-844C-80149C88D8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0608" y="4281126"/>
            <a:ext cx="264540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2400" dirty="0">
                <a:solidFill>
                  <a:srgbClr val="0070C0"/>
                </a:solidFill>
                <a:latin typeface="+mn-lt"/>
                <a:ea typeface="Verdana" panose="020B0604030504040204" pitchFamily="34" charset="0"/>
                <a:cs typeface="Arial" panose="020B0604020202020204" pitchFamily="34" charset="0"/>
              </a:rPr>
              <a:t>Brackets</a:t>
            </a:r>
          </a:p>
        </p:txBody>
      </p:sp>
      <p:cxnSp>
        <p:nvCxnSpPr>
          <p:cNvPr id="25" name="Curved Connector 11">
            <a:extLst>
              <a:ext uri="{FF2B5EF4-FFF2-40B4-BE49-F238E27FC236}">
                <a16:creationId xmlns:a16="http://schemas.microsoft.com/office/drawing/2014/main" id="{873DA8E4-AE7F-446B-ABCD-7466EF2F0E95}"/>
              </a:ext>
            </a:extLst>
          </p:cNvPr>
          <p:cNvCxnSpPr>
            <a:cxnSpLocks/>
          </p:cNvCxnSpPr>
          <p:nvPr/>
        </p:nvCxnSpPr>
        <p:spPr>
          <a:xfrm>
            <a:off x="2691724" y="4688114"/>
            <a:ext cx="1056175" cy="501407"/>
          </a:xfrm>
          <a:prstGeom prst="curvedConnector3">
            <a:avLst>
              <a:gd name="adj1" fmla="val 50000"/>
            </a:avLst>
          </a:prstGeom>
          <a:ln w="762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urved Connector 11">
            <a:extLst>
              <a:ext uri="{FF2B5EF4-FFF2-40B4-BE49-F238E27FC236}">
                <a16:creationId xmlns:a16="http://schemas.microsoft.com/office/drawing/2014/main" id="{ACA3845A-5F30-4A2F-870A-4E50DE79369A}"/>
              </a:ext>
            </a:extLst>
          </p:cNvPr>
          <p:cNvCxnSpPr>
            <a:cxnSpLocks/>
          </p:cNvCxnSpPr>
          <p:nvPr/>
        </p:nvCxnSpPr>
        <p:spPr>
          <a:xfrm flipV="1">
            <a:off x="2691724" y="3874139"/>
            <a:ext cx="1649803" cy="813975"/>
          </a:xfrm>
          <a:prstGeom prst="curvedConnector3">
            <a:avLst>
              <a:gd name="adj1" fmla="val 50000"/>
            </a:avLst>
          </a:prstGeom>
          <a:ln w="762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CCE09785-7A5D-4A09-8002-697C35AFA0B0}"/>
              </a:ext>
            </a:extLst>
          </p:cNvPr>
          <p:cNvSpPr txBox="1"/>
          <p:nvPr/>
        </p:nvSpPr>
        <p:spPr>
          <a:xfrm>
            <a:off x="2691724" y="1120351"/>
            <a:ext cx="6191274" cy="5587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</a:pPr>
            <a:r>
              <a:rPr lang="en-US" sz="2800" b="0" i="0" u="none" strike="noStrike" cap="none" dirty="0">
                <a:solidFill>
                  <a:srgbClr val="000000"/>
                </a:solidFill>
                <a:ea typeface="Montserrat"/>
                <a:cs typeface="Montserrat"/>
                <a:sym typeface="Montserrat"/>
              </a:rPr>
              <a:t>Don’t forget the required syntax</a:t>
            </a:r>
            <a:endParaRPr lang="en-US" sz="2800" dirty="0">
              <a:solidFill>
                <a:schemeClr val="dk1"/>
              </a:solidFill>
              <a:ea typeface="Montserrat"/>
              <a:cs typeface="Montserrat"/>
              <a:sym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10863605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A9260F3-FED1-427A-80A7-E00FAE5D3C58}"/>
              </a:ext>
            </a:extLst>
          </p:cNvPr>
          <p:cNvSpPr txBox="1"/>
          <p:nvPr/>
        </p:nvSpPr>
        <p:spPr>
          <a:xfrm>
            <a:off x="0" y="0"/>
            <a:ext cx="1714499" cy="369332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EXPLAIN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4CE2A3A-985F-4F43-9077-0997143B715B}"/>
              </a:ext>
            </a:extLst>
          </p:cNvPr>
          <p:cNvSpPr txBox="1"/>
          <p:nvPr/>
        </p:nvSpPr>
        <p:spPr>
          <a:xfrm>
            <a:off x="2693057" y="369332"/>
            <a:ext cx="724076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i="0" u="none" strike="noStrike" cap="none" dirty="0">
                <a:solidFill>
                  <a:srgbClr val="000000"/>
                </a:solidFill>
                <a:ea typeface="Montserrat Black"/>
                <a:cs typeface="Montserrat Black"/>
                <a:sym typeface="Montserrat Black"/>
              </a:rPr>
              <a:t>What is an CSS </a:t>
            </a:r>
            <a:r>
              <a:rPr lang="en-US" sz="5400" b="1" i="0" u="none" strike="noStrike" cap="none" dirty="0">
                <a:solidFill>
                  <a:srgbClr val="000000"/>
                </a:solidFill>
                <a:ea typeface="Montserrat Black"/>
                <a:cs typeface="Montserrat Black"/>
                <a:sym typeface="Montserrat Black"/>
              </a:rPr>
              <a:t>selector 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7AD4870-581C-42A1-8CF4-B351EF03C3D3}"/>
              </a:ext>
            </a:extLst>
          </p:cNvPr>
          <p:cNvSpPr txBox="1"/>
          <p:nvPr/>
        </p:nvSpPr>
        <p:spPr>
          <a:xfrm>
            <a:off x="1413490" y="1279839"/>
            <a:ext cx="9799897" cy="5587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</a:pPr>
            <a:r>
              <a:rPr lang="en-US" sz="2800" b="0" i="0" u="none" strike="noStrike" cap="none" dirty="0">
                <a:solidFill>
                  <a:srgbClr val="000000"/>
                </a:solidFill>
                <a:ea typeface="Montserrat"/>
                <a:cs typeface="Montserrat"/>
                <a:sym typeface="Montserrat"/>
              </a:rPr>
              <a:t>A CSS selector </a:t>
            </a:r>
            <a:r>
              <a:rPr lang="en-US" sz="2800" b="1" i="0" u="none" strike="noStrike" cap="none" dirty="0">
                <a:solidFill>
                  <a:srgbClr val="000000"/>
                </a:solidFill>
                <a:ea typeface="Montserrat"/>
                <a:cs typeface="Montserrat"/>
                <a:sym typeface="Montserrat"/>
              </a:rPr>
              <a:t>selects</a:t>
            </a:r>
            <a:r>
              <a:rPr lang="en-US" sz="2800" b="0" i="0" u="none" strike="noStrike" cap="none" dirty="0">
                <a:solidFill>
                  <a:srgbClr val="000000"/>
                </a:solidFill>
                <a:ea typeface="Montserrat"/>
                <a:cs typeface="Montserrat"/>
                <a:sym typeface="Montserrat"/>
              </a:rPr>
              <a:t> the HTML element(s) you want to style</a:t>
            </a:r>
            <a:endParaRPr lang="en-US" sz="2800" dirty="0">
              <a:solidFill>
                <a:schemeClr val="dk1"/>
              </a:solidFill>
              <a:ea typeface="Montserrat"/>
              <a:cs typeface="Montserrat"/>
              <a:sym typeface="Montserrat"/>
            </a:endParaRPr>
          </a:p>
        </p:txBody>
      </p:sp>
      <p:pic>
        <p:nvPicPr>
          <p:cNvPr id="10242" name="Picture 2" descr="Diagram: CSS selector connecting a CSS rule to an HTML element">
            <a:extLst>
              <a:ext uri="{FF2B5EF4-FFF2-40B4-BE49-F238E27FC236}">
                <a16:creationId xmlns:a16="http://schemas.microsoft.com/office/drawing/2014/main" id="{381D55F7-8F15-456E-9AD1-A52EC2B9B4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7300" y="2079352"/>
            <a:ext cx="6772275" cy="37547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450440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A9260F3-FED1-427A-80A7-E00FAE5D3C58}"/>
              </a:ext>
            </a:extLst>
          </p:cNvPr>
          <p:cNvSpPr txBox="1"/>
          <p:nvPr/>
        </p:nvSpPr>
        <p:spPr>
          <a:xfrm>
            <a:off x="0" y="0"/>
            <a:ext cx="1714499" cy="369332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EXPLAIN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4CE2A3A-985F-4F43-9077-0997143B715B}"/>
              </a:ext>
            </a:extLst>
          </p:cNvPr>
          <p:cNvSpPr txBox="1"/>
          <p:nvPr/>
        </p:nvSpPr>
        <p:spPr>
          <a:xfrm>
            <a:off x="2693057" y="369332"/>
            <a:ext cx="659860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i="0" u="none" strike="noStrike" cap="none" dirty="0">
                <a:solidFill>
                  <a:srgbClr val="000000"/>
                </a:solidFill>
                <a:ea typeface="Montserrat Black"/>
                <a:cs typeface="Montserrat Black"/>
                <a:sym typeface="Montserrat Black"/>
              </a:rPr>
              <a:t>Types of CSS selector 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7AD4870-581C-42A1-8CF4-B351EF03C3D3}"/>
              </a:ext>
            </a:extLst>
          </p:cNvPr>
          <p:cNvSpPr txBox="1"/>
          <p:nvPr/>
        </p:nvSpPr>
        <p:spPr>
          <a:xfrm>
            <a:off x="1413490" y="1279839"/>
            <a:ext cx="9799897" cy="5587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</a:pPr>
            <a:r>
              <a:rPr lang="en-US" sz="2800" b="0" i="1" u="none" strike="noStrike" cap="none" dirty="0">
                <a:solidFill>
                  <a:srgbClr val="000000"/>
                </a:solidFill>
                <a:ea typeface="Montserrat"/>
                <a:cs typeface="Montserrat"/>
                <a:sym typeface="Montserrat"/>
              </a:rPr>
              <a:t>Here are some type of selector we will learn during this course</a:t>
            </a:r>
            <a:endParaRPr lang="en-US" sz="2800" i="1" dirty="0">
              <a:solidFill>
                <a:schemeClr val="dk1"/>
              </a:solidFill>
              <a:ea typeface="Montserrat"/>
              <a:cs typeface="Montserrat"/>
              <a:sym typeface="Montserrat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52942F0-AD28-4943-98C6-198EB0315045}"/>
              </a:ext>
            </a:extLst>
          </p:cNvPr>
          <p:cNvSpPr txBox="1"/>
          <p:nvPr/>
        </p:nvSpPr>
        <p:spPr>
          <a:xfrm>
            <a:off x="285755" y="2372427"/>
            <a:ext cx="5810245" cy="39703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ü"/>
            </a:pPr>
            <a:r>
              <a:rPr lang="en-US" sz="2800" dirty="0">
                <a:solidFill>
                  <a:schemeClr val="accent2"/>
                </a:solidFill>
              </a:rPr>
              <a:t>Type</a:t>
            </a:r>
            <a:r>
              <a:rPr lang="en-US" sz="2800" dirty="0"/>
              <a:t> Selector  </a:t>
            </a:r>
            <a:r>
              <a:rPr lang="en-US" sz="2800" dirty="0">
                <a:solidFill>
                  <a:schemeClr val="bg1">
                    <a:lumMod val="50000"/>
                  </a:schemeClr>
                </a:solidFill>
              </a:rPr>
              <a:t>h3 {}</a:t>
            </a:r>
          </a:p>
          <a:p>
            <a:pPr marL="457200" indent="-457200">
              <a:buFont typeface="Wingdings" panose="05000000000000000000" pitchFamily="2" charset="2"/>
              <a:buChar char="ü"/>
            </a:pPr>
            <a:endParaRPr lang="en-US" sz="2800" dirty="0"/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en-US" sz="2800" dirty="0">
                <a:solidFill>
                  <a:schemeClr val="accent6"/>
                </a:solidFill>
              </a:rPr>
              <a:t>ID</a:t>
            </a:r>
            <a:r>
              <a:rPr lang="en-US" sz="2800" dirty="0"/>
              <a:t> Selector </a:t>
            </a:r>
            <a:r>
              <a:rPr lang="en-US" sz="2800" dirty="0">
                <a:solidFill>
                  <a:schemeClr val="bg1">
                    <a:lumMod val="50000"/>
                  </a:schemeClr>
                </a:solidFill>
              </a:rPr>
              <a:t>#id {}</a:t>
            </a:r>
          </a:p>
          <a:p>
            <a:pPr marL="457200" indent="-457200">
              <a:buFont typeface="Wingdings" panose="05000000000000000000" pitchFamily="2" charset="2"/>
              <a:buChar char="ü"/>
            </a:pPr>
            <a:endParaRPr lang="en-US" sz="2800" dirty="0"/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en-US" sz="2800" dirty="0">
                <a:solidFill>
                  <a:schemeClr val="accent1"/>
                </a:solidFill>
              </a:rPr>
              <a:t>Class</a:t>
            </a:r>
            <a:r>
              <a:rPr lang="en-US" sz="2800" dirty="0"/>
              <a:t> Selector </a:t>
            </a:r>
            <a:r>
              <a:rPr lang="en-US" sz="2800" dirty="0">
                <a:solidFill>
                  <a:schemeClr val="bg1">
                    <a:lumMod val="50000"/>
                  </a:schemeClr>
                </a:solidFill>
              </a:rPr>
              <a:t>.class {}</a:t>
            </a:r>
          </a:p>
          <a:p>
            <a:pPr marL="457200" indent="-457200">
              <a:buFont typeface="Wingdings" panose="05000000000000000000" pitchFamily="2" charset="2"/>
              <a:buChar char="ü"/>
            </a:pPr>
            <a:endParaRPr lang="en-US" sz="2800" dirty="0"/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en-US" sz="2800" dirty="0">
                <a:solidFill>
                  <a:srgbClr val="A1459D"/>
                </a:solidFill>
              </a:rPr>
              <a:t>Grouping </a:t>
            </a:r>
            <a:r>
              <a:rPr lang="en-US" sz="2800" dirty="0"/>
              <a:t>Selector</a:t>
            </a:r>
            <a:r>
              <a:rPr lang="en-US" sz="2800" dirty="0">
                <a:solidFill>
                  <a:srgbClr val="A1459D"/>
                </a:solidFill>
              </a:rPr>
              <a:t>    </a:t>
            </a:r>
            <a:r>
              <a:rPr lang="en-US" sz="2800" dirty="0">
                <a:solidFill>
                  <a:schemeClr val="bg1">
                    <a:lumMod val="50000"/>
                  </a:schemeClr>
                </a:solidFill>
              </a:rPr>
              <a:t>h3, .warning {}</a:t>
            </a:r>
          </a:p>
          <a:p>
            <a:endParaRPr lang="en-US" sz="2800" dirty="0"/>
          </a:p>
          <a:p>
            <a:endParaRPr lang="en-US" sz="28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4FA0C56-EBDF-4C94-BA1C-CB79C0B105C7}"/>
              </a:ext>
            </a:extLst>
          </p:cNvPr>
          <p:cNvCxnSpPr>
            <a:cxnSpLocks/>
          </p:cNvCxnSpPr>
          <p:nvPr/>
        </p:nvCxnSpPr>
        <p:spPr>
          <a:xfrm flipH="1" flipV="1">
            <a:off x="6555117" y="2203169"/>
            <a:ext cx="10657" cy="411624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5BA040E6-1F36-4111-BC8F-0EC2D11A12A4}"/>
              </a:ext>
            </a:extLst>
          </p:cNvPr>
          <p:cNvSpPr txBox="1"/>
          <p:nvPr/>
        </p:nvSpPr>
        <p:spPr>
          <a:xfrm>
            <a:off x="6855705" y="2469618"/>
            <a:ext cx="4470647" cy="31085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ü"/>
            </a:pPr>
            <a:r>
              <a:rPr lang="en-US" sz="2800" dirty="0"/>
              <a:t>Child Selector </a:t>
            </a:r>
            <a:r>
              <a:rPr lang="en-US" sz="2800" dirty="0">
                <a:solidFill>
                  <a:schemeClr val="bg1">
                    <a:lumMod val="50000"/>
                  </a:schemeClr>
                </a:solidFill>
              </a:rPr>
              <a:t>ul &gt; li {}</a:t>
            </a:r>
          </a:p>
          <a:p>
            <a:pPr marL="457200" indent="-457200">
              <a:buFont typeface="Wingdings" panose="05000000000000000000" pitchFamily="2" charset="2"/>
              <a:buChar char="ü"/>
            </a:pPr>
            <a:endParaRPr lang="en-US" sz="2800" dirty="0"/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en-US" sz="2800" dirty="0"/>
              <a:t>Descendant Selector </a:t>
            </a:r>
            <a:r>
              <a:rPr lang="en-US" sz="2800" dirty="0">
                <a:solidFill>
                  <a:schemeClr val="bg1">
                    <a:lumMod val="50000"/>
                  </a:schemeClr>
                </a:solidFill>
              </a:rPr>
              <a:t>p a {}</a:t>
            </a:r>
          </a:p>
          <a:p>
            <a:pPr marL="457200" indent="-457200">
              <a:buFont typeface="Wingdings" panose="05000000000000000000" pitchFamily="2" charset="2"/>
              <a:buChar char="ü"/>
            </a:pPr>
            <a:endParaRPr lang="en-US" sz="2800" dirty="0"/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en-US" sz="2800" dirty="0"/>
              <a:t>Universal Selector </a:t>
            </a:r>
            <a:r>
              <a:rPr lang="en-US" sz="2800" dirty="0">
                <a:solidFill>
                  <a:schemeClr val="bg1">
                    <a:lumMod val="50000"/>
                  </a:schemeClr>
                </a:solidFill>
              </a:rPr>
              <a:t>* {}</a:t>
            </a:r>
          </a:p>
          <a:p>
            <a:pPr marL="457200" indent="-457200">
              <a:buFont typeface="Wingdings" panose="05000000000000000000" pitchFamily="2" charset="2"/>
              <a:buChar char="ü"/>
            </a:pPr>
            <a:endParaRPr lang="en-US" sz="2800" dirty="0"/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en-US" sz="2800" dirty="0"/>
              <a:t>Pseudo-classes  </a:t>
            </a:r>
            <a:r>
              <a:rPr lang="en-US" sz="2800" dirty="0">
                <a:solidFill>
                  <a:schemeClr val="bg1">
                    <a:lumMod val="50000"/>
                  </a:schemeClr>
                </a:solidFill>
              </a:rPr>
              <a:t>p:hover {}</a:t>
            </a:r>
          </a:p>
        </p:txBody>
      </p:sp>
    </p:spTree>
    <p:extLst>
      <p:ext uri="{BB962C8B-B14F-4D97-AF65-F5344CB8AC3E}">
        <p14:creationId xmlns:p14="http://schemas.microsoft.com/office/powerpoint/2010/main" val="40710600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A9260F3-FED1-427A-80A7-E00FAE5D3C58}"/>
              </a:ext>
            </a:extLst>
          </p:cNvPr>
          <p:cNvSpPr txBox="1"/>
          <p:nvPr/>
        </p:nvSpPr>
        <p:spPr>
          <a:xfrm>
            <a:off x="0" y="0"/>
            <a:ext cx="1714499" cy="369332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EXPLAIN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4CE2A3A-985F-4F43-9077-0997143B715B}"/>
              </a:ext>
            </a:extLst>
          </p:cNvPr>
          <p:cNvSpPr txBox="1"/>
          <p:nvPr/>
        </p:nvSpPr>
        <p:spPr>
          <a:xfrm>
            <a:off x="4009905" y="306428"/>
            <a:ext cx="396326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i="0" u="none" strike="noStrike" cap="none" dirty="0">
                <a:solidFill>
                  <a:schemeClr val="accent2"/>
                </a:solidFill>
                <a:ea typeface="Montserrat Black"/>
                <a:cs typeface="Montserrat Black"/>
                <a:sym typeface="Montserrat Black"/>
              </a:rPr>
              <a:t>Type</a:t>
            </a:r>
            <a:r>
              <a:rPr lang="en-US" sz="5400" i="0" u="none" strike="noStrike" cap="none" dirty="0">
                <a:solidFill>
                  <a:srgbClr val="000000"/>
                </a:solidFill>
                <a:ea typeface="Montserrat Black"/>
                <a:cs typeface="Montserrat Black"/>
                <a:sym typeface="Montserrat Black"/>
              </a:rPr>
              <a:t> Selector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7AD4870-581C-42A1-8CF4-B351EF03C3D3}"/>
              </a:ext>
            </a:extLst>
          </p:cNvPr>
          <p:cNvSpPr txBox="1"/>
          <p:nvPr/>
        </p:nvSpPr>
        <p:spPr>
          <a:xfrm>
            <a:off x="587202" y="1256485"/>
            <a:ext cx="10977174" cy="5587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</a:pPr>
            <a:r>
              <a:rPr lang="en-US" sz="2800" b="0" i="0" u="none" strike="noStrike" cap="none" dirty="0">
                <a:solidFill>
                  <a:srgbClr val="000000"/>
                </a:solidFill>
                <a:ea typeface="Montserrat"/>
                <a:cs typeface="Montserrat"/>
                <a:sym typeface="Montserrat"/>
              </a:rPr>
              <a:t>A </a:t>
            </a:r>
            <a:r>
              <a:rPr lang="en-US" sz="2800" b="1" i="0" u="none" strike="noStrike" cap="none" dirty="0">
                <a:solidFill>
                  <a:srgbClr val="000000"/>
                </a:solidFill>
                <a:ea typeface="Montserrat"/>
                <a:cs typeface="Montserrat"/>
                <a:sym typeface="Montserrat"/>
              </a:rPr>
              <a:t>type selector </a:t>
            </a:r>
            <a:r>
              <a:rPr lang="en-US" sz="2800" b="0" i="0" u="none" strike="noStrike" cap="none" dirty="0">
                <a:solidFill>
                  <a:srgbClr val="000000"/>
                </a:solidFill>
                <a:ea typeface="Montserrat"/>
                <a:cs typeface="Montserrat"/>
                <a:sym typeface="Montserrat"/>
              </a:rPr>
              <a:t>selects all elements of the given type</a:t>
            </a:r>
            <a:endParaRPr lang="en-US" sz="2800" dirty="0">
              <a:solidFill>
                <a:schemeClr val="dk1"/>
              </a:solidFill>
              <a:ea typeface="Montserrat"/>
              <a:cs typeface="Montserrat"/>
              <a:sym typeface="Montserrat"/>
            </a:endParaRPr>
          </a:p>
        </p:txBody>
      </p:sp>
      <p:sp>
        <p:nvSpPr>
          <p:cNvPr id="12" name="Google Shape;1473;p298">
            <a:extLst>
              <a:ext uri="{FF2B5EF4-FFF2-40B4-BE49-F238E27FC236}">
                <a16:creationId xmlns:a16="http://schemas.microsoft.com/office/drawing/2014/main" id="{5A80A07A-CD5A-4374-B932-2BCAC2F53925}"/>
              </a:ext>
            </a:extLst>
          </p:cNvPr>
          <p:cNvSpPr txBox="1"/>
          <p:nvPr/>
        </p:nvSpPr>
        <p:spPr>
          <a:xfrm>
            <a:off x="4634019" y="3331528"/>
            <a:ext cx="4899753" cy="1234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4800" b="1" i="0" u="none" strike="noStrike" cap="none" dirty="0">
                <a:solidFill>
                  <a:schemeClr val="accent2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P</a:t>
            </a:r>
            <a:r>
              <a:rPr lang="en" sz="4800" b="0" i="0" u="none" strike="noStrike" cap="none" dirty="0">
                <a:solidFill>
                  <a:srgbClr val="000000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 {</a:t>
            </a:r>
            <a:endParaRPr sz="4800" b="0" i="0" u="none" strike="noStrike" cap="none" dirty="0">
              <a:solidFill>
                <a:srgbClr val="000000"/>
              </a:solidFill>
              <a:latin typeface="Consolas" panose="020B0609020204030204" pitchFamily="49" charset="0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4800" b="0" i="0" u="none" strike="noStrike" cap="none" dirty="0">
                <a:solidFill>
                  <a:srgbClr val="000000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	color:red;</a:t>
            </a:r>
            <a:endParaRPr sz="4800" b="0" i="0" u="none" strike="noStrike" cap="none" dirty="0">
              <a:solidFill>
                <a:srgbClr val="000000"/>
              </a:solidFill>
              <a:latin typeface="Consolas" panose="020B0609020204030204" pitchFamily="49" charset="0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4800" b="0" i="0" u="none" strike="noStrike" cap="none" dirty="0">
                <a:solidFill>
                  <a:srgbClr val="000000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  }</a:t>
            </a:r>
            <a:endParaRPr sz="3600" b="0" i="0" u="none" strike="noStrike" cap="none" dirty="0">
              <a:solidFill>
                <a:srgbClr val="000000"/>
              </a:solidFill>
              <a:latin typeface="Consolas" panose="020B0609020204030204" pitchFamily="49" charset="0"/>
              <a:ea typeface="Arial"/>
              <a:cs typeface="Arial"/>
              <a:sym typeface="Arial"/>
            </a:endParaRP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D60D6D4E-F245-408D-9DA0-8290D17ACFC7}"/>
              </a:ext>
            </a:extLst>
          </p:cNvPr>
          <p:cNvCxnSpPr>
            <a:cxnSpLocks/>
          </p:cNvCxnSpPr>
          <p:nvPr/>
        </p:nvCxnSpPr>
        <p:spPr>
          <a:xfrm>
            <a:off x="4940022" y="2926979"/>
            <a:ext cx="0" cy="549762"/>
          </a:xfrm>
          <a:prstGeom prst="straightConnector1">
            <a:avLst/>
          </a:prstGeom>
          <a:ln w="28575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A912395D-03C5-455F-8974-2B2E271083D1}"/>
              </a:ext>
            </a:extLst>
          </p:cNvPr>
          <p:cNvSpPr txBox="1"/>
          <p:nvPr/>
        </p:nvSpPr>
        <p:spPr>
          <a:xfrm>
            <a:off x="3888473" y="2471958"/>
            <a:ext cx="220752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accent2"/>
                </a:solidFill>
              </a:rPr>
              <a:t>Element Type</a:t>
            </a:r>
          </a:p>
        </p:txBody>
      </p:sp>
    </p:spTree>
    <p:extLst>
      <p:ext uri="{BB962C8B-B14F-4D97-AF65-F5344CB8AC3E}">
        <p14:creationId xmlns:p14="http://schemas.microsoft.com/office/powerpoint/2010/main" val="21949338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F0A42D1-ED75-44AA-B29C-B8EBE0AAEB56}"/>
              </a:ext>
            </a:extLst>
          </p:cNvPr>
          <p:cNvSpPr txBox="1"/>
          <p:nvPr/>
        </p:nvSpPr>
        <p:spPr>
          <a:xfrm>
            <a:off x="0" y="0"/>
            <a:ext cx="1714499" cy="369332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EXPLAIN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E7F1895-4A0C-4BC0-AF72-9A08BF6CDC34}"/>
              </a:ext>
            </a:extLst>
          </p:cNvPr>
          <p:cNvSpPr txBox="1"/>
          <p:nvPr/>
        </p:nvSpPr>
        <p:spPr>
          <a:xfrm>
            <a:off x="966106" y="1931489"/>
            <a:ext cx="10259787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 INLINE WAY</a:t>
            </a:r>
            <a:endParaRPr lang="en-US" sz="2000" dirty="0"/>
          </a:p>
          <a:p>
            <a:pPr lvl="1"/>
            <a:r>
              <a:rPr lang="en-US" altLang="fr-FR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	&lt;h1 style=</a:t>
            </a:r>
            <a:r>
              <a:rPr lang="en-US" altLang="fr-FR" sz="2000" b="1" dirty="0">
                <a:solidFill>
                  <a:schemeClr val="accent6"/>
                </a:solidFill>
                <a:latin typeface="Consolas" panose="020B0609020204030204" pitchFamily="49" charset="0"/>
              </a:rPr>
              <a:t>"</a:t>
            </a:r>
            <a:r>
              <a:rPr lang="en-US" altLang="fr-FR" sz="2000" b="1" dirty="0" err="1">
                <a:solidFill>
                  <a:schemeClr val="accent6"/>
                </a:solidFill>
                <a:latin typeface="Consolas" panose="020B0609020204030204" pitchFamily="49" charset="0"/>
              </a:rPr>
              <a:t>color:blue</a:t>
            </a:r>
            <a:r>
              <a:rPr lang="en-US" altLang="fr-FR" sz="2000" b="1" dirty="0">
                <a:solidFill>
                  <a:schemeClr val="accent6"/>
                </a:solidFill>
                <a:latin typeface="Consolas" panose="020B0609020204030204" pitchFamily="49" charset="0"/>
              </a:rPr>
              <a:t>; font-size:14px;"</a:t>
            </a:r>
            <a:r>
              <a:rPr lang="en-US" altLang="fr-FR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&gt;Hello&lt;/h1&gt;</a:t>
            </a:r>
            <a:endParaRPr lang="en-US" sz="2000" dirty="0">
              <a:latin typeface="Consolas" panose="020B0609020204030204" pitchFamily="49" charset="0"/>
            </a:endParaRPr>
          </a:p>
          <a:p>
            <a:pPr marL="342900" indent="-342900">
              <a:buAutoNum type="arabicPeriod"/>
            </a:pPr>
            <a:endParaRPr lang="en-US" sz="2000" dirty="0"/>
          </a:p>
          <a:p>
            <a:r>
              <a:rPr lang="en-US" sz="2000" b="1" dirty="0"/>
              <a:t>BLOCK WAY</a:t>
            </a:r>
            <a:endParaRPr lang="en-US" sz="2000" dirty="0"/>
          </a:p>
          <a:p>
            <a:pPr lvl="1"/>
            <a:r>
              <a:rPr lang="en-US" sz="2000" dirty="0"/>
              <a:t>Use the tag </a:t>
            </a:r>
            <a:r>
              <a:rPr lang="en-US" sz="2000" b="1" dirty="0"/>
              <a:t>&lt;style&gt; </a:t>
            </a:r>
            <a:r>
              <a:rPr lang="en-US" sz="2000" dirty="0"/>
              <a:t>inside a HTML file</a:t>
            </a:r>
          </a:p>
          <a:p>
            <a:pPr lvl="2"/>
            <a:r>
              <a:rPr lang="en-US" altLang="fr-FR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&lt;head&gt; </a:t>
            </a:r>
          </a:p>
          <a:p>
            <a:pPr lvl="2"/>
            <a:r>
              <a:rPr lang="en-US" altLang="fr-FR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	&lt;style&gt; </a:t>
            </a:r>
            <a:r>
              <a:rPr lang="en-US" altLang="fr-FR" sz="2000" b="1" dirty="0">
                <a:solidFill>
                  <a:schemeClr val="accent6"/>
                </a:solidFill>
                <a:latin typeface="Consolas" panose="020B0609020204030204" pitchFamily="49" charset="0"/>
              </a:rPr>
              <a:t>h1 {</a:t>
            </a:r>
            <a:r>
              <a:rPr lang="en-US" altLang="fr-FR" sz="2000" b="1" dirty="0" err="1">
                <a:solidFill>
                  <a:schemeClr val="accent6"/>
                </a:solidFill>
                <a:latin typeface="Consolas" panose="020B0609020204030204" pitchFamily="49" charset="0"/>
              </a:rPr>
              <a:t>color:blue</a:t>
            </a:r>
            <a:r>
              <a:rPr lang="en-US" altLang="fr-FR" sz="2000" b="1" dirty="0">
                <a:solidFill>
                  <a:schemeClr val="accent6"/>
                </a:solidFill>
                <a:latin typeface="Consolas" panose="020B0609020204030204" pitchFamily="49" charset="0"/>
              </a:rPr>
              <a:t>; font-size:14px;} </a:t>
            </a:r>
            <a:r>
              <a:rPr lang="en-US" altLang="fr-FR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&lt;/style&gt;</a:t>
            </a:r>
          </a:p>
          <a:p>
            <a:pPr lvl="2"/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&lt;/head&gt;</a:t>
            </a:r>
            <a:endParaRPr lang="en-US" sz="2000" dirty="0">
              <a:latin typeface="Consolas" panose="020B0609020204030204" pitchFamily="49" charset="0"/>
            </a:endParaRPr>
          </a:p>
          <a:p>
            <a:pPr marL="342900" indent="-342900">
              <a:buAutoNum type="arabicPeriod"/>
            </a:pPr>
            <a:endParaRPr lang="en-US" sz="2000" dirty="0"/>
          </a:p>
          <a:p>
            <a:r>
              <a:rPr lang="en-US" sz="2000" b="1" dirty="0"/>
              <a:t>EXTERNAL WAY</a:t>
            </a:r>
            <a:endParaRPr lang="en-US" sz="2000" dirty="0"/>
          </a:p>
          <a:p>
            <a:pPr lvl="1"/>
            <a:r>
              <a:rPr lang="en-US" sz="2000" dirty="0"/>
              <a:t>Define your rules in a separate file</a:t>
            </a:r>
          </a:p>
          <a:p>
            <a:pPr lvl="2"/>
            <a:r>
              <a:rPr lang="en-US" altLang="fr-FR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&lt;head&gt;</a:t>
            </a:r>
          </a:p>
          <a:p>
            <a:pPr lvl="2"/>
            <a:r>
              <a:rPr lang="en-US" altLang="fr-FR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  &lt;link </a:t>
            </a:r>
            <a:r>
              <a:rPr lang="en-US" altLang="fr-FR" sz="2000" dirty="0" err="1">
                <a:solidFill>
                  <a:schemeClr val="accent6"/>
                </a:solidFill>
                <a:latin typeface="Consolas" panose="020B0609020204030204" pitchFamily="49" charset="0"/>
              </a:rPr>
              <a:t>rel</a:t>
            </a:r>
            <a:r>
              <a:rPr lang="en-US" altLang="fr-FR" sz="2000" dirty="0">
                <a:solidFill>
                  <a:schemeClr val="accent6"/>
                </a:solidFill>
                <a:latin typeface="Consolas" panose="020B0609020204030204" pitchFamily="49" charset="0"/>
              </a:rPr>
              <a:t>="stylesheet" </a:t>
            </a:r>
            <a:r>
              <a:rPr lang="en-US" altLang="fr-FR" sz="2000" dirty="0" err="1">
                <a:solidFill>
                  <a:schemeClr val="accent6"/>
                </a:solidFill>
                <a:latin typeface="Consolas" panose="020B0609020204030204" pitchFamily="49" charset="0"/>
              </a:rPr>
              <a:t>href</a:t>
            </a:r>
            <a:r>
              <a:rPr lang="en-US" altLang="fr-FR" sz="2000" dirty="0">
                <a:solidFill>
                  <a:schemeClr val="accent6"/>
                </a:solidFill>
                <a:latin typeface="Consolas" panose="020B0609020204030204" pitchFamily="49" charset="0"/>
              </a:rPr>
              <a:t>="style.css</a:t>
            </a:r>
            <a:r>
              <a:rPr lang="en-US" altLang="fr-FR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"&gt; </a:t>
            </a:r>
          </a:p>
          <a:p>
            <a:pPr lvl="2"/>
            <a:r>
              <a:rPr lang="en-US" altLang="fr-FR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&lt;/head&gt;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&gt;</a:t>
            </a:r>
            <a:endParaRPr lang="en-US" sz="2000" dirty="0">
              <a:latin typeface="Consolas" panose="020B0609020204030204" pitchFamily="49" charset="0"/>
            </a:endParaRPr>
          </a:p>
          <a:p>
            <a:pPr lvl="1"/>
            <a:endParaRPr lang="en-US" sz="2000" dirty="0"/>
          </a:p>
        </p:txBody>
      </p:sp>
      <p:cxnSp>
        <p:nvCxnSpPr>
          <p:cNvPr id="5" name="Curved Connector 11">
            <a:extLst>
              <a:ext uri="{FF2B5EF4-FFF2-40B4-BE49-F238E27FC236}">
                <a16:creationId xmlns:a16="http://schemas.microsoft.com/office/drawing/2014/main" id="{ACE57F86-A780-4DB3-A0EE-16BDE36C7EC5}"/>
              </a:ext>
            </a:extLst>
          </p:cNvPr>
          <p:cNvCxnSpPr>
            <a:cxnSpLocks/>
            <a:stCxn id="6" idx="1"/>
          </p:cNvCxnSpPr>
          <p:nvPr/>
        </p:nvCxnSpPr>
        <p:spPr>
          <a:xfrm rot="10800000">
            <a:off x="6644244" y="5999260"/>
            <a:ext cx="575428" cy="507160"/>
          </a:xfrm>
          <a:prstGeom prst="curvedConnector3">
            <a:avLst>
              <a:gd name="adj1" fmla="val 50000"/>
            </a:avLst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1">
            <a:extLst>
              <a:ext uri="{FF2B5EF4-FFF2-40B4-BE49-F238E27FC236}">
                <a16:creationId xmlns:a16="http://schemas.microsoft.com/office/drawing/2014/main" id="{D7A006AD-05A8-4163-9F93-37969B08CDC4}"/>
              </a:ext>
            </a:extLst>
          </p:cNvPr>
          <p:cNvSpPr txBox="1">
            <a:spLocks noChangeArrowheads="1"/>
          </p:cNvSpPr>
          <p:nvPr/>
        </p:nvSpPr>
        <p:spPr bwMode="auto">
          <a:xfrm rot="21202512">
            <a:off x="7215170" y="6074687"/>
            <a:ext cx="1348557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2000" dirty="0">
                <a:solidFill>
                  <a:srgbClr val="0070C0"/>
                </a:solidFill>
                <a:latin typeface="+mn-lt"/>
                <a:ea typeface="Verdana" panose="020B0604030504040204" pitchFamily="34" charset="0"/>
                <a:cs typeface="Arial" panose="020B0604020202020204" pitchFamily="34" charset="0"/>
              </a:rPr>
              <a:t>That s the usual way !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7F18552-D213-4BE9-9206-EF7559E26A64}"/>
              </a:ext>
            </a:extLst>
          </p:cNvPr>
          <p:cNvSpPr txBox="1"/>
          <p:nvPr/>
        </p:nvSpPr>
        <p:spPr>
          <a:xfrm>
            <a:off x="2914939" y="319152"/>
            <a:ext cx="612821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i="0" u="none" strike="noStrike" cap="none" dirty="0">
                <a:solidFill>
                  <a:srgbClr val="000000"/>
                </a:solidFill>
                <a:ea typeface="Montserrat Black"/>
                <a:cs typeface="Montserrat Black"/>
                <a:sym typeface="Montserrat Black"/>
              </a:rPr>
              <a:t>How to </a:t>
            </a:r>
            <a:r>
              <a:rPr lang="en-US" sz="4400" b="1" i="0" u="none" strike="noStrike" cap="none" dirty="0">
                <a:solidFill>
                  <a:srgbClr val="000000"/>
                </a:solidFill>
                <a:ea typeface="Montserrat Black"/>
                <a:cs typeface="Montserrat Black"/>
                <a:sym typeface="Montserrat Black"/>
              </a:rPr>
              <a:t>link CSS </a:t>
            </a:r>
            <a:r>
              <a:rPr lang="en-US" sz="4400" i="0" u="none" strike="noStrike" cap="none" dirty="0">
                <a:solidFill>
                  <a:srgbClr val="000000"/>
                </a:solidFill>
                <a:ea typeface="Montserrat Black"/>
                <a:cs typeface="Montserrat Black"/>
                <a:sym typeface="Montserrat Black"/>
              </a:rPr>
              <a:t>to HTML?</a:t>
            </a:r>
            <a:endParaRPr lang="en-US" sz="4400" b="1" i="0" u="none" strike="noStrike" cap="none" dirty="0">
              <a:solidFill>
                <a:srgbClr val="000000"/>
              </a:solidFill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A535CE8-B1C4-49D3-A5B2-A2C031360624}"/>
              </a:ext>
            </a:extLst>
          </p:cNvPr>
          <p:cNvSpPr txBox="1"/>
          <p:nvPr/>
        </p:nvSpPr>
        <p:spPr>
          <a:xfrm>
            <a:off x="1196051" y="1045934"/>
            <a:ext cx="9799897" cy="5587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</a:pPr>
            <a:r>
              <a:rPr lang="en-US" sz="2800" b="0" i="0" u="none" strike="noStrike" cap="none" dirty="0">
                <a:solidFill>
                  <a:srgbClr val="000000"/>
                </a:solidFill>
                <a:ea typeface="Montserrat"/>
                <a:cs typeface="Montserrat"/>
                <a:sym typeface="Montserrat"/>
              </a:rPr>
              <a:t>CSS can be linked with the HTML using 3 ways</a:t>
            </a:r>
            <a:endParaRPr lang="en-US" sz="2800" dirty="0">
              <a:solidFill>
                <a:schemeClr val="dk1"/>
              </a:solidFill>
              <a:ea typeface="Montserrat"/>
              <a:cs typeface="Montserrat"/>
              <a:sym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6077665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436A069E-71CC-4250-AE6C-DDEB4A1C36AF}"/>
              </a:ext>
            </a:extLst>
          </p:cNvPr>
          <p:cNvSpPr txBox="1"/>
          <p:nvPr/>
        </p:nvSpPr>
        <p:spPr>
          <a:xfrm>
            <a:off x="0" y="0"/>
            <a:ext cx="1582738" cy="369888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/>
              <a:t>PRACTICE</a:t>
            </a:r>
          </a:p>
        </p:txBody>
      </p:sp>
      <p:pic>
        <p:nvPicPr>
          <p:cNvPr id="27656" name="Picture 7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7F7F7"/>
              </a:clrFrom>
              <a:clrTo>
                <a:srgbClr val="F7F7F7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119" y="518761"/>
            <a:ext cx="465137" cy="484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657" name="TextBox 8"/>
          <p:cNvSpPr txBox="1">
            <a:spLocks noChangeArrowheads="1"/>
          </p:cNvSpPr>
          <p:nvPr/>
        </p:nvSpPr>
        <p:spPr bwMode="auto">
          <a:xfrm>
            <a:off x="101319" y="1052161"/>
            <a:ext cx="566737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/>
              <a:t>5 MIN</a:t>
            </a:r>
            <a:endParaRPr lang="en-US" altLang="en-US" sz="1200">
              <a:solidFill>
                <a:srgbClr val="FF0000"/>
              </a:solidFill>
            </a:endParaRPr>
          </a:p>
        </p:txBody>
      </p:sp>
      <p:pic>
        <p:nvPicPr>
          <p:cNvPr id="27658" name="Picture 10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431" y="442561"/>
            <a:ext cx="306387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FC42968-2B05-486E-B8F1-A55C51CAD895}"/>
              </a:ext>
            </a:extLst>
          </p:cNvPr>
          <p:cNvSpPr txBox="1"/>
          <p:nvPr/>
        </p:nvSpPr>
        <p:spPr>
          <a:xfrm>
            <a:off x="4936342" y="282720"/>
            <a:ext cx="237757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b="1" dirty="0"/>
              <a:t>Activity 1</a:t>
            </a:r>
            <a:endParaRPr lang="en-US" sz="4400" i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75C8E4C-DB7F-4BBB-9199-86571B31B7C2}"/>
              </a:ext>
            </a:extLst>
          </p:cNvPr>
          <p:cNvSpPr txBox="1"/>
          <p:nvPr/>
        </p:nvSpPr>
        <p:spPr>
          <a:xfrm>
            <a:off x="1948306" y="1426232"/>
            <a:ext cx="7381701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ü"/>
            </a:pPr>
            <a:r>
              <a:rPr lang="en-US" sz="2400" dirty="0"/>
              <a:t>Read </a:t>
            </a:r>
            <a:r>
              <a:rPr lang="en-US" sz="2400" dirty="0">
                <a:hlinkClick r:id="rId4"/>
              </a:rPr>
              <a:t>this document on CSS text and background color</a:t>
            </a:r>
            <a:endParaRPr lang="en-US" sz="2400" dirty="0"/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en-US" sz="2400" dirty="0"/>
              <a:t>Open the HTML file</a:t>
            </a:r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en-US" sz="2400" dirty="0"/>
              <a:t>Write your CSS rules in a separate file</a:t>
            </a:r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en-US" sz="2400" dirty="0"/>
              <a:t>Link the CSS file to the HTML file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0C545D5-1D29-48C8-81C6-38EB1921CB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42367" y="3369963"/>
            <a:ext cx="5654890" cy="2640938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54DC29D3-7C48-4534-9563-78214B9B7183}"/>
              </a:ext>
            </a:extLst>
          </p:cNvPr>
          <p:cNvSpPr txBox="1"/>
          <p:nvPr/>
        </p:nvSpPr>
        <p:spPr>
          <a:xfrm>
            <a:off x="5040743" y="6171981"/>
            <a:ext cx="21105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i="1" dirty="0"/>
              <a:t>Expected result</a:t>
            </a:r>
          </a:p>
        </p:txBody>
      </p:sp>
      <p:pic>
        <p:nvPicPr>
          <p:cNvPr id="17" name="Picture 10">
            <a:extLst>
              <a:ext uri="{FF2B5EF4-FFF2-40B4-BE49-F238E27FC236}">
                <a16:creationId xmlns:a16="http://schemas.microsoft.com/office/drawing/2014/main" id="{A3399927-0B59-46A9-ADE4-8B458D6D8D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3818" y="442561"/>
            <a:ext cx="306387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0CCD474-8CAE-420A-A8E3-BF7E7BE336BD}"/>
              </a:ext>
            </a:extLst>
          </p:cNvPr>
          <p:cNvSpPr txBox="1"/>
          <p:nvPr/>
        </p:nvSpPr>
        <p:spPr>
          <a:xfrm>
            <a:off x="0" y="0"/>
            <a:ext cx="1714499" cy="369332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EXPLAIN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0F16A3B-6C1E-46E7-AA05-DE497E732693}"/>
              </a:ext>
            </a:extLst>
          </p:cNvPr>
          <p:cNvSpPr txBox="1"/>
          <p:nvPr/>
        </p:nvSpPr>
        <p:spPr>
          <a:xfrm>
            <a:off x="3788004" y="282247"/>
            <a:ext cx="543514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i="0" u="none" strike="noStrike" cap="none" dirty="0">
                <a:solidFill>
                  <a:schemeClr val="accent6"/>
                </a:solidFill>
                <a:ea typeface="Montserrat Black"/>
                <a:cs typeface="Montserrat Black"/>
                <a:sym typeface="Montserrat Black"/>
              </a:rPr>
              <a:t>Identifier</a:t>
            </a:r>
            <a:r>
              <a:rPr lang="en-US" sz="5400" i="0" u="none" strike="noStrike" cap="none" dirty="0">
                <a:solidFill>
                  <a:srgbClr val="000000"/>
                </a:solidFill>
                <a:ea typeface="Montserrat Black"/>
                <a:cs typeface="Montserrat Black"/>
                <a:sym typeface="Montserrat Black"/>
              </a:rPr>
              <a:t> selectors</a:t>
            </a:r>
            <a:endParaRPr lang="en-US" sz="5400" b="1" i="0" u="none" strike="noStrike" cap="none" dirty="0">
              <a:solidFill>
                <a:srgbClr val="000000"/>
              </a:solidFill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F1CAD3C-BAAB-4C80-9626-1967FBC335EB}"/>
              </a:ext>
            </a:extLst>
          </p:cNvPr>
          <p:cNvSpPr txBox="1"/>
          <p:nvPr/>
        </p:nvSpPr>
        <p:spPr>
          <a:xfrm>
            <a:off x="365829" y="2159511"/>
            <a:ext cx="56507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/>
              <a:t>An identifier can be assigned to an element using the Id attribute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41D00AB-84B0-4009-BFFE-9BDBACA2F4DC}"/>
              </a:ext>
            </a:extLst>
          </p:cNvPr>
          <p:cNvCxnSpPr>
            <a:cxnSpLocks/>
          </p:cNvCxnSpPr>
          <p:nvPr/>
        </p:nvCxnSpPr>
        <p:spPr>
          <a:xfrm flipV="1">
            <a:off x="6505575" y="1907919"/>
            <a:ext cx="0" cy="3649374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860160DC-72F9-4F74-B140-CEA39BD0EC3F}"/>
              </a:ext>
            </a:extLst>
          </p:cNvPr>
          <p:cNvSpPr txBox="1"/>
          <p:nvPr/>
        </p:nvSpPr>
        <p:spPr>
          <a:xfrm>
            <a:off x="2212224" y="1538587"/>
            <a:ext cx="16145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ON HTML SIDE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65B94D2-637D-4ED8-8F9E-FED4C8CFEA91}"/>
              </a:ext>
            </a:extLst>
          </p:cNvPr>
          <p:cNvSpPr txBox="1"/>
          <p:nvPr/>
        </p:nvSpPr>
        <p:spPr>
          <a:xfrm>
            <a:off x="8424807" y="1538587"/>
            <a:ext cx="14510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ON CSS  SIDE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17B6415-FD9D-4C86-97ED-F4D9F8191907}"/>
              </a:ext>
            </a:extLst>
          </p:cNvPr>
          <p:cNvSpPr txBox="1"/>
          <p:nvPr/>
        </p:nvSpPr>
        <p:spPr>
          <a:xfrm>
            <a:off x="6791165" y="2164319"/>
            <a:ext cx="50103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/>
              <a:t>The </a:t>
            </a:r>
            <a:r>
              <a:rPr lang="en-US" b="1" dirty="0"/>
              <a:t>ID selector </a:t>
            </a:r>
            <a:r>
              <a:rPr lang="en-US" dirty="0"/>
              <a:t>selects </a:t>
            </a:r>
            <a:r>
              <a:rPr lang="en-US" b="1" dirty="0"/>
              <a:t>the element </a:t>
            </a:r>
            <a:r>
              <a:rPr lang="en-US" dirty="0"/>
              <a:t>linked to this ID</a:t>
            </a:r>
          </a:p>
        </p:txBody>
      </p:sp>
      <p:sp>
        <p:nvSpPr>
          <p:cNvPr id="14" name="Google Shape;1473;p298">
            <a:extLst>
              <a:ext uri="{FF2B5EF4-FFF2-40B4-BE49-F238E27FC236}">
                <a16:creationId xmlns:a16="http://schemas.microsoft.com/office/drawing/2014/main" id="{ABB4C5E2-ADAA-4A84-BE37-B7BE66DF2AF8}"/>
              </a:ext>
            </a:extLst>
          </p:cNvPr>
          <p:cNvSpPr txBox="1"/>
          <p:nvPr/>
        </p:nvSpPr>
        <p:spPr>
          <a:xfrm>
            <a:off x="6994611" y="4085003"/>
            <a:ext cx="4603417" cy="1234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2800" b="1" dirty="0">
                <a:solidFill>
                  <a:schemeClr val="accent2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#main-title</a:t>
            </a:r>
            <a:r>
              <a:rPr lang="en" sz="2800" b="0" i="0" u="none" strike="noStrike" cap="none" dirty="0">
                <a:solidFill>
                  <a:schemeClr val="accent2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 </a:t>
            </a:r>
            <a:r>
              <a:rPr lang="en" sz="2800" b="0" i="0" u="none" strike="noStrike" cap="none" dirty="0">
                <a:solidFill>
                  <a:srgbClr val="000000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{</a:t>
            </a:r>
            <a:endParaRPr sz="2800" b="0" i="0" u="none" strike="noStrike" cap="none" dirty="0">
              <a:solidFill>
                <a:srgbClr val="000000"/>
              </a:solidFill>
              <a:latin typeface="Consolas" panose="020B0609020204030204" pitchFamily="49" charset="0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2800" b="0" i="0" u="none" strike="noStrike" cap="none" dirty="0">
                <a:solidFill>
                  <a:srgbClr val="000000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	color:orange;</a:t>
            </a:r>
            <a:endParaRPr sz="2800" b="0" i="0" u="none" strike="noStrike" cap="none" dirty="0">
              <a:solidFill>
                <a:srgbClr val="000000"/>
              </a:solidFill>
              <a:latin typeface="Consolas" panose="020B0609020204030204" pitchFamily="49" charset="0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2800" b="0" i="0" u="none" strike="noStrike" cap="none" dirty="0">
                <a:solidFill>
                  <a:srgbClr val="000000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  }</a:t>
            </a:r>
            <a:endParaRPr b="0" i="0" u="none" strike="noStrike" cap="none" dirty="0">
              <a:solidFill>
                <a:srgbClr val="000000"/>
              </a:solidFill>
              <a:latin typeface="Consolas" panose="020B0609020204030204" pitchFamily="49" charset="0"/>
              <a:ea typeface="Arial"/>
              <a:cs typeface="Arial"/>
              <a:sym typeface="Arial"/>
            </a:endParaRP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60E8732F-C49B-43CC-B0FD-F57B2E4BE8A8}"/>
              </a:ext>
            </a:extLst>
          </p:cNvPr>
          <p:cNvCxnSpPr>
            <a:cxnSpLocks/>
          </p:cNvCxnSpPr>
          <p:nvPr/>
        </p:nvCxnSpPr>
        <p:spPr>
          <a:xfrm>
            <a:off x="7752619" y="3685938"/>
            <a:ext cx="0" cy="549762"/>
          </a:xfrm>
          <a:prstGeom prst="straightConnector1">
            <a:avLst/>
          </a:prstGeom>
          <a:ln w="28575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8AD49213-1F37-45DD-A103-47120F3A65DE}"/>
              </a:ext>
            </a:extLst>
          </p:cNvPr>
          <p:cNvSpPr txBox="1"/>
          <p:nvPr/>
        </p:nvSpPr>
        <p:spPr>
          <a:xfrm>
            <a:off x="6972806" y="3274974"/>
            <a:ext cx="11859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/>
                </a:solidFill>
              </a:rPr>
              <a:t>ID selector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9CA984B-E747-4AF5-9FEE-C708C40354A7}"/>
              </a:ext>
            </a:extLst>
          </p:cNvPr>
          <p:cNvSpPr txBox="1"/>
          <p:nvPr/>
        </p:nvSpPr>
        <p:spPr>
          <a:xfrm>
            <a:off x="457528" y="4135510"/>
            <a:ext cx="633363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</a:rPr>
              <a:t>&lt;h1 id=“</a:t>
            </a:r>
            <a:r>
              <a:rPr lang="en-US" sz="2000" dirty="0">
                <a:solidFill>
                  <a:schemeClr val="accent2"/>
                </a:solidFill>
                <a:latin typeface="Consolas" panose="020B0609020204030204" pitchFamily="49" charset="0"/>
              </a:rPr>
              <a:t>main-title</a:t>
            </a:r>
            <a:r>
              <a:rPr lang="en-US" sz="2000" dirty="0">
                <a:latin typeface="Consolas" panose="020B0609020204030204" pitchFamily="49" charset="0"/>
              </a:rPr>
              <a:t>” &gt;Welcome&gt;&lt;/h1&gt;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846B8AF-2F0E-4A0D-AE20-8FC76C8665DA}"/>
              </a:ext>
            </a:extLst>
          </p:cNvPr>
          <p:cNvSpPr txBox="1"/>
          <p:nvPr/>
        </p:nvSpPr>
        <p:spPr>
          <a:xfrm>
            <a:off x="941055" y="3141308"/>
            <a:ext cx="12636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/>
                </a:solidFill>
              </a:rPr>
              <a:t>ID attribute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BF256C22-41C7-4802-B322-11265FCE743B}"/>
              </a:ext>
            </a:extLst>
          </p:cNvPr>
          <p:cNvCxnSpPr>
            <a:cxnSpLocks/>
          </p:cNvCxnSpPr>
          <p:nvPr/>
        </p:nvCxnSpPr>
        <p:spPr>
          <a:xfrm flipV="1">
            <a:off x="2812939" y="4597175"/>
            <a:ext cx="0" cy="551518"/>
          </a:xfrm>
          <a:prstGeom prst="straightConnector1">
            <a:avLst/>
          </a:prstGeom>
          <a:ln w="28575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0937DF97-1DB8-4893-810F-4146FFDC1804}"/>
              </a:ext>
            </a:extLst>
          </p:cNvPr>
          <p:cNvSpPr txBox="1"/>
          <p:nvPr/>
        </p:nvSpPr>
        <p:spPr>
          <a:xfrm>
            <a:off x="2634454" y="5148693"/>
            <a:ext cx="3850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/>
                </a:solidFill>
              </a:rPr>
              <a:t>ID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E4A236A3-4A82-47D1-A852-DBE7903CE4F2}"/>
              </a:ext>
            </a:extLst>
          </p:cNvPr>
          <p:cNvCxnSpPr>
            <a:cxnSpLocks/>
          </p:cNvCxnSpPr>
          <p:nvPr/>
        </p:nvCxnSpPr>
        <p:spPr>
          <a:xfrm>
            <a:off x="1377219" y="3535241"/>
            <a:ext cx="0" cy="549762"/>
          </a:xfrm>
          <a:prstGeom prst="straightConnector1">
            <a:avLst/>
          </a:prstGeom>
          <a:ln w="28575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3C230EB5-DA65-4FAA-9B02-1B1F3EDEA7EE}"/>
              </a:ext>
            </a:extLst>
          </p:cNvPr>
          <p:cNvSpPr txBox="1"/>
          <p:nvPr/>
        </p:nvSpPr>
        <p:spPr>
          <a:xfrm>
            <a:off x="1189119" y="6127928"/>
            <a:ext cx="514818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1800" b="0" i="0" u="none" strike="noStrike" cap="none" dirty="0">
                <a:solidFill>
                  <a:srgbClr val="000000"/>
                </a:solidFill>
                <a:ea typeface="Montserrat"/>
                <a:cs typeface="Montserrat"/>
                <a:sym typeface="Montserrat"/>
              </a:rPr>
              <a:t>An ID </a:t>
            </a:r>
            <a:r>
              <a:rPr lang="en" sz="1800" b="1" i="0" u="none" strike="noStrike" cap="none" dirty="0">
                <a:solidFill>
                  <a:srgbClr val="000000"/>
                </a:solidFill>
                <a:ea typeface="Montserrat"/>
                <a:cs typeface="Montserrat"/>
                <a:sym typeface="Montserrat"/>
              </a:rPr>
              <a:t>should appear only once </a:t>
            </a:r>
            <a:r>
              <a:rPr lang="en" sz="1800" b="0" i="0" u="none" strike="noStrike" cap="none" dirty="0">
                <a:solidFill>
                  <a:srgbClr val="000000"/>
                </a:solidFill>
                <a:ea typeface="Montserrat"/>
                <a:cs typeface="Montserrat"/>
                <a:sym typeface="Montserrat"/>
              </a:rPr>
              <a:t>in a HTML document.</a:t>
            </a:r>
            <a:endParaRPr lang="en-US" dirty="0"/>
          </a:p>
        </p:txBody>
      </p:sp>
      <p:pic>
        <p:nvPicPr>
          <p:cNvPr id="28" name="Google Shape;109;p2">
            <a:extLst>
              <a:ext uri="{FF2B5EF4-FFF2-40B4-BE49-F238E27FC236}">
                <a16:creationId xmlns:a16="http://schemas.microsoft.com/office/drawing/2014/main" id="{59CE5B93-FC3E-4529-BF7D-14D6A47B7001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64458" y="6117902"/>
            <a:ext cx="353194" cy="32267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246583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0CCD474-8CAE-420A-A8E3-BF7E7BE336BD}"/>
              </a:ext>
            </a:extLst>
          </p:cNvPr>
          <p:cNvSpPr txBox="1"/>
          <p:nvPr/>
        </p:nvSpPr>
        <p:spPr>
          <a:xfrm>
            <a:off x="0" y="0"/>
            <a:ext cx="1714499" cy="369332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EXPLAIN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0F16A3B-6C1E-46E7-AA05-DE497E732693}"/>
              </a:ext>
            </a:extLst>
          </p:cNvPr>
          <p:cNvSpPr txBox="1"/>
          <p:nvPr/>
        </p:nvSpPr>
        <p:spPr>
          <a:xfrm>
            <a:off x="4089339" y="282247"/>
            <a:ext cx="424731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i="0" u="none" strike="noStrike" cap="none" dirty="0">
                <a:solidFill>
                  <a:schemeClr val="accent1"/>
                </a:solidFill>
                <a:ea typeface="Montserrat Black"/>
                <a:cs typeface="Montserrat Black"/>
                <a:sym typeface="Montserrat Black"/>
              </a:rPr>
              <a:t>Class</a:t>
            </a:r>
            <a:r>
              <a:rPr lang="en-US" sz="5400" i="0" u="none" strike="noStrike" cap="none" dirty="0">
                <a:solidFill>
                  <a:srgbClr val="000000"/>
                </a:solidFill>
                <a:ea typeface="Montserrat Black"/>
                <a:cs typeface="Montserrat Black"/>
                <a:sym typeface="Montserrat Black"/>
              </a:rPr>
              <a:t> selectors</a:t>
            </a:r>
            <a:endParaRPr lang="en-US" sz="5400" b="1" i="0" u="none" strike="noStrike" cap="none" dirty="0">
              <a:solidFill>
                <a:srgbClr val="000000"/>
              </a:solidFill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F1CAD3C-BAAB-4C80-9626-1967FBC335EB}"/>
              </a:ext>
            </a:extLst>
          </p:cNvPr>
          <p:cNvSpPr txBox="1"/>
          <p:nvPr/>
        </p:nvSpPr>
        <p:spPr>
          <a:xfrm>
            <a:off x="302552" y="2146558"/>
            <a:ext cx="59174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/>
              <a:t>The </a:t>
            </a:r>
            <a:r>
              <a:rPr lang="en-US" b="1" dirty="0"/>
              <a:t>class attribute </a:t>
            </a:r>
            <a:r>
              <a:rPr lang="en-US" dirty="0"/>
              <a:t>is used to assign a class to an element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41D00AB-84B0-4009-BFFE-9BDBACA2F4DC}"/>
              </a:ext>
            </a:extLst>
          </p:cNvPr>
          <p:cNvCxnSpPr>
            <a:cxnSpLocks/>
          </p:cNvCxnSpPr>
          <p:nvPr/>
        </p:nvCxnSpPr>
        <p:spPr>
          <a:xfrm flipV="1">
            <a:off x="6505575" y="1907919"/>
            <a:ext cx="0" cy="3649374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860160DC-72F9-4F74-B140-CEA39BD0EC3F}"/>
              </a:ext>
            </a:extLst>
          </p:cNvPr>
          <p:cNvSpPr txBox="1"/>
          <p:nvPr/>
        </p:nvSpPr>
        <p:spPr>
          <a:xfrm>
            <a:off x="2212224" y="1538587"/>
            <a:ext cx="16145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ON HTML SIDE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65B94D2-637D-4ED8-8F9E-FED4C8CFEA91}"/>
              </a:ext>
            </a:extLst>
          </p:cNvPr>
          <p:cNvSpPr txBox="1"/>
          <p:nvPr/>
        </p:nvSpPr>
        <p:spPr>
          <a:xfrm>
            <a:off x="8424807" y="1538587"/>
            <a:ext cx="14510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ON CSS  SIDE </a:t>
            </a:r>
          </a:p>
        </p:txBody>
      </p:sp>
      <p:sp>
        <p:nvSpPr>
          <p:cNvPr id="15" name="Google Shape;1473;p298">
            <a:extLst>
              <a:ext uri="{FF2B5EF4-FFF2-40B4-BE49-F238E27FC236}">
                <a16:creationId xmlns:a16="http://schemas.microsoft.com/office/drawing/2014/main" id="{215CE495-6A8A-4A08-B31F-29B60CA8AD9C}"/>
              </a:ext>
            </a:extLst>
          </p:cNvPr>
          <p:cNvSpPr txBox="1"/>
          <p:nvPr/>
        </p:nvSpPr>
        <p:spPr>
          <a:xfrm>
            <a:off x="6994611" y="4085003"/>
            <a:ext cx="4603417" cy="1234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2800" b="1" i="0" u="none" strike="noStrike" cap="none" dirty="0">
                <a:solidFill>
                  <a:schemeClr val="accent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.title</a:t>
            </a:r>
            <a:r>
              <a:rPr lang="en" sz="2800" b="0" i="0" u="none" strike="noStrike" cap="none" dirty="0">
                <a:solidFill>
                  <a:schemeClr val="accent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 </a:t>
            </a:r>
            <a:r>
              <a:rPr lang="en" sz="2800" b="0" i="0" u="none" strike="noStrike" cap="none" dirty="0">
                <a:solidFill>
                  <a:srgbClr val="000000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{</a:t>
            </a:r>
            <a:endParaRPr sz="2800" b="0" i="0" u="none" strike="noStrike" cap="none" dirty="0">
              <a:solidFill>
                <a:srgbClr val="000000"/>
              </a:solidFill>
              <a:latin typeface="Consolas" panose="020B0609020204030204" pitchFamily="49" charset="0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2800" b="0" i="0" u="none" strike="noStrike" cap="none" dirty="0">
                <a:solidFill>
                  <a:srgbClr val="000000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	color:orange;</a:t>
            </a:r>
            <a:endParaRPr sz="2800" b="0" i="0" u="none" strike="noStrike" cap="none" dirty="0">
              <a:solidFill>
                <a:srgbClr val="000000"/>
              </a:solidFill>
              <a:latin typeface="Consolas" panose="020B0609020204030204" pitchFamily="49" charset="0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2800" b="0" i="0" u="none" strike="noStrike" cap="none" dirty="0">
                <a:solidFill>
                  <a:srgbClr val="000000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  }</a:t>
            </a:r>
            <a:endParaRPr b="0" i="0" u="none" strike="noStrike" cap="none" dirty="0">
              <a:solidFill>
                <a:srgbClr val="000000"/>
              </a:solidFill>
              <a:latin typeface="Consolas" panose="020B0609020204030204" pitchFamily="49" charset="0"/>
              <a:ea typeface="Arial"/>
              <a:cs typeface="Arial"/>
              <a:sym typeface="Arial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17B6415-FD9D-4C86-97ED-F4D9F8191907}"/>
              </a:ext>
            </a:extLst>
          </p:cNvPr>
          <p:cNvSpPr txBox="1"/>
          <p:nvPr/>
        </p:nvSpPr>
        <p:spPr>
          <a:xfrm>
            <a:off x="6791165" y="2164319"/>
            <a:ext cx="50103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/>
              <a:t>The </a:t>
            </a:r>
            <a:r>
              <a:rPr lang="en-US" b="1" dirty="0"/>
              <a:t>class selector </a:t>
            </a:r>
            <a:r>
              <a:rPr lang="en-US" dirty="0"/>
              <a:t>selects </a:t>
            </a:r>
            <a:r>
              <a:rPr lang="en-US" b="1" dirty="0"/>
              <a:t>all elements </a:t>
            </a:r>
            <a:r>
              <a:rPr lang="en-US" dirty="0"/>
              <a:t>linked to the class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7F3A0F1-A381-4464-8BCD-29C64644A824}"/>
              </a:ext>
            </a:extLst>
          </p:cNvPr>
          <p:cNvCxnSpPr>
            <a:cxnSpLocks/>
          </p:cNvCxnSpPr>
          <p:nvPr/>
        </p:nvCxnSpPr>
        <p:spPr>
          <a:xfrm>
            <a:off x="7752619" y="3685938"/>
            <a:ext cx="0" cy="549762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28615641-B834-4A1B-A62B-015BD1959B42}"/>
              </a:ext>
            </a:extLst>
          </p:cNvPr>
          <p:cNvSpPr txBox="1"/>
          <p:nvPr/>
        </p:nvSpPr>
        <p:spPr>
          <a:xfrm>
            <a:off x="6884655" y="3292005"/>
            <a:ext cx="14520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Class selector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66B93D9-53FD-4E4E-B959-1E3B2A9661EA}"/>
              </a:ext>
            </a:extLst>
          </p:cNvPr>
          <p:cNvSpPr txBox="1"/>
          <p:nvPr/>
        </p:nvSpPr>
        <p:spPr>
          <a:xfrm>
            <a:off x="457528" y="4135510"/>
            <a:ext cx="580352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Consolas" panose="020B0609020204030204" pitchFamily="49" charset="0"/>
              </a:rPr>
              <a:t>&lt;h1 class=“</a:t>
            </a:r>
            <a:r>
              <a:rPr lang="en-US" sz="2400" dirty="0">
                <a:solidFill>
                  <a:schemeClr val="accent1"/>
                </a:solidFill>
                <a:latin typeface="Consolas" panose="020B0609020204030204" pitchFamily="49" charset="0"/>
              </a:rPr>
              <a:t>title</a:t>
            </a:r>
            <a:r>
              <a:rPr lang="en-US" sz="2400" dirty="0">
                <a:latin typeface="Consolas" panose="020B0609020204030204" pitchFamily="49" charset="0"/>
              </a:rPr>
              <a:t>” &gt;Welcome&gt;&lt;/h1&gt;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A8F56777-7BFF-4536-B715-226FAE52E343}"/>
              </a:ext>
            </a:extLst>
          </p:cNvPr>
          <p:cNvCxnSpPr>
            <a:cxnSpLocks/>
          </p:cNvCxnSpPr>
          <p:nvPr/>
        </p:nvCxnSpPr>
        <p:spPr>
          <a:xfrm>
            <a:off x="1809019" y="3535241"/>
            <a:ext cx="0" cy="549762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4AEF144A-01BB-4A91-B099-93889A2DBAD9}"/>
              </a:ext>
            </a:extLst>
          </p:cNvPr>
          <p:cNvSpPr txBox="1"/>
          <p:nvPr/>
        </p:nvSpPr>
        <p:spPr>
          <a:xfrm>
            <a:off x="941055" y="3141308"/>
            <a:ext cx="15297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Class attribute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44ECE541-7A26-4713-8907-0D6290B62A37}"/>
              </a:ext>
            </a:extLst>
          </p:cNvPr>
          <p:cNvCxnSpPr>
            <a:cxnSpLocks/>
          </p:cNvCxnSpPr>
          <p:nvPr/>
        </p:nvCxnSpPr>
        <p:spPr>
          <a:xfrm flipV="1">
            <a:off x="2812939" y="4597175"/>
            <a:ext cx="0" cy="551518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6EDCF5F9-2197-408B-A4D2-7DB361A2D68B}"/>
              </a:ext>
            </a:extLst>
          </p:cNvPr>
          <p:cNvSpPr txBox="1"/>
          <p:nvPr/>
        </p:nvSpPr>
        <p:spPr>
          <a:xfrm>
            <a:off x="2212224" y="5187961"/>
            <a:ext cx="12362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Class name</a:t>
            </a:r>
          </a:p>
        </p:txBody>
      </p:sp>
    </p:spTree>
    <p:extLst>
      <p:ext uri="{BB962C8B-B14F-4D97-AF65-F5344CB8AC3E}">
        <p14:creationId xmlns:p14="http://schemas.microsoft.com/office/powerpoint/2010/main" val="32899468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A9260F3-FED1-427A-80A7-E00FAE5D3C58}"/>
              </a:ext>
            </a:extLst>
          </p:cNvPr>
          <p:cNvSpPr txBox="1"/>
          <p:nvPr/>
        </p:nvSpPr>
        <p:spPr>
          <a:xfrm>
            <a:off x="0" y="0"/>
            <a:ext cx="1714499" cy="369332"/>
          </a:xfrm>
          <a:prstGeom prst="rect">
            <a:avLst/>
          </a:prstGeom>
          <a:solidFill>
            <a:srgbClr val="A1459D"/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REFLECTION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7AD4870-581C-42A1-8CF4-B351EF03C3D3}"/>
              </a:ext>
            </a:extLst>
          </p:cNvPr>
          <p:cNvSpPr txBox="1"/>
          <p:nvPr/>
        </p:nvSpPr>
        <p:spPr>
          <a:xfrm>
            <a:off x="3543213" y="184666"/>
            <a:ext cx="4356187" cy="7586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</a:pPr>
            <a:r>
              <a:rPr lang="en-US" sz="4000" b="0" i="0" u="none" strike="noStrike" cap="none" dirty="0">
                <a:solidFill>
                  <a:srgbClr val="000000"/>
                </a:solidFill>
                <a:ea typeface="Montserrat"/>
                <a:cs typeface="Montserrat"/>
                <a:sym typeface="Montserrat"/>
              </a:rPr>
              <a:t>ID </a:t>
            </a:r>
            <a:r>
              <a:rPr lang="en-US" sz="4000" b="0" i="1" u="none" strike="noStrike" cap="none" dirty="0">
                <a:solidFill>
                  <a:srgbClr val="000000"/>
                </a:solidFill>
                <a:ea typeface="Montserrat"/>
                <a:cs typeface="Montserrat"/>
                <a:sym typeface="Montserrat"/>
              </a:rPr>
              <a:t>vs</a:t>
            </a:r>
            <a:r>
              <a:rPr lang="en-US" sz="4000" b="0" i="0" u="none" strike="noStrike" cap="none" dirty="0">
                <a:solidFill>
                  <a:srgbClr val="000000"/>
                </a:solidFill>
                <a:ea typeface="Montserrat"/>
                <a:cs typeface="Montserrat"/>
                <a:sym typeface="Montserrat"/>
              </a:rPr>
              <a:t> CLASSES</a:t>
            </a:r>
            <a:endParaRPr lang="en-US" sz="4000" dirty="0">
              <a:solidFill>
                <a:schemeClr val="dk1"/>
              </a:solidFill>
              <a:ea typeface="Montserrat"/>
              <a:cs typeface="Montserrat"/>
              <a:sym typeface="Montserrat"/>
            </a:endParaRPr>
          </a:p>
        </p:txBody>
      </p:sp>
      <p:sp>
        <p:nvSpPr>
          <p:cNvPr id="12" name="Google Shape;1473;p298">
            <a:extLst>
              <a:ext uri="{FF2B5EF4-FFF2-40B4-BE49-F238E27FC236}">
                <a16:creationId xmlns:a16="http://schemas.microsoft.com/office/drawing/2014/main" id="{5A80A07A-CD5A-4374-B932-2BCAC2F53925}"/>
              </a:ext>
            </a:extLst>
          </p:cNvPr>
          <p:cNvSpPr txBox="1"/>
          <p:nvPr/>
        </p:nvSpPr>
        <p:spPr>
          <a:xfrm>
            <a:off x="325232" y="4407890"/>
            <a:ext cx="3390738" cy="1234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2400" b="1" i="0" u="none" strike="noStrike" cap="none" dirty="0">
                <a:solidFill>
                  <a:schemeClr val="accent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.warning</a:t>
            </a:r>
            <a:r>
              <a:rPr lang="en" sz="2400" b="0" i="0" u="none" strike="noStrike" cap="none" dirty="0">
                <a:solidFill>
                  <a:schemeClr val="accent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 </a:t>
            </a:r>
            <a:r>
              <a:rPr lang="en" sz="2400" b="0" i="0" u="none" strike="noStrike" cap="none" dirty="0">
                <a:solidFill>
                  <a:srgbClr val="000000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{</a:t>
            </a:r>
            <a:endParaRPr sz="2400" b="0" i="0" u="none" strike="noStrike" cap="none" dirty="0">
              <a:solidFill>
                <a:srgbClr val="000000"/>
              </a:solidFill>
              <a:latin typeface="Consolas" panose="020B0609020204030204" pitchFamily="49" charset="0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2400" b="0" i="0" u="none" strike="noStrike" cap="none" dirty="0">
                <a:solidFill>
                  <a:srgbClr val="000000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	color:</a:t>
            </a:r>
            <a:r>
              <a:rPr lang="en" sz="2400" b="0" i="0" u="none" strike="noStrike" cap="none" dirty="0">
                <a:solidFill>
                  <a:schemeClr val="accent2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orange</a:t>
            </a:r>
            <a:r>
              <a:rPr lang="en" sz="2400" b="0" i="0" u="none" strike="noStrike" cap="none" dirty="0">
                <a:solidFill>
                  <a:srgbClr val="000000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;</a:t>
            </a:r>
            <a:endParaRPr sz="2400" b="0" i="0" u="none" strike="noStrike" cap="none" dirty="0">
              <a:solidFill>
                <a:srgbClr val="000000"/>
              </a:solidFill>
              <a:latin typeface="Consolas" panose="020B0609020204030204" pitchFamily="49" charset="0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2400" b="0" i="0" u="none" strike="noStrike" cap="none" dirty="0">
                <a:solidFill>
                  <a:srgbClr val="000000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  }</a:t>
            </a:r>
            <a:endParaRPr sz="1600" b="0" i="0" u="none" strike="noStrike" cap="none" dirty="0">
              <a:solidFill>
                <a:srgbClr val="000000"/>
              </a:solidFill>
              <a:latin typeface="Consolas" panose="020B0609020204030204" pitchFamily="49" charset="0"/>
              <a:ea typeface="Arial"/>
              <a:cs typeface="Arial"/>
              <a:sym typeface="Arial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E2B5152-6A64-48C3-9596-7F90113DF82C}"/>
              </a:ext>
            </a:extLst>
          </p:cNvPr>
          <p:cNvSpPr txBox="1"/>
          <p:nvPr/>
        </p:nvSpPr>
        <p:spPr>
          <a:xfrm>
            <a:off x="4747624" y="4164972"/>
            <a:ext cx="5289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&lt;p class=“</a:t>
            </a: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</a:rPr>
              <a:t>warning</a:t>
            </a:r>
            <a:r>
              <a:rPr lang="en-US" dirty="0">
                <a:latin typeface="Consolas" panose="020B0609020204030204" pitchFamily="49" charset="0"/>
              </a:rPr>
              <a:t>” &gt;Semester 1&gt;&lt;/p&gt;</a:t>
            </a:r>
          </a:p>
          <a:p>
            <a:r>
              <a:rPr lang="en-US" dirty="0">
                <a:latin typeface="Consolas" panose="020B0609020204030204" pitchFamily="49" charset="0"/>
              </a:rPr>
              <a:t>&lt;p&gt;Semester 2&gt;&lt;/p&gt;</a:t>
            </a:r>
          </a:p>
          <a:p>
            <a:r>
              <a:rPr lang="en-US" dirty="0">
                <a:latin typeface="Consolas" panose="020B0609020204030204" pitchFamily="49" charset="0"/>
              </a:rPr>
              <a:t>&lt;p&gt;Semester 3&gt;&lt;/p&gt;</a:t>
            </a:r>
          </a:p>
          <a:p>
            <a:r>
              <a:rPr lang="en-US" dirty="0">
                <a:latin typeface="Consolas" panose="020B0609020204030204" pitchFamily="49" charset="0"/>
              </a:rPr>
              <a:t>&lt;p&gt;Semester 4&gt;&lt;/p&gt;</a:t>
            </a:r>
          </a:p>
          <a:p>
            <a:r>
              <a:rPr lang="en-US" dirty="0">
                <a:latin typeface="Consolas" panose="020B0609020204030204" pitchFamily="49" charset="0"/>
              </a:rPr>
              <a:t>&lt;p class=“</a:t>
            </a: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</a:rPr>
              <a:t>warning</a:t>
            </a:r>
            <a:r>
              <a:rPr lang="en-US" dirty="0">
                <a:latin typeface="Consolas" panose="020B0609020204030204" pitchFamily="49" charset="0"/>
              </a:rPr>
              <a:t>” &gt;Semester 5&gt;&lt;/p&gt;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79BE26D-2511-4CD6-957B-F064BF5E181A}"/>
              </a:ext>
            </a:extLst>
          </p:cNvPr>
          <p:cNvCxnSpPr>
            <a:cxnSpLocks/>
          </p:cNvCxnSpPr>
          <p:nvPr/>
        </p:nvCxnSpPr>
        <p:spPr>
          <a:xfrm flipV="1">
            <a:off x="4401262" y="3990287"/>
            <a:ext cx="0" cy="207661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9B98AA30-1877-4A7D-A601-2C620E4FBD68}"/>
              </a:ext>
            </a:extLst>
          </p:cNvPr>
          <p:cNvSpPr txBox="1"/>
          <p:nvPr/>
        </p:nvSpPr>
        <p:spPr>
          <a:xfrm>
            <a:off x="9749782" y="4164972"/>
            <a:ext cx="215162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2"/>
                </a:solidFill>
                <a:latin typeface="Consolas" panose="020B0609020204030204" pitchFamily="49" charset="0"/>
              </a:rPr>
              <a:t>Semester 1</a:t>
            </a:r>
          </a:p>
          <a:p>
            <a:r>
              <a:rPr lang="en-US" dirty="0">
                <a:latin typeface="Consolas" panose="020B0609020204030204" pitchFamily="49" charset="0"/>
              </a:rPr>
              <a:t>Semester 2</a:t>
            </a:r>
          </a:p>
          <a:p>
            <a:r>
              <a:rPr lang="en-US" dirty="0">
                <a:latin typeface="Consolas" panose="020B0609020204030204" pitchFamily="49" charset="0"/>
              </a:rPr>
              <a:t>Semester 3</a:t>
            </a:r>
          </a:p>
          <a:p>
            <a:r>
              <a:rPr lang="en-US" dirty="0">
                <a:latin typeface="Consolas" panose="020B0609020204030204" pitchFamily="49" charset="0"/>
              </a:rPr>
              <a:t>Semester 4</a:t>
            </a:r>
          </a:p>
          <a:p>
            <a:r>
              <a:rPr lang="en-US" dirty="0">
                <a:solidFill>
                  <a:schemeClr val="accent2"/>
                </a:solidFill>
                <a:latin typeface="Consolas" panose="020B0609020204030204" pitchFamily="49" charset="0"/>
              </a:rPr>
              <a:t>Semester 5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C56DCA4-583F-49EE-AEC6-73720B86686D}"/>
              </a:ext>
            </a:extLst>
          </p:cNvPr>
          <p:cNvSpPr/>
          <p:nvPr/>
        </p:nvSpPr>
        <p:spPr>
          <a:xfrm>
            <a:off x="325232" y="3990287"/>
            <a:ext cx="11229812" cy="2108200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91FDC86F-B1C5-4979-81CA-8F0E2B97FB4C}"/>
              </a:ext>
            </a:extLst>
          </p:cNvPr>
          <p:cNvCxnSpPr>
            <a:cxnSpLocks/>
          </p:cNvCxnSpPr>
          <p:nvPr/>
        </p:nvCxnSpPr>
        <p:spPr>
          <a:xfrm flipV="1">
            <a:off x="9576600" y="4021877"/>
            <a:ext cx="0" cy="2076611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Google Shape;1473;p298">
            <a:extLst>
              <a:ext uri="{FF2B5EF4-FFF2-40B4-BE49-F238E27FC236}">
                <a16:creationId xmlns:a16="http://schemas.microsoft.com/office/drawing/2014/main" id="{459A8A11-C43C-4D27-845D-0ECBFA73E6B1}"/>
              </a:ext>
            </a:extLst>
          </p:cNvPr>
          <p:cNvSpPr txBox="1"/>
          <p:nvPr/>
        </p:nvSpPr>
        <p:spPr>
          <a:xfrm>
            <a:off x="325232" y="2125005"/>
            <a:ext cx="3390738" cy="1234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2400" b="1" i="0" u="none" strike="noStrike" cap="none" dirty="0">
                <a:solidFill>
                  <a:schemeClr val="accent6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#my-id</a:t>
            </a:r>
            <a:r>
              <a:rPr lang="en" sz="2400" b="0" i="0" u="none" strike="noStrike" cap="none" dirty="0">
                <a:solidFill>
                  <a:schemeClr val="accent6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 </a:t>
            </a:r>
            <a:r>
              <a:rPr lang="en" sz="2400" b="0" i="0" u="none" strike="noStrike" cap="none" dirty="0">
                <a:solidFill>
                  <a:srgbClr val="000000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{</a:t>
            </a:r>
            <a:endParaRPr sz="2400" b="0" i="0" u="none" strike="noStrike" cap="none" dirty="0">
              <a:solidFill>
                <a:srgbClr val="000000"/>
              </a:solidFill>
              <a:latin typeface="Consolas" panose="020B0609020204030204" pitchFamily="49" charset="0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2400" b="0" i="0" u="none" strike="noStrike" cap="none" dirty="0">
                <a:solidFill>
                  <a:srgbClr val="000000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	color:</a:t>
            </a:r>
            <a:r>
              <a:rPr lang="en" sz="2400" b="0" i="0" u="none" strike="noStrike" cap="none" dirty="0">
                <a:solidFill>
                  <a:schemeClr val="accent2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orange</a:t>
            </a:r>
            <a:r>
              <a:rPr lang="en" sz="2400" b="0" i="0" u="none" strike="noStrike" cap="none" dirty="0">
                <a:solidFill>
                  <a:srgbClr val="000000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;</a:t>
            </a:r>
            <a:endParaRPr sz="2400" b="0" i="0" u="none" strike="noStrike" cap="none" dirty="0">
              <a:solidFill>
                <a:srgbClr val="000000"/>
              </a:solidFill>
              <a:latin typeface="Consolas" panose="020B0609020204030204" pitchFamily="49" charset="0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2400" b="0" i="0" u="none" strike="noStrike" cap="none" dirty="0">
                <a:solidFill>
                  <a:srgbClr val="000000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  }</a:t>
            </a:r>
            <a:endParaRPr sz="1600" b="0" i="0" u="none" strike="noStrike" cap="none" dirty="0">
              <a:solidFill>
                <a:srgbClr val="000000"/>
              </a:solidFill>
              <a:latin typeface="Consolas" panose="020B0609020204030204" pitchFamily="49" charset="0"/>
              <a:ea typeface="Arial"/>
              <a:cs typeface="Arial"/>
              <a:sym typeface="Arial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96AF14E-DFDF-47F3-8023-24D336438371}"/>
              </a:ext>
            </a:extLst>
          </p:cNvPr>
          <p:cNvSpPr txBox="1"/>
          <p:nvPr/>
        </p:nvSpPr>
        <p:spPr>
          <a:xfrm>
            <a:off x="4747624" y="1882087"/>
            <a:ext cx="5289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&lt;p id=“</a:t>
            </a:r>
            <a:r>
              <a:rPr lang="en-US" dirty="0">
                <a:solidFill>
                  <a:schemeClr val="accent6"/>
                </a:solidFill>
                <a:latin typeface="Consolas" panose="020B0609020204030204" pitchFamily="49" charset="0"/>
              </a:rPr>
              <a:t>my-id</a:t>
            </a:r>
            <a:r>
              <a:rPr lang="en-US" dirty="0">
                <a:latin typeface="Consolas" panose="020B0609020204030204" pitchFamily="49" charset="0"/>
              </a:rPr>
              <a:t>” &gt;Semester 1&gt;&lt;/p&gt;</a:t>
            </a:r>
          </a:p>
          <a:p>
            <a:r>
              <a:rPr lang="en-US" dirty="0">
                <a:latin typeface="Consolas" panose="020B0609020204030204" pitchFamily="49" charset="0"/>
              </a:rPr>
              <a:t>&lt;p&gt;Semester 2&gt;&lt;/p&gt;</a:t>
            </a:r>
          </a:p>
          <a:p>
            <a:r>
              <a:rPr lang="en-US" dirty="0">
                <a:latin typeface="Consolas" panose="020B0609020204030204" pitchFamily="49" charset="0"/>
              </a:rPr>
              <a:t>&lt;p&gt;Semester 3&gt;&lt;/p&gt;</a:t>
            </a:r>
          </a:p>
          <a:p>
            <a:r>
              <a:rPr lang="en-US" dirty="0">
                <a:latin typeface="Consolas" panose="020B0609020204030204" pitchFamily="49" charset="0"/>
              </a:rPr>
              <a:t>&lt;p&gt;Semester 4&gt;&lt;/p&gt;</a:t>
            </a:r>
          </a:p>
          <a:p>
            <a:r>
              <a:rPr lang="en-US" dirty="0">
                <a:latin typeface="Consolas" panose="020B0609020204030204" pitchFamily="49" charset="0"/>
              </a:rPr>
              <a:t>&lt;p&gt;Semester 5&gt;&lt;/p&gt;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1D58D8A2-C540-4833-9ED2-53F0F8733843}"/>
              </a:ext>
            </a:extLst>
          </p:cNvPr>
          <p:cNvCxnSpPr>
            <a:cxnSpLocks/>
          </p:cNvCxnSpPr>
          <p:nvPr/>
        </p:nvCxnSpPr>
        <p:spPr>
          <a:xfrm flipV="1">
            <a:off x="4401262" y="1707402"/>
            <a:ext cx="0" cy="207661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04D6AA46-BFD8-44A0-B7D8-D8B356297436}"/>
              </a:ext>
            </a:extLst>
          </p:cNvPr>
          <p:cNvSpPr txBox="1"/>
          <p:nvPr/>
        </p:nvSpPr>
        <p:spPr>
          <a:xfrm>
            <a:off x="9749782" y="1882087"/>
            <a:ext cx="215162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2"/>
                </a:solidFill>
                <a:latin typeface="Consolas" panose="020B0609020204030204" pitchFamily="49" charset="0"/>
              </a:rPr>
              <a:t>Semester 1</a:t>
            </a:r>
          </a:p>
          <a:p>
            <a:r>
              <a:rPr lang="en-US" dirty="0">
                <a:latin typeface="Consolas" panose="020B0609020204030204" pitchFamily="49" charset="0"/>
              </a:rPr>
              <a:t>Semester 2</a:t>
            </a:r>
          </a:p>
          <a:p>
            <a:r>
              <a:rPr lang="en-US" dirty="0">
                <a:latin typeface="Consolas" panose="020B0609020204030204" pitchFamily="49" charset="0"/>
              </a:rPr>
              <a:t>Semester 3</a:t>
            </a:r>
          </a:p>
          <a:p>
            <a:r>
              <a:rPr lang="en-US" dirty="0">
                <a:latin typeface="Consolas" panose="020B0609020204030204" pitchFamily="49" charset="0"/>
              </a:rPr>
              <a:t>Semester 4</a:t>
            </a:r>
          </a:p>
          <a:p>
            <a:r>
              <a:rPr lang="en-US" dirty="0">
                <a:latin typeface="Consolas" panose="020B0609020204030204" pitchFamily="49" charset="0"/>
              </a:rPr>
              <a:t>Semester 5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6CDDB36-41D8-48AF-B70A-9A198A2011A4}"/>
              </a:ext>
            </a:extLst>
          </p:cNvPr>
          <p:cNvSpPr/>
          <p:nvPr/>
        </p:nvSpPr>
        <p:spPr>
          <a:xfrm>
            <a:off x="325232" y="1707402"/>
            <a:ext cx="11229812" cy="2108200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FA0CB9C6-5455-4A13-B8FB-DA2DD816FED3}"/>
              </a:ext>
            </a:extLst>
          </p:cNvPr>
          <p:cNvCxnSpPr>
            <a:cxnSpLocks/>
          </p:cNvCxnSpPr>
          <p:nvPr/>
        </p:nvCxnSpPr>
        <p:spPr>
          <a:xfrm flipV="1">
            <a:off x="9576600" y="1738992"/>
            <a:ext cx="0" cy="2076611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77332588-7EDC-439A-820B-124FCF57DE06}"/>
              </a:ext>
            </a:extLst>
          </p:cNvPr>
          <p:cNvSpPr txBox="1"/>
          <p:nvPr/>
        </p:nvSpPr>
        <p:spPr>
          <a:xfrm>
            <a:off x="2217480" y="873173"/>
            <a:ext cx="7757040" cy="5587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</a:pPr>
            <a:r>
              <a:rPr lang="en-US" sz="2800" b="0" i="0" u="none" strike="noStrike" cap="none" dirty="0">
                <a:solidFill>
                  <a:srgbClr val="000000"/>
                </a:solidFill>
                <a:ea typeface="Montserrat"/>
                <a:cs typeface="Montserrat"/>
                <a:sym typeface="Montserrat"/>
              </a:rPr>
              <a:t>When should we use ID?, Classes?  </a:t>
            </a:r>
            <a:endParaRPr lang="en-US" sz="2800" dirty="0">
              <a:solidFill>
                <a:schemeClr val="dk1"/>
              </a:solidFill>
              <a:ea typeface="Montserrat"/>
              <a:cs typeface="Montserrat"/>
              <a:sym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14351862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0CCD474-8CAE-420A-A8E3-BF7E7BE336BD}"/>
              </a:ext>
            </a:extLst>
          </p:cNvPr>
          <p:cNvSpPr txBox="1"/>
          <p:nvPr/>
        </p:nvSpPr>
        <p:spPr>
          <a:xfrm>
            <a:off x="0" y="0"/>
            <a:ext cx="1714499" cy="369332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EXPLAIN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0F16A3B-6C1E-46E7-AA05-DE497E732693}"/>
              </a:ext>
            </a:extLst>
          </p:cNvPr>
          <p:cNvSpPr txBox="1"/>
          <p:nvPr/>
        </p:nvSpPr>
        <p:spPr>
          <a:xfrm>
            <a:off x="3417490" y="350798"/>
            <a:ext cx="553549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b="1" i="0" u="none" strike="noStrike" cap="none" dirty="0">
                <a:ea typeface="Montserrat Black"/>
                <a:cs typeface="Montserrat Black"/>
                <a:sym typeface="Montserrat Black"/>
              </a:rPr>
              <a:t>Div</a:t>
            </a:r>
            <a:r>
              <a:rPr lang="en-US" sz="5400" i="0" u="none" strike="noStrike" cap="none" dirty="0">
                <a:ea typeface="Montserrat Black"/>
                <a:cs typeface="Montserrat Black"/>
                <a:sym typeface="Montserrat Black"/>
              </a:rPr>
              <a:t>  HTML Element</a:t>
            </a:r>
            <a:endParaRPr lang="en-US" sz="5400" b="1" i="0" u="none" strike="noStrike" cap="none" dirty="0"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3BE451B-6C7A-4157-9BA5-53473CEBB365}"/>
              </a:ext>
            </a:extLst>
          </p:cNvPr>
          <p:cNvSpPr txBox="1"/>
          <p:nvPr/>
        </p:nvSpPr>
        <p:spPr>
          <a:xfrm>
            <a:off x="2959319" y="1354666"/>
            <a:ext cx="64518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 &lt;</a:t>
            </a:r>
            <a:r>
              <a:rPr lang="en-US" dirty="0">
                <a:solidFill>
                  <a:srgbClr val="A1459D"/>
                </a:solidFill>
              </a:rPr>
              <a:t>div</a:t>
            </a:r>
            <a:r>
              <a:rPr lang="en-US" dirty="0"/>
              <a:t>&gt; tag defines a division or a section in an HTML document.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70AB5FA-4579-4561-8688-F67A5A0476B3}"/>
              </a:ext>
            </a:extLst>
          </p:cNvPr>
          <p:cNvSpPr txBox="1"/>
          <p:nvPr/>
        </p:nvSpPr>
        <p:spPr>
          <a:xfrm>
            <a:off x="2683934" y="1804536"/>
            <a:ext cx="76748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/>
              <a:t>DIV is used as a </a:t>
            </a:r>
            <a:r>
              <a:rPr lang="en-US" b="1" dirty="0"/>
              <a:t>container</a:t>
            </a:r>
            <a:r>
              <a:rPr lang="en-US" dirty="0"/>
              <a:t> for HTML elements - which is then styled with CSS.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CF1325F-1A57-462F-8AD6-6CBD8D461F05}"/>
              </a:ext>
            </a:extLst>
          </p:cNvPr>
          <p:cNvSpPr txBox="1"/>
          <p:nvPr/>
        </p:nvSpPr>
        <p:spPr>
          <a:xfrm>
            <a:off x="163533" y="2962870"/>
            <a:ext cx="4645533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&lt;</a:t>
            </a:r>
            <a:r>
              <a:rPr lang="en-US" dirty="0">
                <a:solidFill>
                  <a:srgbClr val="A1459D"/>
                </a:solidFill>
                <a:latin typeface="Consolas" panose="020B0609020204030204" pitchFamily="49" charset="0"/>
              </a:rPr>
              <a:t>div</a:t>
            </a:r>
            <a:r>
              <a:rPr lang="en-US" dirty="0">
                <a:latin typeface="Consolas" panose="020B0609020204030204" pitchFamily="49" charset="0"/>
              </a:rPr>
              <a:t> class="pricing-plan"&gt;</a:t>
            </a:r>
          </a:p>
          <a:p>
            <a:r>
              <a:rPr lang="en-US" dirty="0">
                <a:latin typeface="Consolas" panose="020B0609020204030204" pitchFamily="49" charset="0"/>
              </a:rPr>
              <a:t>	&lt;</a:t>
            </a:r>
            <a:r>
              <a:rPr lang="en-US" dirty="0">
                <a:solidFill>
                  <a:srgbClr val="A1459D"/>
                </a:solidFill>
                <a:latin typeface="Consolas" panose="020B0609020204030204" pitchFamily="49" charset="0"/>
              </a:rPr>
              <a:t>div</a:t>
            </a:r>
            <a:r>
              <a:rPr lang="en-US" dirty="0">
                <a:latin typeface="Consolas" panose="020B0609020204030204" pitchFamily="49" charset="0"/>
              </a:rPr>
              <a:t> class="pricing-item"&gt;</a:t>
            </a:r>
          </a:p>
          <a:p>
            <a:r>
              <a:rPr lang="en-US" dirty="0">
                <a:latin typeface="Consolas" panose="020B0609020204030204" pitchFamily="49" charset="0"/>
              </a:rPr>
              <a:t>         &lt;</a:t>
            </a:r>
            <a:r>
              <a:rPr lang="en-US" dirty="0" err="1">
                <a:latin typeface="Consolas" panose="020B0609020204030204" pitchFamily="49" charset="0"/>
              </a:rPr>
              <a:t>img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</a:rPr>
              <a:t>src</a:t>
            </a:r>
            <a:r>
              <a:rPr lang="en-US" dirty="0">
                <a:latin typeface="Consolas" panose="020B0609020204030204" pitchFamily="49" charset="0"/>
              </a:rPr>
              <a:t>="start.png"/&gt;</a:t>
            </a:r>
          </a:p>
          <a:p>
            <a:r>
              <a:rPr lang="en-US" dirty="0">
                <a:latin typeface="Consolas" panose="020B0609020204030204" pitchFamily="49" charset="0"/>
              </a:rPr>
              <a:t>	  &lt;p&gt;</a:t>
            </a:r>
            <a:r>
              <a:rPr lang="en-US" dirty="0"/>
              <a:t> BASIC </a:t>
            </a:r>
            <a:r>
              <a:rPr lang="en-US" dirty="0">
                <a:latin typeface="Consolas" panose="020B0609020204030204" pitchFamily="49" charset="0"/>
              </a:rPr>
              <a:t>&lt;/p&gt;</a:t>
            </a:r>
          </a:p>
          <a:p>
            <a:r>
              <a:rPr lang="en-US" dirty="0">
                <a:latin typeface="Consolas" panose="020B0609020204030204" pitchFamily="49" charset="0"/>
              </a:rPr>
              <a:t>	&lt;/</a:t>
            </a:r>
            <a:r>
              <a:rPr lang="en-US" dirty="0">
                <a:solidFill>
                  <a:srgbClr val="A1459D"/>
                </a:solidFill>
                <a:latin typeface="Consolas" panose="020B0609020204030204" pitchFamily="49" charset="0"/>
              </a:rPr>
              <a:t>div</a:t>
            </a:r>
            <a:r>
              <a:rPr lang="en-US" dirty="0">
                <a:latin typeface="Consolas" panose="020B0609020204030204" pitchFamily="49" charset="0"/>
              </a:rPr>
              <a:t>&gt;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	&lt;</a:t>
            </a:r>
            <a:r>
              <a:rPr lang="en-US" dirty="0">
                <a:solidFill>
                  <a:srgbClr val="A1459D"/>
                </a:solidFill>
                <a:latin typeface="Consolas" panose="020B0609020204030204" pitchFamily="49" charset="0"/>
              </a:rPr>
              <a:t>div</a:t>
            </a:r>
            <a:r>
              <a:rPr lang="en-US" dirty="0">
                <a:latin typeface="Consolas" panose="020B0609020204030204" pitchFamily="49" charset="0"/>
              </a:rPr>
              <a:t> class="pricing-item"&gt;</a:t>
            </a:r>
          </a:p>
          <a:p>
            <a:r>
              <a:rPr lang="en-US" dirty="0">
                <a:latin typeface="Consolas" panose="020B0609020204030204" pitchFamily="49" charset="0"/>
              </a:rPr>
              <a:t>         &lt;</a:t>
            </a:r>
            <a:r>
              <a:rPr lang="en-US" dirty="0" err="1">
                <a:latin typeface="Consolas" panose="020B0609020204030204" pitchFamily="49" charset="0"/>
              </a:rPr>
              <a:t>img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</a:rPr>
              <a:t>src</a:t>
            </a:r>
            <a:r>
              <a:rPr lang="en-US" dirty="0">
                <a:latin typeface="Consolas" panose="020B0609020204030204" pitchFamily="49" charset="0"/>
              </a:rPr>
              <a:t>="premium.png"/&gt;</a:t>
            </a:r>
          </a:p>
          <a:p>
            <a:r>
              <a:rPr lang="en-US" dirty="0">
                <a:latin typeface="Consolas" panose="020B0609020204030204" pitchFamily="49" charset="0"/>
              </a:rPr>
              <a:t>	  &lt;p&gt;PREMIUM&lt;/p&gt;</a:t>
            </a:r>
          </a:p>
          <a:p>
            <a:r>
              <a:rPr lang="en-US" dirty="0">
                <a:latin typeface="Consolas" panose="020B0609020204030204" pitchFamily="49" charset="0"/>
              </a:rPr>
              <a:t>	&lt;/</a:t>
            </a:r>
            <a:r>
              <a:rPr lang="en-US" dirty="0">
                <a:solidFill>
                  <a:srgbClr val="A1459D"/>
                </a:solidFill>
                <a:latin typeface="Consolas" panose="020B0609020204030204" pitchFamily="49" charset="0"/>
              </a:rPr>
              <a:t>div</a:t>
            </a:r>
            <a:r>
              <a:rPr lang="en-US" dirty="0">
                <a:latin typeface="Consolas" panose="020B0609020204030204" pitchFamily="49" charset="0"/>
              </a:rPr>
              <a:t>&gt;		</a:t>
            </a:r>
          </a:p>
          <a:p>
            <a:r>
              <a:rPr lang="en-US" dirty="0">
                <a:latin typeface="Consolas" panose="020B0609020204030204" pitchFamily="49" charset="0"/>
              </a:rPr>
              <a:t>&lt;/</a:t>
            </a:r>
            <a:r>
              <a:rPr lang="en-US" dirty="0">
                <a:solidFill>
                  <a:srgbClr val="A1459D"/>
                </a:solidFill>
                <a:latin typeface="Consolas" panose="020B0609020204030204" pitchFamily="49" charset="0"/>
              </a:rPr>
              <a:t>div</a:t>
            </a:r>
            <a:r>
              <a:rPr lang="en-US" dirty="0">
                <a:latin typeface="Consolas" panose="020B0609020204030204" pitchFamily="49" charset="0"/>
              </a:rPr>
              <a:t>&gt;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DBF1CEA0-313D-468D-B827-D20BA89CDC4D}"/>
              </a:ext>
            </a:extLst>
          </p:cNvPr>
          <p:cNvCxnSpPr>
            <a:cxnSpLocks/>
          </p:cNvCxnSpPr>
          <p:nvPr/>
        </p:nvCxnSpPr>
        <p:spPr>
          <a:xfrm flipV="1">
            <a:off x="4879975" y="2627585"/>
            <a:ext cx="0" cy="3649374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061E030C-A946-448A-BF8F-8B31BF0E17FB}"/>
              </a:ext>
            </a:extLst>
          </p:cNvPr>
          <p:cNvSpPr txBox="1"/>
          <p:nvPr/>
        </p:nvSpPr>
        <p:spPr>
          <a:xfrm>
            <a:off x="5243533" y="2962870"/>
            <a:ext cx="57716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. pricing-plan {background-color: grey;}</a:t>
            </a:r>
          </a:p>
          <a:p>
            <a:r>
              <a:rPr lang="en-US" dirty="0">
                <a:latin typeface="Consolas" panose="020B0609020204030204" pitchFamily="49" charset="0"/>
              </a:rPr>
              <a:t>. pricing-item {background-color: white;}</a:t>
            </a:r>
          </a:p>
          <a:p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5B5AD8E-3B55-40EA-8FFA-FBFEEBC81B84}"/>
              </a:ext>
            </a:extLst>
          </p:cNvPr>
          <p:cNvSpPr/>
          <p:nvPr/>
        </p:nvSpPr>
        <p:spPr>
          <a:xfrm>
            <a:off x="6019800" y="4351866"/>
            <a:ext cx="3953934" cy="215533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EC73204-2C9C-472E-BFF1-47188AEF7CA8}"/>
              </a:ext>
            </a:extLst>
          </p:cNvPr>
          <p:cNvSpPr/>
          <p:nvPr/>
        </p:nvSpPr>
        <p:spPr>
          <a:xfrm>
            <a:off x="6324600" y="4511539"/>
            <a:ext cx="1329268" cy="16499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BBA5B09-5529-4D88-AC8B-B3596B38FFCC}"/>
              </a:ext>
            </a:extLst>
          </p:cNvPr>
          <p:cNvSpPr txBox="1"/>
          <p:nvPr/>
        </p:nvSpPr>
        <p:spPr>
          <a:xfrm>
            <a:off x="6626733" y="5536399"/>
            <a:ext cx="7274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BASIC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822DBD4-6DBC-4997-88E5-D365DAD7C0C4}"/>
              </a:ext>
            </a:extLst>
          </p:cNvPr>
          <p:cNvSpPr/>
          <p:nvPr/>
        </p:nvSpPr>
        <p:spPr>
          <a:xfrm>
            <a:off x="8034450" y="4511539"/>
            <a:ext cx="1329268" cy="16499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BEBB1477-2028-48B9-8D08-A522B9ED5E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10481" y="4675202"/>
            <a:ext cx="777205" cy="848357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966D45F5-0642-4A50-BB46-A5F3EE11689D}"/>
              </a:ext>
            </a:extLst>
          </p:cNvPr>
          <p:cNvSpPr txBox="1"/>
          <p:nvPr/>
        </p:nvSpPr>
        <p:spPr>
          <a:xfrm>
            <a:off x="8129055" y="5536399"/>
            <a:ext cx="11400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PREMIUM</a:t>
            </a:r>
          </a:p>
        </p:txBody>
      </p:sp>
      <p:pic>
        <p:nvPicPr>
          <p:cNvPr id="1027" name="Picture 3" descr="Basic Icons - Free SVG &amp; PNG Basic Images - Noun Project">
            <a:extLst>
              <a:ext uri="{FF2B5EF4-FFF2-40B4-BE49-F238E27FC236}">
                <a16:creationId xmlns:a16="http://schemas.microsoft.com/office/drawing/2014/main" id="{0BBD1196-B643-48E4-A13D-98E75CE0A5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45484" y="4710899"/>
            <a:ext cx="833967" cy="8339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289659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0CCD474-8CAE-420A-A8E3-BF7E7BE336BD}"/>
              </a:ext>
            </a:extLst>
          </p:cNvPr>
          <p:cNvSpPr txBox="1"/>
          <p:nvPr/>
        </p:nvSpPr>
        <p:spPr>
          <a:xfrm>
            <a:off x="0" y="0"/>
            <a:ext cx="1714499" cy="369332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EXPLAIN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0F16A3B-6C1E-46E7-AA05-DE497E732693}"/>
              </a:ext>
            </a:extLst>
          </p:cNvPr>
          <p:cNvSpPr txBox="1"/>
          <p:nvPr/>
        </p:nvSpPr>
        <p:spPr>
          <a:xfrm>
            <a:off x="4051740" y="270257"/>
            <a:ext cx="439331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b="1" i="0" u="none" strike="noStrike" cap="none" dirty="0">
                <a:ea typeface="Montserrat Black"/>
                <a:cs typeface="Montserrat Black"/>
                <a:sym typeface="Montserrat Black"/>
              </a:rPr>
              <a:t>Cascade </a:t>
            </a:r>
            <a:r>
              <a:rPr lang="en-US" sz="5400" i="0" u="none" strike="noStrike" cap="none" dirty="0">
                <a:ea typeface="Montserrat Black"/>
                <a:cs typeface="Montserrat Black"/>
                <a:sym typeface="Montserrat Black"/>
              </a:rPr>
              <a:t>in CSS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3BE451B-6C7A-4157-9BA5-53473CEBB365}"/>
              </a:ext>
            </a:extLst>
          </p:cNvPr>
          <p:cNvSpPr txBox="1"/>
          <p:nvPr/>
        </p:nvSpPr>
        <p:spPr>
          <a:xfrm>
            <a:off x="431273" y="1979631"/>
            <a:ext cx="621157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/>
              <a:t>In CSS, the term "cascade" means that different styles can be used on the same HTML page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/>
              <a:t>These styles are applied to elements in a strictly defined order.</a:t>
            </a:r>
          </a:p>
          <a:p>
            <a:endParaRPr lang="en-US" dirty="0"/>
          </a:p>
          <a:p>
            <a:r>
              <a:rPr lang="en-US" dirty="0"/>
              <a:t>Cascading rules allow you to resolve situations where </a:t>
            </a:r>
            <a:r>
              <a:rPr lang="en-US" b="1" dirty="0"/>
              <a:t>multiple styles are specified for a single element. </a:t>
            </a:r>
          </a:p>
        </p:txBody>
      </p:sp>
      <p:sp>
        <p:nvSpPr>
          <p:cNvPr id="3" name="AutoShape 2" descr="15,565 Cascade Illustration Royalty-Free Photos and Stock ...">
            <a:extLst>
              <a:ext uri="{FF2B5EF4-FFF2-40B4-BE49-F238E27FC236}">
                <a16:creationId xmlns:a16="http://schemas.microsoft.com/office/drawing/2014/main" id="{BEC405C5-214A-464A-AF57-76713A1B903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289AF49-7CAC-4715-A76E-1DD0319087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7341" y="1337234"/>
            <a:ext cx="4905223" cy="527443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F6E90A8-A79A-4FF3-B278-08B4695914CB}"/>
              </a:ext>
            </a:extLst>
          </p:cNvPr>
          <p:cNvSpPr txBox="1"/>
          <p:nvPr/>
        </p:nvSpPr>
        <p:spPr>
          <a:xfrm rot="718728">
            <a:off x="6939231" y="3673591"/>
            <a:ext cx="927113" cy="369332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P, h1 {  }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92ADC26-5839-4F65-BAC7-29F0BE55936F}"/>
              </a:ext>
            </a:extLst>
          </p:cNvPr>
          <p:cNvSpPr txBox="1"/>
          <p:nvPr/>
        </p:nvSpPr>
        <p:spPr>
          <a:xfrm rot="20816582">
            <a:off x="9641065" y="1962508"/>
            <a:ext cx="1296509" cy="36933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.warning {  }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22F29C7-AA79-4170-B668-35C3EC97F2E9}"/>
              </a:ext>
            </a:extLst>
          </p:cNvPr>
          <p:cNvSpPr txBox="1"/>
          <p:nvPr/>
        </p:nvSpPr>
        <p:spPr>
          <a:xfrm rot="20579330">
            <a:off x="6417452" y="5122570"/>
            <a:ext cx="1369286" cy="369332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#main-div{  }</a:t>
            </a:r>
          </a:p>
        </p:txBody>
      </p:sp>
    </p:spTree>
    <p:extLst>
      <p:ext uri="{BB962C8B-B14F-4D97-AF65-F5344CB8AC3E}">
        <p14:creationId xmlns:p14="http://schemas.microsoft.com/office/powerpoint/2010/main" val="13845059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F0F16A3B-6C1E-46E7-AA05-DE497E732693}"/>
              </a:ext>
            </a:extLst>
          </p:cNvPr>
          <p:cNvSpPr txBox="1"/>
          <p:nvPr/>
        </p:nvSpPr>
        <p:spPr>
          <a:xfrm>
            <a:off x="4101972" y="288916"/>
            <a:ext cx="435644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b="1" i="0" u="none" strike="noStrike" cap="none" dirty="0">
                <a:ea typeface="Montserrat Black"/>
                <a:cs typeface="Montserrat Black"/>
                <a:sym typeface="Montserrat Black"/>
              </a:rPr>
              <a:t>Cascade </a:t>
            </a:r>
            <a:r>
              <a:rPr lang="en-US" sz="5400" i="0" u="none" strike="noStrike" cap="none" dirty="0">
                <a:ea typeface="Montserrat Black"/>
                <a:cs typeface="Montserrat Black"/>
                <a:sym typeface="Montserrat Black"/>
              </a:rPr>
              <a:t>in CSS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994327C-D3CD-4D31-8953-9FC05C5DF00D}"/>
              </a:ext>
            </a:extLst>
          </p:cNvPr>
          <p:cNvSpPr txBox="1"/>
          <p:nvPr/>
        </p:nvSpPr>
        <p:spPr>
          <a:xfrm>
            <a:off x="4818696" y="2891095"/>
            <a:ext cx="615316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 </a:t>
            </a:r>
          </a:p>
          <a:p>
            <a:r>
              <a:rPr lang="en-US" dirty="0">
                <a:latin typeface="Consolas" panose="020B0609020204030204" pitchFamily="49" charset="0"/>
              </a:rPr>
              <a:t>&lt;body&gt;</a:t>
            </a:r>
          </a:p>
          <a:p>
            <a:r>
              <a:rPr lang="en-US" dirty="0">
                <a:latin typeface="Consolas" panose="020B0609020204030204" pitchFamily="49" charset="0"/>
              </a:rPr>
              <a:t>    &lt;</a:t>
            </a:r>
            <a:r>
              <a:rPr lang="en-US" b="1" dirty="0">
                <a:latin typeface="Consolas" panose="020B0609020204030204" pitchFamily="49" charset="0"/>
              </a:rPr>
              <a:t>p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b="1" dirty="0">
                <a:latin typeface="Consolas" panose="020B0609020204030204" pitchFamily="49" charset="0"/>
              </a:rPr>
              <a:t>id</a:t>
            </a:r>
            <a:r>
              <a:rPr lang="en-US" dirty="0">
                <a:latin typeface="Consolas" panose="020B0609020204030204" pitchFamily="49" charset="0"/>
              </a:rPr>
              <a:t>=“</a:t>
            </a:r>
            <a:r>
              <a:rPr lang="en-US" dirty="0" err="1">
                <a:latin typeface="Consolas" panose="020B0609020204030204" pitchFamily="49" charset="0"/>
              </a:rPr>
              <a:t>myP</a:t>
            </a:r>
            <a:r>
              <a:rPr lang="en-US" dirty="0">
                <a:latin typeface="Consolas" panose="020B0609020204030204" pitchFamily="49" charset="0"/>
              </a:rPr>
              <a:t>” </a:t>
            </a:r>
            <a:r>
              <a:rPr lang="en-US" b="1" dirty="0">
                <a:latin typeface="Consolas" panose="020B0609020204030204" pitchFamily="49" charset="0"/>
              </a:rPr>
              <a:t>class</a:t>
            </a:r>
            <a:r>
              <a:rPr lang="en-US" dirty="0">
                <a:latin typeface="Consolas" panose="020B0609020204030204" pitchFamily="49" charset="0"/>
              </a:rPr>
              <a:t>="test"&gt;Hello!&lt;/</a:t>
            </a:r>
            <a:r>
              <a:rPr lang="en-US" b="1" dirty="0">
                <a:latin typeface="Consolas" panose="020B0609020204030204" pitchFamily="49" charset="0"/>
              </a:rPr>
              <a:t>p</a:t>
            </a:r>
            <a:r>
              <a:rPr lang="en-US" dirty="0">
                <a:latin typeface="Consolas" panose="020B0609020204030204" pitchFamily="49" charset="0"/>
              </a:rPr>
              <a:t>&gt;</a:t>
            </a:r>
          </a:p>
          <a:p>
            <a:r>
              <a:rPr lang="en-US" dirty="0">
                <a:latin typeface="Consolas" panose="020B0609020204030204" pitchFamily="49" charset="0"/>
              </a:rPr>
              <a:t>&lt;/body&gt;</a:t>
            </a:r>
          </a:p>
          <a:p>
            <a:r>
              <a:rPr lang="en-US" dirty="0">
                <a:latin typeface="Consolas" panose="020B0609020204030204" pitchFamily="49" charset="0"/>
              </a:rPr>
              <a:t> 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3D1AA60C-1666-4C8F-9338-471CED697BDC}"/>
              </a:ext>
            </a:extLst>
          </p:cNvPr>
          <p:cNvCxnSpPr>
            <a:cxnSpLocks/>
          </p:cNvCxnSpPr>
          <p:nvPr/>
        </p:nvCxnSpPr>
        <p:spPr>
          <a:xfrm flipV="1">
            <a:off x="4591337" y="2228103"/>
            <a:ext cx="0" cy="3601197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3ED7E5AA-0AF5-472B-ADC5-43160FA67D68}"/>
              </a:ext>
            </a:extLst>
          </p:cNvPr>
          <p:cNvSpPr txBox="1"/>
          <p:nvPr/>
        </p:nvSpPr>
        <p:spPr>
          <a:xfrm>
            <a:off x="1220142" y="2322983"/>
            <a:ext cx="2084225" cy="313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Consolas" panose="020B0609020204030204" pitchFamily="49" charset="0"/>
              </a:rPr>
              <a:t>#myP </a:t>
            </a:r>
            <a:r>
              <a:rPr lang="en-US" dirty="0">
                <a:latin typeface="Consolas" panose="020B0609020204030204" pitchFamily="49" charset="0"/>
              </a:rPr>
              <a:t>{</a:t>
            </a:r>
          </a:p>
          <a:p>
            <a:r>
              <a:rPr lang="en-US" dirty="0">
                <a:latin typeface="Consolas" panose="020B0609020204030204" pitchFamily="49" charset="0"/>
              </a:rPr>
              <a:t>   color: </a:t>
            </a: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</a:rPr>
              <a:t>blue</a:t>
            </a:r>
            <a:r>
              <a:rPr lang="en-US" dirty="0">
                <a:latin typeface="Consolas" panose="020B0609020204030204" pitchFamily="49" charset="0"/>
              </a:rPr>
              <a:t>;</a:t>
            </a:r>
          </a:p>
          <a:p>
            <a:r>
              <a:rPr lang="en-US" dirty="0">
                <a:latin typeface="Consolas" panose="020B0609020204030204" pitchFamily="49" charset="0"/>
              </a:rPr>
              <a:t>}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r>
              <a:rPr lang="en-US" b="1" dirty="0">
                <a:latin typeface="Consolas" panose="020B0609020204030204" pitchFamily="49" charset="0"/>
              </a:rPr>
              <a:t>.test </a:t>
            </a:r>
            <a:r>
              <a:rPr lang="en-US" dirty="0">
                <a:latin typeface="Consolas" panose="020B0609020204030204" pitchFamily="49" charset="0"/>
              </a:rPr>
              <a:t>{</a:t>
            </a:r>
          </a:p>
          <a:p>
            <a:r>
              <a:rPr lang="en-US" dirty="0">
                <a:latin typeface="Consolas" panose="020B0609020204030204" pitchFamily="49" charset="0"/>
              </a:rPr>
              <a:t> color: </a:t>
            </a:r>
            <a:r>
              <a:rPr lang="en-US" dirty="0">
                <a:solidFill>
                  <a:schemeClr val="accent6"/>
                </a:solidFill>
                <a:latin typeface="Consolas" panose="020B0609020204030204" pitchFamily="49" charset="0"/>
              </a:rPr>
              <a:t>green</a:t>
            </a:r>
            <a:r>
              <a:rPr lang="en-US" dirty="0">
                <a:latin typeface="Consolas" panose="020B0609020204030204" pitchFamily="49" charset="0"/>
              </a:rPr>
              <a:t>;</a:t>
            </a:r>
          </a:p>
          <a:p>
            <a:r>
              <a:rPr lang="en-US" dirty="0">
                <a:latin typeface="Consolas" panose="020B0609020204030204" pitchFamily="49" charset="0"/>
              </a:rPr>
              <a:t>}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r>
              <a:rPr lang="en-US" b="1" dirty="0">
                <a:latin typeface="Consolas" panose="020B0609020204030204" pitchFamily="49" charset="0"/>
              </a:rPr>
              <a:t>p</a:t>
            </a:r>
            <a:r>
              <a:rPr lang="en-US" dirty="0">
                <a:latin typeface="Consolas" panose="020B0609020204030204" pitchFamily="49" charset="0"/>
              </a:rPr>
              <a:t> {</a:t>
            </a:r>
          </a:p>
          <a:p>
            <a:r>
              <a:rPr lang="en-US" dirty="0">
                <a:latin typeface="Consolas" panose="020B0609020204030204" pitchFamily="49" charset="0"/>
              </a:rPr>
              <a:t> color: 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red</a:t>
            </a:r>
            <a:r>
              <a:rPr lang="en-US" dirty="0">
                <a:latin typeface="Consolas" panose="020B0609020204030204" pitchFamily="49" charset="0"/>
              </a:rPr>
              <a:t>;</a:t>
            </a:r>
          </a:p>
          <a:p>
            <a:r>
              <a:rPr lang="en-US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15118A4-2040-4153-8284-B3394D7CE2CD}"/>
              </a:ext>
            </a:extLst>
          </p:cNvPr>
          <p:cNvSpPr/>
          <p:nvPr/>
        </p:nvSpPr>
        <p:spPr>
          <a:xfrm>
            <a:off x="481094" y="2228102"/>
            <a:ext cx="11229812" cy="3601198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960582A-3DF9-4C33-A734-F0CD009910B3}"/>
              </a:ext>
            </a:extLst>
          </p:cNvPr>
          <p:cNvSpPr txBox="1"/>
          <p:nvPr/>
        </p:nvSpPr>
        <p:spPr>
          <a:xfrm>
            <a:off x="2128580" y="1212246"/>
            <a:ext cx="7757040" cy="5587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</a:pPr>
            <a:r>
              <a:rPr lang="en-US" sz="2800" b="0" i="0" u="none" strike="noStrike" cap="none" dirty="0">
                <a:solidFill>
                  <a:srgbClr val="000000"/>
                </a:solidFill>
                <a:ea typeface="Montserrat"/>
                <a:cs typeface="Montserrat"/>
                <a:sym typeface="Montserrat"/>
              </a:rPr>
              <a:t>What will be the </a:t>
            </a:r>
            <a:r>
              <a:rPr lang="en-US" sz="2800" b="1" i="0" u="none" strike="noStrike" cap="none" dirty="0">
                <a:solidFill>
                  <a:srgbClr val="000000"/>
                </a:solidFill>
                <a:ea typeface="Montserrat"/>
                <a:cs typeface="Montserrat"/>
                <a:sym typeface="Montserrat"/>
              </a:rPr>
              <a:t>color</a:t>
            </a:r>
            <a:r>
              <a:rPr lang="en-US" sz="2800" b="0" i="0" u="none" strike="noStrike" cap="none" dirty="0">
                <a:solidFill>
                  <a:srgbClr val="000000"/>
                </a:solidFill>
                <a:ea typeface="Montserrat"/>
                <a:cs typeface="Montserrat"/>
                <a:sym typeface="Montserrat"/>
              </a:rPr>
              <a:t> of P element?</a:t>
            </a:r>
            <a:endParaRPr lang="en-US" sz="2800" dirty="0">
              <a:solidFill>
                <a:schemeClr val="dk1"/>
              </a:solidFill>
              <a:ea typeface="Montserrat"/>
              <a:cs typeface="Montserrat"/>
              <a:sym typeface="Montserra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6EE8B7F-32FF-4D62-9F94-8D01A6A430FB}"/>
              </a:ext>
            </a:extLst>
          </p:cNvPr>
          <p:cNvSpPr txBox="1"/>
          <p:nvPr/>
        </p:nvSpPr>
        <p:spPr>
          <a:xfrm>
            <a:off x="0" y="0"/>
            <a:ext cx="1714499" cy="369332"/>
          </a:xfrm>
          <a:prstGeom prst="rect">
            <a:avLst/>
          </a:prstGeom>
          <a:solidFill>
            <a:srgbClr val="A1459D"/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REFLECTION</a:t>
            </a:r>
          </a:p>
        </p:txBody>
      </p:sp>
    </p:spTree>
    <p:extLst>
      <p:ext uri="{BB962C8B-B14F-4D97-AF65-F5344CB8AC3E}">
        <p14:creationId xmlns:p14="http://schemas.microsoft.com/office/powerpoint/2010/main" val="25705998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F0F16A3B-6C1E-46E7-AA05-DE497E732693}"/>
              </a:ext>
            </a:extLst>
          </p:cNvPr>
          <p:cNvSpPr txBox="1"/>
          <p:nvPr/>
        </p:nvSpPr>
        <p:spPr>
          <a:xfrm>
            <a:off x="3828875" y="220026"/>
            <a:ext cx="435644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b="1" i="0" u="none" strike="noStrike" cap="none" dirty="0">
                <a:ea typeface="Montserrat Black"/>
                <a:cs typeface="Montserrat Black"/>
                <a:sym typeface="Montserrat Black"/>
              </a:rPr>
              <a:t>Cascade </a:t>
            </a:r>
            <a:r>
              <a:rPr lang="en-US" sz="5400" i="0" u="none" strike="noStrike" cap="none" dirty="0">
                <a:ea typeface="Montserrat Black"/>
                <a:cs typeface="Montserrat Black"/>
                <a:sym typeface="Montserrat Black"/>
              </a:rPr>
              <a:t>in CSS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ED7E5AA-0AF5-472B-ADC5-43160FA67D68}"/>
              </a:ext>
            </a:extLst>
          </p:cNvPr>
          <p:cNvSpPr txBox="1"/>
          <p:nvPr/>
        </p:nvSpPr>
        <p:spPr>
          <a:xfrm>
            <a:off x="8544576" y="2631877"/>
            <a:ext cx="2084225" cy="313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Consolas" panose="020B0609020204030204" pitchFamily="49" charset="0"/>
              </a:rPr>
              <a:t>#myP </a:t>
            </a:r>
            <a:r>
              <a:rPr lang="en-US" dirty="0">
                <a:latin typeface="Consolas" panose="020B0609020204030204" pitchFamily="49" charset="0"/>
              </a:rPr>
              <a:t>{</a:t>
            </a:r>
          </a:p>
          <a:p>
            <a:r>
              <a:rPr lang="en-US" dirty="0">
                <a:latin typeface="Consolas" panose="020B0609020204030204" pitchFamily="49" charset="0"/>
              </a:rPr>
              <a:t>   color: </a:t>
            </a: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</a:rPr>
              <a:t>blue</a:t>
            </a:r>
            <a:r>
              <a:rPr lang="en-US" dirty="0">
                <a:latin typeface="Consolas" panose="020B0609020204030204" pitchFamily="49" charset="0"/>
              </a:rPr>
              <a:t>;</a:t>
            </a:r>
          </a:p>
          <a:p>
            <a:r>
              <a:rPr lang="en-US" dirty="0">
                <a:latin typeface="Consolas" panose="020B0609020204030204" pitchFamily="49" charset="0"/>
              </a:rPr>
              <a:t>}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r>
              <a:rPr lang="en-US" b="1" dirty="0">
                <a:latin typeface="Consolas" panose="020B0609020204030204" pitchFamily="49" charset="0"/>
              </a:rPr>
              <a:t>.test </a:t>
            </a:r>
            <a:r>
              <a:rPr lang="en-US" dirty="0">
                <a:latin typeface="Consolas" panose="020B0609020204030204" pitchFamily="49" charset="0"/>
              </a:rPr>
              <a:t>{</a:t>
            </a:r>
          </a:p>
          <a:p>
            <a:r>
              <a:rPr lang="en-US" dirty="0">
                <a:latin typeface="Consolas" panose="020B0609020204030204" pitchFamily="49" charset="0"/>
              </a:rPr>
              <a:t> color: </a:t>
            </a:r>
            <a:r>
              <a:rPr lang="en-US" dirty="0">
                <a:solidFill>
                  <a:schemeClr val="accent6"/>
                </a:solidFill>
                <a:latin typeface="Consolas" panose="020B0609020204030204" pitchFamily="49" charset="0"/>
              </a:rPr>
              <a:t>green</a:t>
            </a:r>
            <a:r>
              <a:rPr lang="en-US" dirty="0">
                <a:latin typeface="Consolas" panose="020B0609020204030204" pitchFamily="49" charset="0"/>
              </a:rPr>
              <a:t>;</a:t>
            </a:r>
          </a:p>
          <a:p>
            <a:r>
              <a:rPr lang="en-US" dirty="0">
                <a:latin typeface="Consolas" panose="020B0609020204030204" pitchFamily="49" charset="0"/>
              </a:rPr>
              <a:t>}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r>
              <a:rPr lang="en-US" b="1" dirty="0">
                <a:latin typeface="Consolas" panose="020B0609020204030204" pitchFamily="49" charset="0"/>
              </a:rPr>
              <a:t>p</a:t>
            </a:r>
            <a:r>
              <a:rPr lang="en-US" dirty="0">
                <a:latin typeface="Consolas" panose="020B0609020204030204" pitchFamily="49" charset="0"/>
              </a:rPr>
              <a:t> {</a:t>
            </a:r>
          </a:p>
          <a:p>
            <a:r>
              <a:rPr lang="en-US" dirty="0">
                <a:latin typeface="Consolas" panose="020B0609020204030204" pitchFamily="49" charset="0"/>
              </a:rPr>
              <a:t> color: 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red</a:t>
            </a:r>
            <a:r>
              <a:rPr lang="en-US" dirty="0">
                <a:latin typeface="Consolas" panose="020B0609020204030204" pitchFamily="49" charset="0"/>
              </a:rPr>
              <a:t>;</a:t>
            </a:r>
          </a:p>
          <a:p>
            <a:r>
              <a:rPr lang="en-US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960582A-3DF9-4C33-A734-F0CD009910B3}"/>
              </a:ext>
            </a:extLst>
          </p:cNvPr>
          <p:cNvSpPr txBox="1"/>
          <p:nvPr/>
        </p:nvSpPr>
        <p:spPr>
          <a:xfrm>
            <a:off x="2128580" y="1212246"/>
            <a:ext cx="7757040" cy="5587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</a:pPr>
            <a:r>
              <a:rPr lang="en-US" sz="2800" b="0" i="0" u="none" strike="noStrike" cap="none" dirty="0">
                <a:solidFill>
                  <a:srgbClr val="000000"/>
                </a:solidFill>
                <a:ea typeface="Montserrat"/>
                <a:cs typeface="Montserrat"/>
                <a:sym typeface="Montserrat"/>
              </a:rPr>
              <a:t>P will be </a:t>
            </a:r>
            <a:r>
              <a:rPr lang="en-US" sz="2800" b="1" i="0" u="none" strike="noStrike" cap="none" dirty="0">
                <a:solidFill>
                  <a:schemeClr val="accent1"/>
                </a:solidFill>
                <a:ea typeface="Montserrat"/>
                <a:cs typeface="Montserrat"/>
                <a:sym typeface="Montserrat"/>
              </a:rPr>
              <a:t>blue</a:t>
            </a:r>
            <a:r>
              <a:rPr lang="en-US" sz="2800" b="0" i="0" u="none" strike="noStrike" cap="none" dirty="0">
                <a:solidFill>
                  <a:srgbClr val="000000"/>
                </a:solidFill>
                <a:ea typeface="Montserrat"/>
                <a:cs typeface="Montserrat"/>
                <a:sym typeface="Montserrat"/>
              </a:rPr>
              <a:t> !</a:t>
            </a:r>
            <a:endParaRPr lang="en-US" sz="2800" dirty="0">
              <a:solidFill>
                <a:schemeClr val="dk1"/>
              </a:solidFill>
              <a:ea typeface="Montserrat"/>
              <a:cs typeface="Montserrat"/>
              <a:sym typeface="Montserrat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C618E74-662E-47C2-95F0-6803D7B0C3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3305" y="2475989"/>
            <a:ext cx="2914823" cy="2858768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EA367076-4515-4E68-9DD0-6626BC209526}"/>
              </a:ext>
            </a:extLst>
          </p:cNvPr>
          <p:cNvSpPr txBox="1"/>
          <p:nvPr/>
        </p:nvSpPr>
        <p:spPr>
          <a:xfrm>
            <a:off x="492555" y="2324100"/>
            <a:ext cx="131760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Highest priority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90C2F3F-6E39-41CF-ADC3-595F19A16C4A}"/>
              </a:ext>
            </a:extLst>
          </p:cNvPr>
          <p:cNvSpPr txBox="1"/>
          <p:nvPr/>
        </p:nvSpPr>
        <p:spPr>
          <a:xfrm>
            <a:off x="492555" y="5345097"/>
            <a:ext cx="128003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Lowest priority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2E3FED45-D0AF-452B-9BCE-4E3CE5B06149}"/>
              </a:ext>
            </a:extLst>
          </p:cNvPr>
          <p:cNvCxnSpPr/>
          <p:nvPr/>
        </p:nvCxnSpPr>
        <p:spPr>
          <a:xfrm flipH="1">
            <a:off x="4229100" y="2832100"/>
            <a:ext cx="4203700" cy="0"/>
          </a:xfrm>
          <a:prstGeom prst="straightConnector1">
            <a:avLst/>
          </a:prstGeom>
          <a:ln w="571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1B9D0BB0-E158-4BD8-896B-8B6CD03BA240}"/>
              </a:ext>
            </a:extLst>
          </p:cNvPr>
          <p:cNvSpPr txBox="1"/>
          <p:nvPr/>
        </p:nvSpPr>
        <p:spPr>
          <a:xfrm>
            <a:off x="4922066" y="3003546"/>
            <a:ext cx="32085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This rule has the highest priority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AEC2BE4-FAB7-44FB-8502-C86526A0606F}"/>
              </a:ext>
            </a:extLst>
          </p:cNvPr>
          <p:cNvSpPr txBox="1"/>
          <p:nvPr/>
        </p:nvSpPr>
        <p:spPr>
          <a:xfrm>
            <a:off x="0" y="0"/>
            <a:ext cx="1714499" cy="369332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EXPLAIN</a:t>
            </a:r>
          </a:p>
        </p:txBody>
      </p:sp>
    </p:spTree>
    <p:extLst>
      <p:ext uri="{BB962C8B-B14F-4D97-AF65-F5344CB8AC3E}">
        <p14:creationId xmlns:p14="http://schemas.microsoft.com/office/powerpoint/2010/main" val="6174558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F0F16A3B-6C1E-46E7-AA05-DE497E732693}"/>
              </a:ext>
            </a:extLst>
          </p:cNvPr>
          <p:cNvSpPr txBox="1"/>
          <p:nvPr/>
        </p:nvSpPr>
        <p:spPr>
          <a:xfrm>
            <a:off x="3644772" y="268823"/>
            <a:ext cx="555812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b="1" dirty="0">
                <a:solidFill>
                  <a:srgbClr val="A1459D"/>
                </a:solidFill>
              </a:rPr>
              <a:t>Grouping</a:t>
            </a:r>
            <a:r>
              <a:rPr lang="en-US" sz="5400" dirty="0">
                <a:solidFill>
                  <a:srgbClr val="A1459D"/>
                </a:solidFill>
              </a:rPr>
              <a:t> </a:t>
            </a:r>
            <a:r>
              <a:rPr lang="en-US" sz="5400" dirty="0"/>
              <a:t>Selectors</a:t>
            </a:r>
            <a:endParaRPr lang="en-US" sz="5400" b="1" i="0" u="none" strike="noStrike" cap="none" dirty="0"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ED7E5AA-0AF5-472B-ADC5-43160FA67D68}"/>
              </a:ext>
            </a:extLst>
          </p:cNvPr>
          <p:cNvSpPr txBox="1"/>
          <p:nvPr/>
        </p:nvSpPr>
        <p:spPr>
          <a:xfrm>
            <a:off x="857249" y="2441377"/>
            <a:ext cx="2844048" cy="39703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h1 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</a:b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  text-align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 center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</a:b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  color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 red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</a:b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lang="en-US" dirty="0"/>
            </a:br>
            <a:br>
              <a:rPr lang="en-US" dirty="0"/>
            </a:br>
            <a:r>
              <a:rPr lang="en-US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h2 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</a:b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  text-align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 center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</a:b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  color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 red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</a:b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lang="en-US" dirty="0"/>
            </a:br>
            <a:br>
              <a:rPr lang="en-US" dirty="0"/>
            </a:br>
            <a:r>
              <a:rPr lang="en-US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p 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</a:b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  text-align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 center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</a:b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  color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 red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</a:b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960582A-3DF9-4C33-A734-F0CD009910B3}"/>
              </a:ext>
            </a:extLst>
          </p:cNvPr>
          <p:cNvSpPr txBox="1"/>
          <p:nvPr/>
        </p:nvSpPr>
        <p:spPr>
          <a:xfrm>
            <a:off x="2128580" y="1212246"/>
            <a:ext cx="7757040" cy="10542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</a:pPr>
            <a:r>
              <a:rPr lang="en-US" sz="2800" b="0" i="0" u="none" strike="noStrike" cap="none" dirty="0">
                <a:solidFill>
                  <a:srgbClr val="000000"/>
                </a:solidFill>
                <a:ea typeface="Montserrat"/>
                <a:cs typeface="Montserrat"/>
                <a:sym typeface="Montserrat"/>
              </a:rPr>
              <a:t>The grouping selector selects all the HTML elements with the same style definitions</a:t>
            </a:r>
            <a:endParaRPr lang="en-US" sz="2800" dirty="0">
              <a:solidFill>
                <a:schemeClr val="dk1"/>
              </a:solidFill>
              <a:ea typeface="Montserrat"/>
              <a:cs typeface="Montserrat"/>
              <a:sym typeface="Montserrat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AEC2BE4-FAB7-44FB-8502-C86526A0606F}"/>
              </a:ext>
            </a:extLst>
          </p:cNvPr>
          <p:cNvSpPr txBox="1"/>
          <p:nvPr/>
        </p:nvSpPr>
        <p:spPr>
          <a:xfrm>
            <a:off x="0" y="0"/>
            <a:ext cx="1714499" cy="369332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EXPLAIN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EE511A5-E15D-4446-8BA3-CEE0913883A5}"/>
              </a:ext>
            </a:extLst>
          </p:cNvPr>
          <p:cNvCxnSpPr>
            <a:cxnSpLocks/>
          </p:cNvCxnSpPr>
          <p:nvPr/>
        </p:nvCxnSpPr>
        <p:spPr>
          <a:xfrm>
            <a:off x="4643180" y="4229100"/>
            <a:ext cx="1452820" cy="0"/>
          </a:xfrm>
          <a:prstGeom prst="straightConnector1">
            <a:avLst/>
          </a:prstGeom>
          <a:ln w="571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21AE6199-3376-4B91-978A-2A7F09BD2D63}"/>
              </a:ext>
            </a:extLst>
          </p:cNvPr>
          <p:cNvSpPr txBox="1"/>
          <p:nvPr/>
        </p:nvSpPr>
        <p:spPr>
          <a:xfrm>
            <a:off x="6889749" y="3385440"/>
            <a:ext cx="2844048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h1 , h2, p 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</a:b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  text-align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 center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</a:b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  color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 red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</a:b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lang="en-US" dirty="0"/>
            </a:br>
            <a:r>
              <a:rPr lang="en-US" dirty="0"/>
              <a:t> </a:t>
            </a:r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7F787C0-94D2-4FF8-AF5F-6925332EF29E}"/>
              </a:ext>
            </a:extLst>
          </p:cNvPr>
          <p:cNvSpPr txBox="1"/>
          <p:nvPr/>
        </p:nvSpPr>
        <p:spPr>
          <a:xfrm>
            <a:off x="6889749" y="4999423"/>
            <a:ext cx="196797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/>
              <a:t>Easier to read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/>
              <a:t>Less duplication</a:t>
            </a:r>
          </a:p>
        </p:txBody>
      </p:sp>
    </p:spTree>
    <p:extLst>
      <p:ext uri="{BB962C8B-B14F-4D97-AF65-F5344CB8AC3E}">
        <p14:creationId xmlns:p14="http://schemas.microsoft.com/office/powerpoint/2010/main" val="28172820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4BE3F8D-1C02-4780-8620-FAE1871F76F1}"/>
              </a:ext>
            </a:extLst>
          </p:cNvPr>
          <p:cNvSpPr/>
          <p:nvPr/>
        </p:nvSpPr>
        <p:spPr>
          <a:xfrm>
            <a:off x="1943710" y="1412709"/>
            <a:ext cx="4529662" cy="2862322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&lt;body&gt;</a:t>
            </a:r>
          </a:p>
          <a:p>
            <a:r>
              <a:rPr lang="en-US" dirty="0">
                <a:latin typeface="Consolas" panose="020B0609020204030204" pitchFamily="49" charset="0"/>
              </a:rPr>
              <a:t>	&lt;h1&gt;Title&lt;/h1&gt;</a:t>
            </a:r>
          </a:p>
          <a:p>
            <a:r>
              <a:rPr lang="en-US" dirty="0">
                <a:latin typeface="Consolas" panose="020B0609020204030204" pitchFamily="49" charset="0"/>
              </a:rPr>
              <a:t>	&lt;h2&gt;Heading 2&lt;/h2&gt;</a:t>
            </a:r>
          </a:p>
          <a:p>
            <a:r>
              <a:rPr lang="en-US" dirty="0">
                <a:latin typeface="Consolas" panose="020B0609020204030204" pitchFamily="49" charset="0"/>
              </a:rPr>
              <a:t>	&lt;p&gt;Paragraph&gt;</a:t>
            </a:r>
          </a:p>
          <a:p>
            <a:r>
              <a:rPr lang="en-US" dirty="0">
                <a:latin typeface="Consolas" panose="020B0609020204030204" pitchFamily="49" charset="0"/>
              </a:rPr>
              <a:t>	&lt;ul&gt;</a:t>
            </a:r>
          </a:p>
          <a:p>
            <a:r>
              <a:rPr lang="en-US" dirty="0">
                <a:latin typeface="Consolas" panose="020B0609020204030204" pitchFamily="49" charset="0"/>
              </a:rPr>
              <a:t>		&lt;li&gt;Item 1&lt;/li&gt;</a:t>
            </a:r>
          </a:p>
          <a:p>
            <a:r>
              <a:rPr lang="en-US" dirty="0">
                <a:latin typeface="Consolas" panose="020B0609020204030204" pitchFamily="49" charset="0"/>
              </a:rPr>
              <a:t>		&lt;li&gt;Item 2&lt;/li&gt;</a:t>
            </a:r>
          </a:p>
          <a:p>
            <a:r>
              <a:rPr lang="en-US" dirty="0">
                <a:latin typeface="Consolas" panose="020B0609020204030204" pitchFamily="49" charset="0"/>
              </a:rPr>
              <a:t>		&lt;li&gt;Item 3&lt;/li&gt;</a:t>
            </a:r>
          </a:p>
          <a:p>
            <a:r>
              <a:rPr lang="en-US" dirty="0">
                <a:latin typeface="Consolas" panose="020B0609020204030204" pitchFamily="49" charset="0"/>
              </a:rPr>
              <a:t>	&lt;/ul&gt;</a:t>
            </a:r>
          </a:p>
          <a:p>
            <a:r>
              <a:rPr lang="en-US" dirty="0">
                <a:latin typeface="Consolas" panose="020B0609020204030204" pitchFamily="49" charset="0"/>
              </a:rPr>
              <a:t>&lt;/body&gt;</a:t>
            </a:r>
            <a:endParaRPr lang="en-US" dirty="0">
              <a:effectLst/>
              <a:latin typeface="Consolas" panose="020B06090202040302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BCED5A5-A4D4-41A2-9824-029382347413}"/>
              </a:ext>
            </a:extLst>
          </p:cNvPr>
          <p:cNvSpPr txBox="1"/>
          <p:nvPr/>
        </p:nvSpPr>
        <p:spPr>
          <a:xfrm>
            <a:off x="7029219" y="1505042"/>
            <a:ext cx="2052165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Title</a:t>
            </a:r>
            <a:endParaRPr lang="en-US" sz="2400" dirty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32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Heading 2</a:t>
            </a:r>
          </a:p>
          <a:p>
            <a:r>
              <a:rPr lang="en-US" sz="20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Paragraph</a:t>
            </a:r>
          </a:p>
          <a:p>
            <a:endParaRPr lang="en-US" sz="2000" dirty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Item 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Item 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Item 3</a:t>
            </a:r>
            <a:endParaRPr lang="en-US" sz="2400" dirty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C855579-C2E1-4D2A-A1D7-0E7C9ED00B49}"/>
              </a:ext>
            </a:extLst>
          </p:cNvPr>
          <p:cNvCxnSpPr>
            <a:cxnSpLocks/>
          </p:cNvCxnSpPr>
          <p:nvPr/>
        </p:nvCxnSpPr>
        <p:spPr>
          <a:xfrm flipV="1">
            <a:off x="6473372" y="1412709"/>
            <a:ext cx="1" cy="3045608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85BD4981-C8B1-41FA-97CC-CF0BE6E772F1}"/>
              </a:ext>
            </a:extLst>
          </p:cNvPr>
          <p:cNvSpPr/>
          <p:nvPr/>
        </p:nvSpPr>
        <p:spPr>
          <a:xfrm>
            <a:off x="923811" y="1412710"/>
            <a:ext cx="10551883" cy="3045607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9CE24B1-C9B8-4F6E-96B4-308A4E7317C2}"/>
              </a:ext>
            </a:extLst>
          </p:cNvPr>
          <p:cNvSpPr txBox="1"/>
          <p:nvPr/>
        </p:nvSpPr>
        <p:spPr>
          <a:xfrm>
            <a:off x="1943710" y="511662"/>
            <a:ext cx="7915389" cy="625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</a:pPr>
            <a:r>
              <a:rPr lang="en-US" sz="3200" b="0" i="0" u="none" strike="noStrike" cap="none" dirty="0">
                <a:solidFill>
                  <a:srgbClr val="000000"/>
                </a:solidFill>
                <a:ea typeface="Montserrat"/>
                <a:cs typeface="Montserrat"/>
                <a:sym typeface="Montserrat"/>
              </a:rPr>
              <a:t>We want to set all text color in </a:t>
            </a:r>
            <a:r>
              <a:rPr lang="en-US" sz="3200" b="0" i="0" u="none" strike="noStrike" cap="none" dirty="0">
                <a:solidFill>
                  <a:srgbClr val="00B050"/>
                </a:solidFill>
                <a:ea typeface="Montserrat"/>
                <a:cs typeface="Montserrat"/>
                <a:sym typeface="Montserrat"/>
              </a:rPr>
              <a:t>green</a:t>
            </a:r>
            <a:endParaRPr lang="en-US" sz="3200" dirty="0">
              <a:solidFill>
                <a:srgbClr val="00B050"/>
              </a:solidFill>
              <a:ea typeface="Montserrat"/>
              <a:cs typeface="Montserrat"/>
              <a:sym typeface="Montserra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484CF04-8000-4BAE-AD5E-E0C0EDA2CEF1}"/>
              </a:ext>
            </a:extLst>
          </p:cNvPr>
          <p:cNvSpPr txBox="1"/>
          <p:nvPr/>
        </p:nvSpPr>
        <p:spPr>
          <a:xfrm>
            <a:off x="0" y="0"/>
            <a:ext cx="1714499" cy="369332"/>
          </a:xfrm>
          <a:prstGeom prst="rect">
            <a:avLst/>
          </a:prstGeom>
          <a:solidFill>
            <a:srgbClr val="A1459D"/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REFLECT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E761B1D-0846-424F-A468-D135E204F70A}"/>
              </a:ext>
            </a:extLst>
          </p:cNvPr>
          <p:cNvSpPr txBox="1"/>
          <p:nvPr/>
        </p:nvSpPr>
        <p:spPr>
          <a:xfrm>
            <a:off x="2727323" y="4733937"/>
            <a:ext cx="6800851" cy="5587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</a:pPr>
            <a:r>
              <a:rPr lang="en-US" sz="2800" b="0" i="0" u="none" strike="noStrike" cap="none" dirty="0">
                <a:solidFill>
                  <a:srgbClr val="000000"/>
                </a:solidFill>
                <a:ea typeface="Montserrat"/>
                <a:cs typeface="Montserrat"/>
                <a:sym typeface="Montserrat"/>
              </a:rPr>
              <a:t>Can we find a </a:t>
            </a:r>
            <a:r>
              <a:rPr lang="en-US" sz="2800" b="1" i="0" u="none" strike="noStrike" cap="none" dirty="0">
                <a:solidFill>
                  <a:srgbClr val="000000"/>
                </a:solidFill>
                <a:ea typeface="Montserrat"/>
                <a:cs typeface="Montserrat"/>
                <a:sym typeface="Montserrat"/>
              </a:rPr>
              <a:t>better way </a:t>
            </a:r>
            <a:r>
              <a:rPr lang="en-US" sz="2800" b="0" i="0" u="none" strike="noStrike" cap="none" dirty="0">
                <a:solidFill>
                  <a:srgbClr val="000000"/>
                </a:solidFill>
                <a:ea typeface="Montserrat"/>
                <a:cs typeface="Montserrat"/>
                <a:sym typeface="Montserrat"/>
              </a:rPr>
              <a:t>than this code?</a:t>
            </a:r>
            <a:endParaRPr lang="en-US" sz="2800" dirty="0">
              <a:solidFill>
                <a:srgbClr val="00B050"/>
              </a:solidFill>
              <a:ea typeface="Montserrat"/>
              <a:cs typeface="Montserrat"/>
              <a:sym typeface="Montserrat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8C28FC3-119B-4E79-AA09-ACF1A4675F14}"/>
              </a:ext>
            </a:extLst>
          </p:cNvPr>
          <p:cNvSpPr txBox="1"/>
          <p:nvPr/>
        </p:nvSpPr>
        <p:spPr>
          <a:xfrm>
            <a:off x="3873499" y="5400748"/>
            <a:ext cx="4508501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</a:rPr>
              <a:t>h1,h2,h3,p,a,strong,q {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    color: </a:t>
            </a:r>
            <a:r>
              <a:rPr lang="en-US" sz="2000" dirty="0">
                <a:solidFill>
                  <a:srgbClr val="00B050"/>
                </a:solidFill>
                <a:latin typeface="Consolas" panose="020B0609020204030204" pitchFamily="49" charset="0"/>
              </a:rPr>
              <a:t>green</a:t>
            </a:r>
            <a:r>
              <a:rPr lang="en-US" sz="2000" dirty="0">
                <a:latin typeface="Consolas" panose="020B0609020204030204" pitchFamily="49" charset="0"/>
              </a:rPr>
              <a:t>;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9781362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89;p16">
            <a:extLst>
              <a:ext uri="{FF2B5EF4-FFF2-40B4-BE49-F238E27FC236}">
                <a16:creationId xmlns:a16="http://schemas.microsoft.com/office/drawing/2014/main" id="{9B7478B2-E9AD-41AC-A1E7-B2889D675FCC}"/>
              </a:ext>
            </a:extLst>
          </p:cNvPr>
          <p:cNvSpPr txBox="1"/>
          <p:nvPr/>
        </p:nvSpPr>
        <p:spPr>
          <a:xfrm>
            <a:off x="6479268" y="2915500"/>
            <a:ext cx="792300" cy="3684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rgbClr val="BFBFB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SzPts val="1800"/>
            </a:pPr>
            <a:r>
              <a:rPr lang="en-US" sz="1800">
                <a:latin typeface="Verdana"/>
                <a:ea typeface="Verdana"/>
                <a:cs typeface="Verdana"/>
                <a:sym typeface="Verdana"/>
              </a:rPr>
              <a:t>html</a:t>
            </a:r>
            <a:endParaRPr/>
          </a:p>
        </p:txBody>
      </p:sp>
      <p:sp>
        <p:nvSpPr>
          <p:cNvPr id="3" name="Google Shape;190;p16">
            <a:extLst>
              <a:ext uri="{FF2B5EF4-FFF2-40B4-BE49-F238E27FC236}">
                <a16:creationId xmlns:a16="http://schemas.microsoft.com/office/drawing/2014/main" id="{1A1996F2-A3B8-4614-8204-06504A0E3D9F}"/>
              </a:ext>
            </a:extLst>
          </p:cNvPr>
          <p:cNvSpPr txBox="1"/>
          <p:nvPr/>
        </p:nvSpPr>
        <p:spPr>
          <a:xfrm>
            <a:off x="4463143" y="3574312"/>
            <a:ext cx="792300" cy="3684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rgbClr val="BFBFB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SzPts val="1800"/>
            </a:pPr>
            <a:r>
              <a:rPr lang="en-US" sz="1800">
                <a:latin typeface="Verdana"/>
                <a:ea typeface="Verdana"/>
                <a:cs typeface="Verdana"/>
                <a:sym typeface="Verdana"/>
              </a:rPr>
              <a:t>head</a:t>
            </a:r>
            <a:endParaRPr/>
          </a:p>
        </p:txBody>
      </p:sp>
      <p:sp>
        <p:nvSpPr>
          <p:cNvPr id="4" name="Google Shape;191;p16">
            <a:extLst>
              <a:ext uri="{FF2B5EF4-FFF2-40B4-BE49-F238E27FC236}">
                <a16:creationId xmlns:a16="http://schemas.microsoft.com/office/drawing/2014/main" id="{21A1DE48-0D8C-4CFC-AEB1-7B515D2E145A}"/>
              </a:ext>
            </a:extLst>
          </p:cNvPr>
          <p:cNvSpPr txBox="1"/>
          <p:nvPr/>
        </p:nvSpPr>
        <p:spPr>
          <a:xfrm>
            <a:off x="7128555" y="3550500"/>
            <a:ext cx="790500" cy="3699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rgbClr val="BFBFB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SzPts val="1800"/>
            </a:pPr>
            <a:r>
              <a:rPr lang="en-US" sz="1800">
                <a:latin typeface="Verdana"/>
                <a:ea typeface="Verdana"/>
                <a:cs typeface="Verdana"/>
                <a:sym typeface="Verdana"/>
              </a:rPr>
              <a:t>body</a:t>
            </a:r>
            <a:endParaRPr/>
          </a:p>
        </p:txBody>
      </p:sp>
      <p:sp>
        <p:nvSpPr>
          <p:cNvPr id="5" name="Google Shape;192;p16">
            <a:extLst>
              <a:ext uri="{FF2B5EF4-FFF2-40B4-BE49-F238E27FC236}">
                <a16:creationId xmlns:a16="http://schemas.microsoft.com/office/drawing/2014/main" id="{3A70D39E-D37C-4FDB-873C-2458E7F508FD}"/>
              </a:ext>
            </a:extLst>
          </p:cNvPr>
          <p:cNvSpPr txBox="1"/>
          <p:nvPr/>
        </p:nvSpPr>
        <p:spPr>
          <a:xfrm>
            <a:off x="4463143" y="4553800"/>
            <a:ext cx="792300" cy="3699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rgbClr val="BFBFB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SzPts val="1800"/>
            </a:pPr>
            <a:r>
              <a:rPr lang="en-US" sz="1800">
                <a:latin typeface="Verdana"/>
                <a:ea typeface="Verdana"/>
                <a:cs typeface="Verdana"/>
                <a:sym typeface="Verdana"/>
              </a:rPr>
              <a:t>title</a:t>
            </a:r>
            <a:endParaRPr/>
          </a:p>
        </p:txBody>
      </p:sp>
      <p:sp>
        <p:nvSpPr>
          <p:cNvPr id="6" name="Google Shape;193;p16">
            <a:extLst>
              <a:ext uri="{FF2B5EF4-FFF2-40B4-BE49-F238E27FC236}">
                <a16:creationId xmlns:a16="http://schemas.microsoft.com/office/drawing/2014/main" id="{FE512444-BF71-4A0D-A486-346E0B6C9CFF}"/>
              </a:ext>
            </a:extLst>
          </p:cNvPr>
          <p:cNvSpPr txBox="1"/>
          <p:nvPr/>
        </p:nvSpPr>
        <p:spPr>
          <a:xfrm>
            <a:off x="6015718" y="4488712"/>
            <a:ext cx="792300" cy="3699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rgbClr val="BFBFB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SzPts val="1800"/>
            </a:pPr>
            <a:r>
              <a:rPr lang="en-US" sz="1800">
                <a:latin typeface="Verdana"/>
                <a:ea typeface="Verdana"/>
                <a:cs typeface="Verdana"/>
                <a:sym typeface="Verdana"/>
              </a:rPr>
              <a:t>h1</a:t>
            </a:r>
            <a:endParaRPr/>
          </a:p>
        </p:txBody>
      </p:sp>
      <p:sp>
        <p:nvSpPr>
          <p:cNvPr id="7" name="Google Shape;194;p16">
            <a:extLst>
              <a:ext uri="{FF2B5EF4-FFF2-40B4-BE49-F238E27FC236}">
                <a16:creationId xmlns:a16="http://schemas.microsoft.com/office/drawing/2014/main" id="{DA7A6666-A6A6-4C41-A5A1-A002F8D06950}"/>
              </a:ext>
            </a:extLst>
          </p:cNvPr>
          <p:cNvSpPr txBox="1"/>
          <p:nvPr/>
        </p:nvSpPr>
        <p:spPr>
          <a:xfrm>
            <a:off x="7080930" y="4466487"/>
            <a:ext cx="792300" cy="3699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rgbClr val="BFBFB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SzPts val="1800"/>
            </a:pPr>
            <a:r>
              <a:rPr lang="en-US" sz="1800" dirty="0">
                <a:latin typeface="Verdana"/>
                <a:ea typeface="Verdana"/>
                <a:cs typeface="Verdana"/>
                <a:sym typeface="Verdana"/>
              </a:rPr>
              <a:t>h2</a:t>
            </a:r>
            <a:endParaRPr dirty="0"/>
          </a:p>
        </p:txBody>
      </p:sp>
      <p:sp>
        <p:nvSpPr>
          <p:cNvPr id="8" name="Google Shape;195;p16">
            <a:extLst>
              <a:ext uri="{FF2B5EF4-FFF2-40B4-BE49-F238E27FC236}">
                <a16:creationId xmlns:a16="http://schemas.microsoft.com/office/drawing/2014/main" id="{C028CDDF-5D88-4803-A9BB-0ACF2646AEC5}"/>
              </a:ext>
            </a:extLst>
          </p:cNvPr>
          <p:cNvSpPr txBox="1"/>
          <p:nvPr/>
        </p:nvSpPr>
        <p:spPr>
          <a:xfrm>
            <a:off x="8039780" y="4461725"/>
            <a:ext cx="792300" cy="3699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rgbClr val="BFBFB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SzPts val="1800"/>
            </a:pPr>
            <a:r>
              <a:rPr lang="en-US" sz="1800" dirty="0">
                <a:latin typeface="Verdana"/>
                <a:ea typeface="Verdana"/>
                <a:cs typeface="Verdana"/>
                <a:sym typeface="Verdana"/>
              </a:rPr>
              <a:t>p</a:t>
            </a:r>
            <a:endParaRPr dirty="0"/>
          </a:p>
        </p:txBody>
      </p:sp>
      <p:cxnSp>
        <p:nvCxnSpPr>
          <p:cNvPr id="9" name="Google Shape;201;p16">
            <a:extLst>
              <a:ext uri="{FF2B5EF4-FFF2-40B4-BE49-F238E27FC236}">
                <a16:creationId xmlns:a16="http://schemas.microsoft.com/office/drawing/2014/main" id="{9417A389-DA32-4630-BA71-336E47012799}"/>
              </a:ext>
            </a:extLst>
          </p:cNvPr>
          <p:cNvCxnSpPr/>
          <p:nvPr/>
        </p:nvCxnSpPr>
        <p:spPr>
          <a:xfrm flipH="1">
            <a:off x="4860055" y="3283800"/>
            <a:ext cx="2014500" cy="290400"/>
          </a:xfrm>
          <a:prstGeom prst="straightConnector1">
            <a:avLst/>
          </a:prstGeom>
          <a:solidFill>
            <a:schemeClr val="lt1"/>
          </a:solidFill>
          <a:ln w="25400" cap="flat" cmpd="sng">
            <a:solidFill>
              <a:srgbClr val="BFBFBF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10" name="Google Shape;202;p16">
            <a:extLst>
              <a:ext uri="{FF2B5EF4-FFF2-40B4-BE49-F238E27FC236}">
                <a16:creationId xmlns:a16="http://schemas.microsoft.com/office/drawing/2014/main" id="{EF5BB154-1A89-4558-80D2-AC64EA4E23AA}"/>
              </a:ext>
            </a:extLst>
          </p:cNvPr>
          <p:cNvCxnSpPr/>
          <p:nvPr/>
        </p:nvCxnSpPr>
        <p:spPr>
          <a:xfrm>
            <a:off x="6874555" y="3283800"/>
            <a:ext cx="649200" cy="266700"/>
          </a:xfrm>
          <a:prstGeom prst="straightConnector1">
            <a:avLst/>
          </a:prstGeom>
          <a:solidFill>
            <a:schemeClr val="lt1"/>
          </a:solidFill>
          <a:ln w="25400" cap="flat" cmpd="sng">
            <a:solidFill>
              <a:srgbClr val="BFBFBF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11" name="Google Shape;203;p16">
            <a:extLst>
              <a:ext uri="{FF2B5EF4-FFF2-40B4-BE49-F238E27FC236}">
                <a16:creationId xmlns:a16="http://schemas.microsoft.com/office/drawing/2014/main" id="{AFA9770F-4C78-49D1-97AF-1D5DCE85775F}"/>
              </a:ext>
            </a:extLst>
          </p:cNvPr>
          <p:cNvCxnSpPr/>
          <p:nvPr/>
        </p:nvCxnSpPr>
        <p:spPr>
          <a:xfrm>
            <a:off x="4860018" y="3942612"/>
            <a:ext cx="0" cy="611100"/>
          </a:xfrm>
          <a:prstGeom prst="straightConnector1">
            <a:avLst/>
          </a:prstGeom>
          <a:solidFill>
            <a:schemeClr val="lt1"/>
          </a:solidFill>
          <a:ln w="25400" cap="flat" cmpd="sng">
            <a:solidFill>
              <a:srgbClr val="BFBFBF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12" name="Google Shape;205;p16">
            <a:extLst>
              <a:ext uri="{FF2B5EF4-FFF2-40B4-BE49-F238E27FC236}">
                <a16:creationId xmlns:a16="http://schemas.microsoft.com/office/drawing/2014/main" id="{804932B1-BB88-4A4B-A09E-EE33D32BC1A1}"/>
              </a:ext>
            </a:extLst>
          </p:cNvPr>
          <p:cNvCxnSpPr/>
          <p:nvPr/>
        </p:nvCxnSpPr>
        <p:spPr>
          <a:xfrm flipH="1">
            <a:off x="7476143" y="3920387"/>
            <a:ext cx="47700" cy="546000"/>
          </a:xfrm>
          <a:prstGeom prst="straightConnector1">
            <a:avLst/>
          </a:prstGeom>
          <a:solidFill>
            <a:schemeClr val="lt1"/>
          </a:solidFill>
          <a:ln w="25400" cap="flat" cmpd="sng">
            <a:solidFill>
              <a:srgbClr val="BFBFBF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13" name="Google Shape;206;p16">
            <a:extLst>
              <a:ext uri="{FF2B5EF4-FFF2-40B4-BE49-F238E27FC236}">
                <a16:creationId xmlns:a16="http://schemas.microsoft.com/office/drawing/2014/main" id="{A6CE6C51-0053-46E7-9738-E68A3B010833}"/>
              </a:ext>
            </a:extLst>
          </p:cNvPr>
          <p:cNvCxnSpPr/>
          <p:nvPr/>
        </p:nvCxnSpPr>
        <p:spPr>
          <a:xfrm>
            <a:off x="7523843" y="3920387"/>
            <a:ext cx="912900" cy="541200"/>
          </a:xfrm>
          <a:prstGeom prst="straightConnector1">
            <a:avLst/>
          </a:prstGeom>
          <a:solidFill>
            <a:schemeClr val="lt1"/>
          </a:solidFill>
          <a:ln w="25400" cap="flat" cmpd="sng">
            <a:solidFill>
              <a:srgbClr val="BFBFBF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14" name="Google Shape;195;p16">
            <a:extLst>
              <a:ext uri="{FF2B5EF4-FFF2-40B4-BE49-F238E27FC236}">
                <a16:creationId xmlns:a16="http://schemas.microsoft.com/office/drawing/2014/main" id="{060FF51C-3E01-40AE-9BB2-E0C4F7E11495}"/>
              </a:ext>
            </a:extLst>
          </p:cNvPr>
          <p:cNvSpPr txBox="1"/>
          <p:nvPr/>
        </p:nvSpPr>
        <p:spPr>
          <a:xfrm>
            <a:off x="9188994" y="4481218"/>
            <a:ext cx="792300" cy="3699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rgbClr val="BFBFB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SzPts val="1800"/>
            </a:pPr>
            <a:r>
              <a:rPr lang="en-US" sz="1800" dirty="0">
                <a:latin typeface="Verdana"/>
                <a:ea typeface="Verdana"/>
                <a:cs typeface="Verdana"/>
                <a:sym typeface="Verdana"/>
              </a:rPr>
              <a:t>ul</a:t>
            </a:r>
            <a:endParaRPr dirty="0"/>
          </a:p>
        </p:txBody>
      </p:sp>
      <p:cxnSp>
        <p:nvCxnSpPr>
          <p:cNvPr id="15" name="Google Shape;206;p16">
            <a:extLst>
              <a:ext uri="{FF2B5EF4-FFF2-40B4-BE49-F238E27FC236}">
                <a16:creationId xmlns:a16="http://schemas.microsoft.com/office/drawing/2014/main" id="{62E29E9E-BFE2-46AD-9F72-5BF12B969114}"/>
              </a:ext>
            </a:extLst>
          </p:cNvPr>
          <p:cNvCxnSpPr>
            <a:cxnSpLocks/>
            <a:stCxn id="4" idx="2"/>
          </p:cNvCxnSpPr>
          <p:nvPr/>
        </p:nvCxnSpPr>
        <p:spPr>
          <a:xfrm>
            <a:off x="7523805" y="3920400"/>
            <a:ext cx="2062152" cy="560680"/>
          </a:xfrm>
          <a:prstGeom prst="straightConnector1">
            <a:avLst/>
          </a:prstGeom>
          <a:solidFill>
            <a:schemeClr val="lt1"/>
          </a:solidFill>
          <a:ln w="25400" cap="flat" cmpd="sng">
            <a:solidFill>
              <a:srgbClr val="BFBFBF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17" name="Google Shape;195;p16">
            <a:extLst>
              <a:ext uri="{FF2B5EF4-FFF2-40B4-BE49-F238E27FC236}">
                <a16:creationId xmlns:a16="http://schemas.microsoft.com/office/drawing/2014/main" id="{DCABF88E-05AB-40A3-9AE2-764A610ACDA1}"/>
              </a:ext>
            </a:extLst>
          </p:cNvPr>
          <p:cNvSpPr txBox="1"/>
          <p:nvPr/>
        </p:nvSpPr>
        <p:spPr>
          <a:xfrm>
            <a:off x="8435474" y="5256590"/>
            <a:ext cx="792300" cy="3699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rgbClr val="BFBFB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SzPts val="1800"/>
            </a:pPr>
            <a:r>
              <a:rPr lang="en-US" sz="1800" dirty="0">
                <a:latin typeface="Verdana"/>
                <a:ea typeface="Verdana"/>
                <a:cs typeface="Verdana"/>
                <a:sym typeface="Verdana"/>
              </a:rPr>
              <a:t>li</a:t>
            </a:r>
            <a:endParaRPr dirty="0"/>
          </a:p>
        </p:txBody>
      </p:sp>
      <p:sp>
        <p:nvSpPr>
          <p:cNvPr id="18" name="Google Shape;195;p16">
            <a:extLst>
              <a:ext uri="{FF2B5EF4-FFF2-40B4-BE49-F238E27FC236}">
                <a16:creationId xmlns:a16="http://schemas.microsoft.com/office/drawing/2014/main" id="{2B873ECE-E214-4A4F-8BD3-CC70CBD64041}"/>
              </a:ext>
            </a:extLst>
          </p:cNvPr>
          <p:cNvSpPr txBox="1"/>
          <p:nvPr/>
        </p:nvSpPr>
        <p:spPr>
          <a:xfrm>
            <a:off x="9509531" y="5256590"/>
            <a:ext cx="792300" cy="3699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rgbClr val="BFBFB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SzPts val="1800"/>
            </a:pPr>
            <a:r>
              <a:rPr lang="en-US" sz="1800" dirty="0">
                <a:latin typeface="Verdana"/>
                <a:ea typeface="Verdana"/>
                <a:cs typeface="Verdana"/>
                <a:sym typeface="Verdana"/>
              </a:rPr>
              <a:t>li</a:t>
            </a:r>
            <a:endParaRPr dirty="0"/>
          </a:p>
        </p:txBody>
      </p:sp>
      <p:sp>
        <p:nvSpPr>
          <p:cNvPr id="19" name="Google Shape;195;p16">
            <a:extLst>
              <a:ext uri="{FF2B5EF4-FFF2-40B4-BE49-F238E27FC236}">
                <a16:creationId xmlns:a16="http://schemas.microsoft.com/office/drawing/2014/main" id="{315FC05C-DE70-4A23-9B9F-A39859770D1E}"/>
              </a:ext>
            </a:extLst>
          </p:cNvPr>
          <p:cNvSpPr txBox="1"/>
          <p:nvPr/>
        </p:nvSpPr>
        <p:spPr>
          <a:xfrm>
            <a:off x="10583588" y="5256590"/>
            <a:ext cx="792300" cy="3699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rgbClr val="BFBFB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SzPts val="1800"/>
            </a:pPr>
            <a:r>
              <a:rPr lang="en-US" sz="1800" dirty="0">
                <a:latin typeface="Verdana"/>
                <a:ea typeface="Verdana"/>
                <a:cs typeface="Verdana"/>
                <a:sym typeface="Verdana"/>
              </a:rPr>
              <a:t>li</a:t>
            </a:r>
            <a:endParaRPr dirty="0"/>
          </a:p>
        </p:txBody>
      </p:sp>
      <p:cxnSp>
        <p:nvCxnSpPr>
          <p:cNvPr id="20" name="Google Shape;206;p16">
            <a:extLst>
              <a:ext uri="{FF2B5EF4-FFF2-40B4-BE49-F238E27FC236}">
                <a16:creationId xmlns:a16="http://schemas.microsoft.com/office/drawing/2014/main" id="{B0E449D3-4909-436A-ABAA-8FCC212062A9}"/>
              </a:ext>
            </a:extLst>
          </p:cNvPr>
          <p:cNvCxnSpPr>
            <a:cxnSpLocks/>
          </p:cNvCxnSpPr>
          <p:nvPr/>
        </p:nvCxnSpPr>
        <p:spPr>
          <a:xfrm>
            <a:off x="9665723" y="4851118"/>
            <a:ext cx="1188829" cy="441887"/>
          </a:xfrm>
          <a:prstGeom prst="straightConnector1">
            <a:avLst/>
          </a:prstGeom>
          <a:solidFill>
            <a:schemeClr val="lt1"/>
          </a:solidFill>
          <a:ln w="25400" cap="flat" cmpd="sng">
            <a:solidFill>
              <a:srgbClr val="BFBFBF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22" name="Google Shape;206;p16">
            <a:extLst>
              <a:ext uri="{FF2B5EF4-FFF2-40B4-BE49-F238E27FC236}">
                <a16:creationId xmlns:a16="http://schemas.microsoft.com/office/drawing/2014/main" id="{1438CC28-0EE2-4CDC-9395-EEEC897149B1}"/>
              </a:ext>
            </a:extLst>
          </p:cNvPr>
          <p:cNvCxnSpPr>
            <a:cxnSpLocks/>
            <a:stCxn id="14" idx="2"/>
          </p:cNvCxnSpPr>
          <p:nvPr/>
        </p:nvCxnSpPr>
        <p:spPr>
          <a:xfrm>
            <a:off x="9585144" y="4851118"/>
            <a:ext cx="279299" cy="385979"/>
          </a:xfrm>
          <a:prstGeom prst="straightConnector1">
            <a:avLst/>
          </a:prstGeom>
          <a:solidFill>
            <a:schemeClr val="lt1"/>
          </a:solidFill>
          <a:ln w="25400" cap="flat" cmpd="sng">
            <a:solidFill>
              <a:srgbClr val="BFBFBF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24" name="Google Shape;206;p16">
            <a:extLst>
              <a:ext uri="{FF2B5EF4-FFF2-40B4-BE49-F238E27FC236}">
                <a16:creationId xmlns:a16="http://schemas.microsoft.com/office/drawing/2014/main" id="{B0125477-4A15-4A28-9DD0-13C38C0BA8DD}"/>
              </a:ext>
            </a:extLst>
          </p:cNvPr>
          <p:cNvCxnSpPr>
            <a:cxnSpLocks/>
          </p:cNvCxnSpPr>
          <p:nvPr/>
        </p:nvCxnSpPr>
        <p:spPr>
          <a:xfrm flipH="1">
            <a:off x="8780106" y="4851118"/>
            <a:ext cx="587293" cy="385979"/>
          </a:xfrm>
          <a:prstGeom prst="straightConnector1">
            <a:avLst/>
          </a:prstGeom>
          <a:solidFill>
            <a:schemeClr val="lt1"/>
          </a:solidFill>
          <a:ln w="25400" cap="flat" cmpd="sng">
            <a:solidFill>
              <a:srgbClr val="BFBFBF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26" name="Google Shape;212;p16">
            <a:extLst>
              <a:ext uri="{FF2B5EF4-FFF2-40B4-BE49-F238E27FC236}">
                <a16:creationId xmlns:a16="http://schemas.microsoft.com/office/drawing/2014/main" id="{4CC209DA-93AD-4428-B115-352894CEBB63}"/>
              </a:ext>
            </a:extLst>
          </p:cNvPr>
          <p:cNvCxnSpPr>
            <a:cxnSpLocks/>
          </p:cNvCxnSpPr>
          <p:nvPr/>
        </p:nvCxnSpPr>
        <p:spPr>
          <a:xfrm flipH="1">
            <a:off x="7967482" y="2887838"/>
            <a:ext cx="863007" cy="636600"/>
          </a:xfrm>
          <a:prstGeom prst="straightConnector1">
            <a:avLst/>
          </a:prstGeom>
          <a:noFill/>
          <a:ln w="76200" cap="flat" cmpd="sng">
            <a:solidFill>
              <a:srgbClr val="00B050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816E406B-0084-451F-88B2-90A2770331DE}"/>
              </a:ext>
            </a:extLst>
          </p:cNvPr>
          <p:cNvSpPr txBox="1"/>
          <p:nvPr/>
        </p:nvSpPr>
        <p:spPr>
          <a:xfrm>
            <a:off x="558232" y="3631012"/>
            <a:ext cx="330744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</a:rPr>
              <a:t>body{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    color: </a:t>
            </a:r>
            <a:r>
              <a:rPr lang="en-US" sz="2000" dirty="0">
                <a:solidFill>
                  <a:srgbClr val="00B050"/>
                </a:solidFill>
                <a:latin typeface="Consolas" panose="020B0609020204030204" pitchFamily="49" charset="0"/>
              </a:rPr>
              <a:t>green</a:t>
            </a:r>
            <a:r>
              <a:rPr lang="en-US" sz="2000" dirty="0">
                <a:latin typeface="Consolas" panose="020B0609020204030204" pitchFamily="49" charset="0"/>
              </a:rPr>
              <a:t>;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}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0B25BE9F-ACA7-4655-8535-F5537F82721F}"/>
              </a:ext>
            </a:extLst>
          </p:cNvPr>
          <p:cNvCxnSpPr>
            <a:cxnSpLocks/>
          </p:cNvCxnSpPr>
          <p:nvPr/>
        </p:nvCxnSpPr>
        <p:spPr>
          <a:xfrm flipV="1">
            <a:off x="3731116" y="2887838"/>
            <a:ext cx="36113" cy="3479821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68559126-54E3-48F7-B97B-891114B1C5E4}"/>
              </a:ext>
            </a:extLst>
          </p:cNvPr>
          <p:cNvSpPr txBox="1"/>
          <p:nvPr/>
        </p:nvSpPr>
        <p:spPr>
          <a:xfrm>
            <a:off x="0" y="0"/>
            <a:ext cx="1714499" cy="369332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EXPLAIN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FD58B23-BF00-4031-8C9D-E945B77EAE9B}"/>
              </a:ext>
            </a:extLst>
          </p:cNvPr>
          <p:cNvSpPr txBox="1"/>
          <p:nvPr/>
        </p:nvSpPr>
        <p:spPr>
          <a:xfrm>
            <a:off x="2757103" y="222014"/>
            <a:ext cx="725147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i="0" u="none" strike="noStrike" cap="none" dirty="0">
                <a:solidFill>
                  <a:srgbClr val="000000"/>
                </a:solidFill>
                <a:ea typeface="Montserrat Black"/>
                <a:cs typeface="Montserrat Black"/>
                <a:sym typeface="Montserrat Black"/>
              </a:rPr>
              <a:t>Understanding CSS </a:t>
            </a:r>
            <a:r>
              <a:rPr lang="en-US" sz="4400" b="1" i="0" u="none" strike="noStrike" cap="none" dirty="0">
                <a:solidFill>
                  <a:srgbClr val="000000"/>
                </a:solidFill>
                <a:ea typeface="Montserrat Black"/>
                <a:cs typeface="Montserrat Black"/>
                <a:sym typeface="Montserrat Black"/>
              </a:rPr>
              <a:t>Inheritance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FC503DB-6654-432C-8AAA-7660CD3E794C}"/>
              </a:ext>
            </a:extLst>
          </p:cNvPr>
          <p:cNvSpPr txBox="1"/>
          <p:nvPr/>
        </p:nvSpPr>
        <p:spPr>
          <a:xfrm>
            <a:off x="1714499" y="1073389"/>
            <a:ext cx="939711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CSS inheritance is a mechanism that allows certain properties of </a:t>
            </a:r>
            <a:r>
              <a:rPr lang="en-US" sz="2000" b="1" dirty="0">
                <a:solidFill>
                  <a:srgbClr val="00B050"/>
                </a:solidFill>
              </a:rPr>
              <a:t>a parent element</a:t>
            </a:r>
            <a:r>
              <a:rPr lang="en-US" sz="2000" b="1" dirty="0"/>
              <a:t> </a:t>
            </a:r>
            <a:r>
              <a:rPr lang="en-US" sz="2000" dirty="0"/>
              <a:t>to be automatically inherited by its </a:t>
            </a:r>
            <a:r>
              <a:rPr lang="en-US" sz="2000" b="1" dirty="0">
                <a:solidFill>
                  <a:schemeClr val="accent4"/>
                </a:solidFill>
              </a:rPr>
              <a:t>child elements</a:t>
            </a: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D009876E-B645-4C61-A67A-28E92D1B1587}"/>
              </a:ext>
            </a:extLst>
          </p:cNvPr>
          <p:cNvSpPr/>
          <p:nvPr/>
        </p:nvSpPr>
        <p:spPr>
          <a:xfrm>
            <a:off x="5664685" y="4015410"/>
            <a:ext cx="6212294" cy="2071802"/>
          </a:xfrm>
          <a:custGeom>
            <a:avLst/>
            <a:gdLst>
              <a:gd name="connsiteX0" fmla="*/ 0 w 6212294"/>
              <a:gd name="connsiteY0" fmla="*/ 1035901 h 2071802"/>
              <a:gd name="connsiteX1" fmla="*/ 3106147 w 6212294"/>
              <a:gd name="connsiteY1" fmla="*/ 0 h 2071802"/>
              <a:gd name="connsiteX2" fmla="*/ 6212294 w 6212294"/>
              <a:gd name="connsiteY2" fmla="*/ 1035901 h 2071802"/>
              <a:gd name="connsiteX3" fmla="*/ 3106147 w 6212294"/>
              <a:gd name="connsiteY3" fmla="*/ 2071802 h 2071802"/>
              <a:gd name="connsiteX4" fmla="*/ 0 w 6212294"/>
              <a:gd name="connsiteY4" fmla="*/ 1035901 h 20718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212294" h="2071802" extrusionOk="0">
                <a:moveTo>
                  <a:pt x="0" y="1035901"/>
                </a:moveTo>
                <a:cubicBezTo>
                  <a:pt x="-101736" y="344155"/>
                  <a:pt x="1773415" y="-138965"/>
                  <a:pt x="3106147" y="0"/>
                </a:cubicBezTo>
                <a:cubicBezTo>
                  <a:pt x="4681172" y="78914"/>
                  <a:pt x="6263919" y="448384"/>
                  <a:pt x="6212294" y="1035901"/>
                </a:cubicBezTo>
                <a:cubicBezTo>
                  <a:pt x="6109680" y="1403427"/>
                  <a:pt x="4711867" y="2413327"/>
                  <a:pt x="3106147" y="2071802"/>
                </a:cubicBezTo>
                <a:cubicBezTo>
                  <a:pt x="1460372" y="1975645"/>
                  <a:pt x="113183" y="1598699"/>
                  <a:pt x="0" y="1035901"/>
                </a:cubicBezTo>
                <a:close/>
              </a:path>
            </a:pathLst>
          </a:custGeom>
          <a:noFill/>
          <a:ln w="38100">
            <a:solidFill>
              <a:schemeClr val="accent4"/>
            </a:solidFill>
            <a:prstDash val="dash"/>
            <a:extLst>
              <a:ext uri="{C807C97D-BFC1-408E-A445-0C87EB9F89A2}">
                <ask:lineSketchStyleProps xmlns:ask="http://schemas.microsoft.com/office/drawing/2018/sketchyshapes" sd="879248734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598E375-D7D5-419E-BCC4-A0DC021B2509}"/>
              </a:ext>
            </a:extLst>
          </p:cNvPr>
          <p:cNvSpPr txBox="1"/>
          <p:nvPr/>
        </p:nvSpPr>
        <p:spPr>
          <a:xfrm>
            <a:off x="8435474" y="2365829"/>
            <a:ext cx="37875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The body has the property color green</a:t>
            </a:r>
          </a:p>
        </p:txBody>
      </p:sp>
      <p:cxnSp>
        <p:nvCxnSpPr>
          <p:cNvPr id="41" name="Google Shape;212;p16">
            <a:extLst>
              <a:ext uri="{FF2B5EF4-FFF2-40B4-BE49-F238E27FC236}">
                <a16:creationId xmlns:a16="http://schemas.microsoft.com/office/drawing/2014/main" id="{B6C6AB93-3954-4C38-8F12-D41200239643}"/>
              </a:ext>
            </a:extLst>
          </p:cNvPr>
          <p:cNvCxnSpPr>
            <a:cxnSpLocks/>
          </p:cNvCxnSpPr>
          <p:nvPr/>
        </p:nvCxnSpPr>
        <p:spPr>
          <a:xfrm flipV="1">
            <a:off x="6435077" y="5689625"/>
            <a:ext cx="878955" cy="607819"/>
          </a:xfrm>
          <a:prstGeom prst="straightConnector1">
            <a:avLst/>
          </a:prstGeom>
          <a:noFill/>
          <a:ln w="76200" cap="flat" cmpd="sng">
            <a:solidFill>
              <a:schemeClr val="accent4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BA4A2BA4-7A42-4B8E-B218-5EF2AFF4E53C}"/>
              </a:ext>
            </a:extLst>
          </p:cNvPr>
          <p:cNvSpPr txBox="1"/>
          <p:nvPr/>
        </p:nvSpPr>
        <p:spPr>
          <a:xfrm>
            <a:off x="3688568" y="6230498"/>
            <a:ext cx="46220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4"/>
                </a:solidFill>
              </a:rPr>
              <a:t>All the inherited child will also get this property</a:t>
            </a:r>
          </a:p>
        </p:txBody>
      </p:sp>
    </p:spTree>
    <p:extLst>
      <p:ext uri="{BB962C8B-B14F-4D97-AF65-F5344CB8AC3E}">
        <p14:creationId xmlns:p14="http://schemas.microsoft.com/office/powerpoint/2010/main" val="4772067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8EB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oogle Shape;1757;p356">
            <a:extLst>
              <a:ext uri="{FF2B5EF4-FFF2-40B4-BE49-F238E27FC236}">
                <a16:creationId xmlns:a16="http://schemas.microsoft.com/office/drawing/2014/main" id="{3FDCD168-7BC4-4BF1-9483-BB0EE4A6CCC0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13795" y="2556379"/>
            <a:ext cx="1844675" cy="4124375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7A6835F-F766-483F-AD70-45FACE2F6AE4}"/>
              </a:ext>
            </a:extLst>
          </p:cNvPr>
          <p:cNvSpPr txBox="1"/>
          <p:nvPr/>
        </p:nvSpPr>
        <p:spPr>
          <a:xfrm>
            <a:off x="2421465" y="2748354"/>
            <a:ext cx="9249835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2000" dirty="0"/>
              <a:t>The teacher starts the quiz and clicks through the questions.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US" sz="2000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2000" dirty="0"/>
              <a:t>The students answer the questions within the given time.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US" sz="2000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2000" dirty="0"/>
              <a:t>At the end of the quiz, a leaderboard with the results for the entire group will be generated.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64E992-EBE3-425C-AB25-B06D6B2CCD58}"/>
              </a:ext>
            </a:extLst>
          </p:cNvPr>
          <p:cNvSpPr txBox="1"/>
          <p:nvPr/>
        </p:nvSpPr>
        <p:spPr>
          <a:xfrm>
            <a:off x="3975066" y="458014"/>
            <a:ext cx="4241867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0" b="1" dirty="0">
                <a:solidFill>
                  <a:schemeClr val="bg1"/>
                </a:solidFill>
              </a:rPr>
              <a:t>QUIZ !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2EBCDEB-BDF2-4515-9784-2459E1B21564}"/>
              </a:ext>
            </a:extLst>
          </p:cNvPr>
          <p:cNvSpPr txBox="1"/>
          <p:nvPr/>
        </p:nvSpPr>
        <p:spPr>
          <a:xfrm rot="20726345">
            <a:off x="7637176" y="5479711"/>
            <a:ext cx="3590919" cy="64633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none" rtlCol="0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ARE YOU READY ?</a:t>
            </a:r>
          </a:p>
        </p:txBody>
      </p:sp>
    </p:spTree>
    <p:extLst>
      <p:ext uri="{BB962C8B-B14F-4D97-AF65-F5344CB8AC3E}">
        <p14:creationId xmlns:p14="http://schemas.microsoft.com/office/powerpoint/2010/main" val="306122051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70;p23">
            <a:extLst>
              <a:ext uri="{FF2B5EF4-FFF2-40B4-BE49-F238E27FC236}">
                <a16:creationId xmlns:a16="http://schemas.microsoft.com/office/drawing/2014/main" id="{ED199BFF-0413-4D6F-AF5E-405F9E2D09F4}"/>
              </a:ext>
            </a:extLst>
          </p:cNvPr>
          <p:cNvSpPr txBox="1"/>
          <p:nvPr/>
        </p:nvSpPr>
        <p:spPr>
          <a:xfrm>
            <a:off x="2707481" y="1629524"/>
            <a:ext cx="6777037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chemeClr val="dk1"/>
              </a:buClr>
              <a:buSzPts val="2400"/>
            </a:pPr>
            <a:r>
              <a:rPr lang="en-US" sz="2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	p {</a:t>
            </a:r>
            <a:endParaRPr dirty="0"/>
          </a:p>
          <a:p>
            <a:pPr>
              <a:buClr>
                <a:schemeClr val="dk1"/>
              </a:buClr>
              <a:buSzPts val="2400"/>
            </a:pPr>
            <a:r>
              <a:rPr lang="en-US" sz="2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		font-family: sans-serif</a:t>
            </a:r>
            <a:endParaRPr dirty="0"/>
          </a:p>
          <a:p>
            <a:pPr>
              <a:buClr>
                <a:schemeClr val="dk1"/>
              </a:buClr>
              <a:buSzPts val="2400"/>
            </a:pPr>
            <a:r>
              <a:rPr lang="en-US" sz="2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	  }</a:t>
            </a:r>
            <a:endParaRPr dirty="0"/>
          </a:p>
        </p:txBody>
      </p:sp>
      <p:pic>
        <p:nvPicPr>
          <p:cNvPr id="25" name="Google Shape;272;p23">
            <a:extLst>
              <a:ext uri="{FF2B5EF4-FFF2-40B4-BE49-F238E27FC236}">
                <a16:creationId xmlns:a16="http://schemas.microsoft.com/office/drawing/2014/main" id="{454001AE-ECA3-4BA4-84D2-F5B879BAFB9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448049" y="3429000"/>
            <a:ext cx="5295900" cy="2752725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Google Shape;273;p23">
            <a:extLst>
              <a:ext uri="{FF2B5EF4-FFF2-40B4-BE49-F238E27FC236}">
                <a16:creationId xmlns:a16="http://schemas.microsoft.com/office/drawing/2014/main" id="{19412006-183C-4FE2-8E8C-E8509EFF8AAB}"/>
              </a:ext>
            </a:extLst>
          </p:cNvPr>
          <p:cNvSpPr txBox="1"/>
          <p:nvPr/>
        </p:nvSpPr>
        <p:spPr>
          <a:xfrm>
            <a:off x="2656113" y="508089"/>
            <a:ext cx="7953829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chemeClr val="dk1"/>
              </a:buClr>
              <a:buSzPts val="1800"/>
            </a:pPr>
            <a:r>
              <a:rPr lang="en-US" sz="4000" dirty="0">
                <a:solidFill>
                  <a:schemeClr val="dk1"/>
                </a:solidFill>
              </a:rPr>
              <a:t>Which elements will be Sans-Serif ?</a:t>
            </a:r>
            <a:endParaRPr sz="4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4DF44E7-A4E3-4FB0-952C-B635B5733775}"/>
              </a:ext>
            </a:extLst>
          </p:cNvPr>
          <p:cNvSpPr txBox="1"/>
          <p:nvPr/>
        </p:nvSpPr>
        <p:spPr>
          <a:xfrm>
            <a:off x="431800" y="446494"/>
            <a:ext cx="84991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/>
              <a:t>Q1</a:t>
            </a:r>
          </a:p>
        </p:txBody>
      </p:sp>
    </p:spTree>
    <p:extLst>
      <p:ext uri="{BB962C8B-B14F-4D97-AF65-F5344CB8AC3E}">
        <p14:creationId xmlns:p14="http://schemas.microsoft.com/office/powerpoint/2010/main" val="217741051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70;p23">
            <a:extLst>
              <a:ext uri="{FF2B5EF4-FFF2-40B4-BE49-F238E27FC236}">
                <a16:creationId xmlns:a16="http://schemas.microsoft.com/office/drawing/2014/main" id="{ED199BFF-0413-4D6F-AF5E-405F9E2D09F4}"/>
              </a:ext>
            </a:extLst>
          </p:cNvPr>
          <p:cNvSpPr txBox="1"/>
          <p:nvPr/>
        </p:nvSpPr>
        <p:spPr>
          <a:xfrm>
            <a:off x="2707481" y="1629524"/>
            <a:ext cx="6777037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chemeClr val="dk1"/>
              </a:buClr>
              <a:buSzPts val="2400"/>
            </a:pPr>
            <a:r>
              <a:rPr lang="en-US" sz="2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	p {</a:t>
            </a:r>
            <a:endParaRPr dirty="0"/>
          </a:p>
          <a:p>
            <a:pPr>
              <a:buClr>
                <a:schemeClr val="dk1"/>
              </a:buClr>
              <a:buSzPts val="2400"/>
            </a:pPr>
            <a:r>
              <a:rPr lang="en-US" sz="2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		font-family: sans-serif</a:t>
            </a:r>
            <a:endParaRPr dirty="0"/>
          </a:p>
          <a:p>
            <a:pPr>
              <a:buClr>
                <a:schemeClr val="dk1"/>
              </a:buClr>
              <a:buSzPts val="2400"/>
            </a:pPr>
            <a:r>
              <a:rPr lang="en-US" sz="2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	  }</a:t>
            </a:r>
            <a:endParaRPr dirty="0"/>
          </a:p>
        </p:txBody>
      </p:sp>
      <p:pic>
        <p:nvPicPr>
          <p:cNvPr id="25" name="Google Shape;272;p23">
            <a:extLst>
              <a:ext uri="{FF2B5EF4-FFF2-40B4-BE49-F238E27FC236}">
                <a16:creationId xmlns:a16="http://schemas.microsoft.com/office/drawing/2014/main" id="{454001AE-ECA3-4BA4-84D2-F5B879BAFB9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448049" y="3429000"/>
            <a:ext cx="5295900" cy="2752725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Google Shape;273;p23">
            <a:extLst>
              <a:ext uri="{FF2B5EF4-FFF2-40B4-BE49-F238E27FC236}">
                <a16:creationId xmlns:a16="http://schemas.microsoft.com/office/drawing/2014/main" id="{19412006-183C-4FE2-8E8C-E8509EFF8AAB}"/>
              </a:ext>
            </a:extLst>
          </p:cNvPr>
          <p:cNvSpPr txBox="1"/>
          <p:nvPr/>
        </p:nvSpPr>
        <p:spPr>
          <a:xfrm>
            <a:off x="2656113" y="508089"/>
            <a:ext cx="7953829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chemeClr val="dk1"/>
              </a:buClr>
              <a:buSzPts val="1800"/>
            </a:pPr>
            <a:r>
              <a:rPr lang="en-US" sz="4000" dirty="0">
                <a:solidFill>
                  <a:schemeClr val="dk1"/>
                </a:solidFill>
              </a:rPr>
              <a:t>Which elements will be Sans-Serif ?</a:t>
            </a:r>
            <a:endParaRPr sz="4000" dirty="0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036F22FD-402B-4043-A40B-69DD5A1E8E7B}"/>
              </a:ext>
            </a:extLst>
          </p:cNvPr>
          <p:cNvSpPr/>
          <p:nvPr/>
        </p:nvSpPr>
        <p:spPr>
          <a:xfrm>
            <a:off x="4676774" y="4800601"/>
            <a:ext cx="666751" cy="647700"/>
          </a:xfrm>
          <a:prstGeom prst="ellipse">
            <a:avLst/>
          </a:prstGeom>
          <a:noFill/>
          <a:ln w="762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D556A25-EDB2-451C-A35F-09733BC6ACB9}"/>
              </a:ext>
            </a:extLst>
          </p:cNvPr>
          <p:cNvSpPr/>
          <p:nvPr/>
        </p:nvSpPr>
        <p:spPr>
          <a:xfrm>
            <a:off x="5657849" y="4786313"/>
            <a:ext cx="666751" cy="647700"/>
          </a:xfrm>
          <a:prstGeom prst="ellipse">
            <a:avLst/>
          </a:prstGeom>
          <a:noFill/>
          <a:ln w="762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B202920-E911-41DB-B3F3-75A618A8674B}"/>
              </a:ext>
            </a:extLst>
          </p:cNvPr>
          <p:cNvSpPr/>
          <p:nvPr/>
        </p:nvSpPr>
        <p:spPr>
          <a:xfrm>
            <a:off x="4676774" y="5569743"/>
            <a:ext cx="666751" cy="647700"/>
          </a:xfrm>
          <a:prstGeom prst="ellipse">
            <a:avLst/>
          </a:prstGeom>
          <a:noFill/>
          <a:ln w="762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215EED5-CCBB-428B-BAB1-1D00B0C507A5}"/>
              </a:ext>
            </a:extLst>
          </p:cNvPr>
          <p:cNvSpPr/>
          <p:nvPr/>
        </p:nvSpPr>
        <p:spPr>
          <a:xfrm>
            <a:off x="5657849" y="5555455"/>
            <a:ext cx="666751" cy="647700"/>
          </a:xfrm>
          <a:prstGeom prst="ellipse">
            <a:avLst/>
          </a:prstGeom>
          <a:noFill/>
          <a:ln w="762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411869E-8BFD-4529-8417-209E75F1C9C5}"/>
              </a:ext>
            </a:extLst>
          </p:cNvPr>
          <p:cNvSpPr/>
          <p:nvPr/>
        </p:nvSpPr>
        <p:spPr>
          <a:xfrm>
            <a:off x="6762747" y="5594746"/>
            <a:ext cx="666751" cy="647700"/>
          </a:xfrm>
          <a:prstGeom prst="ellipse">
            <a:avLst/>
          </a:prstGeom>
          <a:noFill/>
          <a:ln w="762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1542EDA2-B12F-4C98-AFE2-186C76EF74A4}"/>
              </a:ext>
            </a:extLst>
          </p:cNvPr>
          <p:cNvSpPr/>
          <p:nvPr/>
        </p:nvSpPr>
        <p:spPr>
          <a:xfrm>
            <a:off x="7743822" y="5580458"/>
            <a:ext cx="666751" cy="647700"/>
          </a:xfrm>
          <a:prstGeom prst="ellipse">
            <a:avLst/>
          </a:prstGeom>
          <a:noFill/>
          <a:ln w="762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26AFBC0-1272-4F10-9059-FF21FC3FCCCB}"/>
              </a:ext>
            </a:extLst>
          </p:cNvPr>
          <p:cNvSpPr/>
          <p:nvPr/>
        </p:nvSpPr>
        <p:spPr>
          <a:xfrm>
            <a:off x="7743821" y="4786313"/>
            <a:ext cx="666751" cy="647700"/>
          </a:xfrm>
          <a:prstGeom prst="ellipse">
            <a:avLst/>
          </a:prstGeom>
          <a:noFill/>
          <a:ln w="762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D01EA07-0BC5-4AB5-917D-487742AD58CA}"/>
              </a:ext>
            </a:extLst>
          </p:cNvPr>
          <p:cNvSpPr txBox="1"/>
          <p:nvPr/>
        </p:nvSpPr>
        <p:spPr>
          <a:xfrm>
            <a:off x="431800" y="446494"/>
            <a:ext cx="84991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/>
              <a:t>Q1</a:t>
            </a:r>
          </a:p>
        </p:txBody>
      </p:sp>
    </p:spTree>
    <p:extLst>
      <p:ext uri="{BB962C8B-B14F-4D97-AF65-F5344CB8AC3E}">
        <p14:creationId xmlns:p14="http://schemas.microsoft.com/office/powerpoint/2010/main" val="289093454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Google Shape;272;p23">
            <a:extLst>
              <a:ext uri="{FF2B5EF4-FFF2-40B4-BE49-F238E27FC236}">
                <a16:creationId xmlns:a16="http://schemas.microsoft.com/office/drawing/2014/main" id="{454001AE-ECA3-4BA4-84D2-F5B879BAFB9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448050" y="3780667"/>
            <a:ext cx="5295900" cy="2752725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Google Shape;273;p23">
            <a:extLst>
              <a:ext uri="{FF2B5EF4-FFF2-40B4-BE49-F238E27FC236}">
                <a16:creationId xmlns:a16="http://schemas.microsoft.com/office/drawing/2014/main" id="{19412006-183C-4FE2-8E8C-E8509EFF8AAB}"/>
              </a:ext>
            </a:extLst>
          </p:cNvPr>
          <p:cNvSpPr txBox="1"/>
          <p:nvPr/>
        </p:nvSpPr>
        <p:spPr>
          <a:xfrm>
            <a:off x="2656113" y="508089"/>
            <a:ext cx="7953829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chemeClr val="dk1"/>
              </a:buClr>
              <a:buSzPts val="1800"/>
            </a:pPr>
            <a:r>
              <a:rPr lang="en-US" sz="4000" dirty="0">
                <a:solidFill>
                  <a:schemeClr val="dk1"/>
                </a:solidFill>
              </a:rPr>
              <a:t>Which elements will be green ?</a:t>
            </a:r>
            <a:endParaRPr sz="4000" dirty="0"/>
          </a:p>
        </p:txBody>
      </p:sp>
      <p:sp>
        <p:nvSpPr>
          <p:cNvPr id="6" name="Google Shape;279;p24">
            <a:extLst>
              <a:ext uri="{FF2B5EF4-FFF2-40B4-BE49-F238E27FC236}">
                <a16:creationId xmlns:a16="http://schemas.microsoft.com/office/drawing/2014/main" id="{9F507666-6910-4B89-B358-2109E44E9F36}"/>
              </a:ext>
            </a:extLst>
          </p:cNvPr>
          <p:cNvSpPr txBox="1"/>
          <p:nvPr/>
        </p:nvSpPr>
        <p:spPr>
          <a:xfrm>
            <a:off x="4286022" y="1500278"/>
            <a:ext cx="3889375" cy="2308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>
              <a:defRPr lang="fr-FR"/>
            </a:defPPr>
            <a:lvl1pPr>
              <a:buClr>
                <a:schemeClr val="dk1"/>
              </a:buClr>
              <a:buSzPts val="2400"/>
              <a:defRPr sz="2400">
                <a:solidFill>
                  <a:schemeClr val="dk1"/>
                </a:solidFill>
                <a:latin typeface="Consolas"/>
                <a:ea typeface="Consolas"/>
                <a:cs typeface="Consolas"/>
              </a:defRPr>
            </a:lvl1pPr>
          </a:lstStyle>
          <a:p>
            <a:r>
              <a:rPr lang="en-US" dirty="0">
                <a:sym typeface="Consolas"/>
              </a:rPr>
              <a:t>body {</a:t>
            </a:r>
            <a:endParaRPr dirty="0"/>
          </a:p>
          <a:p>
            <a:r>
              <a:rPr lang="en-US" dirty="0">
                <a:sym typeface="Consolas"/>
              </a:rPr>
              <a:t>	color: green;	</a:t>
            </a:r>
            <a:endParaRPr dirty="0"/>
          </a:p>
          <a:p>
            <a:r>
              <a:rPr lang="en-US" dirty="0">
                <a:sym typeface="Consolas"/>
              </a:rPr>
              <a:t>}</a:t>
            </a:r>
            <a:endParaRPr dirty="0"/>
          </a:p>
          <a:p>
            <a:r>
              <a:rPr lang="en-US" dirty="0">
                <a:sym typeface="Consolas"/>
              </a:rPr>
              <a:t>p {</a:t>
            </a:r>
            <a:endParaRPr dirty="0"/>
          </a:p>
          <a:p>
            <a:r>
              <a:rPr lang="en-US" dirty="0">
                <a:sym typeface="Consolas"/>
              </a:rPr>
              <a:t>	color: black;</a:t>
            </a:r>
          </a:p>
          <a:p>
            <a:r>
              <a:rPr lang="en-US" dirty="0">
                <a:sym typeface="Consolas"/>
              </a:rPr>
              <a:t>}		</a:t>
            </a:r>
            <a:endParaRPr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125D418-B25F-4363-8FE7-0CE724ABE354}"/>
              </a:ext>
            </a:extLst>
          </p:cNvPr>
          <p:cNvSpPr txBox="1"/>
          <p:nvPr/>
        </p:nvSpPr>
        <p:spPr>
          <a:xfrm>
            <a:off x="431800" y="446494"/>
            <a:ext cx="84991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/>
              <a:t>Q2</a:t>
            </a:r>
          </a:p>
        </p:txBody>
      </p:sp>
    </p:spTree>
    <p:extLst>
      <p:ext uri="{BB962C8B-B14F-4D97-AF65-F5344CB8AC3E}">
        <p14:creationId xmlns:p14="http://schemas.microsoft.com/office/powerpoint/2010/main" val="328499159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Google Shape;272;p23">
            <a:extLst>
              <a:ext uri="{FF2B5EF4-FFF2-40B4-BE49-F238E27FC236}">
                <a16:creationId xmlns:a16="http://schemas.microsoft.com/office/drawing/2014/main" id="{454001AE-ECA3-4BA4-84D2-F5B879BAFB9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448050" y="3780667"/>
            <a:ext cx="5295900" cy="2752725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Google Shape;273;p23">
            <a:extLst>
              <a:ext uri="{FF2B5EF4-FFF2-40B4-BE49-F238E27FC236}">
                <a16:creationId xmlns:a16="http://schemas.microsoft.com/office/drawing/2014/main" id="{19412006-183C-4FE2-8E8C-E8509EFF8AAB}"/>
              </a:ext>
            </a:extLst>
          </p:cNvPr>
          <p:cNvSpPr txBox="1"/>
          <p:nvPr/>
        </p:nvSpPr>
        <p:spPr>
          <a:xfrm>
            <a:off x="2656113" y="508089"/>
            <a:ext cx="7953829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chemeClr val="dk1"/>
              </a:buClr>
              <a:buSzPts val="1800"/>
            </a:pPr>
            <a:r>
              <a:rPr lang="en-US" sz="4000" dirty="0">
                <a:solidFill>
                  <a:schemeClr val="dk1"/>
                </a:solidFill>
              </a:rPr>
              <a:t>Which elements will be green ?</a:t>
            </a:r>
            <a:endParaRPr sz="4000" dirty="0"/>
          </a:p>
        </p:txBody>
      </p:sp>
      <p:sp>
        <p:nvSpPr>
          <p:cNvPr id="6" name="Google Shape;279;p24">
            <a:extLst>
              <a:ext uri="{FF2B5EF4-FFF2-40B4-BE49-F238E27FC236}">
                <a16:creationId xmlns:a16="http://schemas.microsoft.com/office/drawing/2014/main" id="{9F507666-6910-4B89-B358-2109E44E9F36}"/>
              </a:ext>
            </a:extLst>
          </p:cNvPr>
          <p:cNvSpPr txBox="1"/>
          <p:nvPr/>
        </p:nvSpPr>
        <p:spPr>
          <a:xfrm>
            <a:off x="4286022" y="1500278"/>
            <a:ext cx="3889375" cy="2308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>
              <a:defRPr lang="fr-FR"/>
            </a:defPPr>
            <a:lvl1pPr>
              <a:buClr>
                <a:schemeClr val="dk1"/>
              </a:buClr>
              <a:buSzPts val="2400"/>
              <a:defRPr sz="2400">
                <a:solidFill>
                  <a:schemeClr val="dk1"/>
                </a:solidFill>
                <a:latin typeface="Consolas"/>
                <a:ea typeface="Consolas"/>
                <a:cs typeface="Consolas"/>
              </a:defRPr>
            </a:lvl1pPr>
          </a:lstStyle>
          <a:p>
            <a:r>
              <a:rPr lang="en-US" dirty="0">
                <a:sym typeface="Consolas"/>
              </a:rPr>
              <a:t>body {</a:t>
            </a:r>
            <a:endParaRPr dirty="0"/>
          </a:p>
          <a:p>
            <a:r>
              <a:rPr lang="en-US" dirty="0">
                <a:sym typeface="Consolas"/>
              </a:rPr>
              <a:t>	color: green;	</a:t>
            </a:r>
            <a:endParaRPr dirty="0"/>
          </a:p>
          <a:p>
            <a:r>
              <a:rPr lang="en-US" dirty="0">
                <a:sym typeface="Consolas"/>
              </a:rPr>
              <a:t>}</a:t>
            </a:r>
            <a:endParaRPr dirty="0"/>
          </a:p>
          <a:p>
            <a:r>
              <a:rPr lang="en-US" dirty="0">
                <a:sym typeface="Consolas"/>
              </a:rPr>
              <a:t>p {</a:t>
            </a:r>
            <a:endParaRPr dirty="0"/>
          </a:p>
          <a:p>
            <a:r>
              <a:rPr lang="en-US" dirty="0">
                <a:sym typeface="Consolas"/>
              </a:rPr>
              <a:t>	color: black;</a:t>
            </a:r>
          </a:p>
          <a:p>
            <a:r>
              <a:rPr lang="en-US" dirty="0">
                <a:sym typeface="Consolas"/>
              </a:rPr>
              <a:t>}		</a:t>
            </a:r>
            <a:endParaRPr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A20ACFB-0619-4CE9-91C3-040B94126E23}"/>
              </a:ext>
            </a:extLst>
          </p:cNvPr>
          <p:cNvSpPr/>
          <p:nvPr/>
        </p:nvSpPr>
        <p:spPr>
          <a:xfrm>
            <a:off x="3619271" y="5157029"/>
            <a:ext cx="666751" cy="647700"/>
          </a:xfrm>
          <a:prstGeom prst="ellipse">
            <a:avLst/>
          </a:prstGeom>
          <a:noFill/>
          <a:ln w="762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8E8A501E-68D2-4674-B767-008AD95C8E01}"/>
              </a:ext>
            </a:extLst>
          </p:cNvPr>
          <p:cNvSpPr/>
          <p:nvPr/>
        </p:nvSpPr>
        <p:spPr>
          <a:xfrm>
            <a:off x="5659738" y="4450891"/>
            <a:ext cx="666751" cy="647700"/>
          </a:xfrm>
          <a:prstGeom prst="ellipse">
            <a:avLst/>
          </a:prstGeom>
          <a:noFill/>
          <a:ln w="762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9061616-1376-4D35-B46D-25FC87C58C2D}"/>
              </a:ext>
            </a:extLst>
          </p:cNvPr>
          <p:cNvSpPr/>
          <p:nvPr/>
        </p:nvSpPr>
        <p:spPr>
          <a:xfrm>
            <a:off x="6794271" y="5098591"/>
            <a:ext cx="666751" cy="647700"/>
          </a:xfrm>
          <a:prstGeom prst="ellipse">
            <a:avLst/>
          </a:prstGeom>
          <a:noFill/>
          <a:ln w="762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245119B-B1E4-4FDD-86FA-1F3CA1806FEA}"/>
              </a:ext>
            </a:extLst>
          </p:cNvPr>
          <p:cNvSpPr txBox="1"/>
          <p:nvPr/>
        </p:nvSpPr>
        <p:spPr>
          <a:xfrm>
            <a:off x="431800" y="446494"/>
            <a:ext cx="84991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/>
              <a:t>Q2</a:t>
            </a:r>
          </a:p>
        </p:txBody>
      </p:sp>
    </p:spTree>
    <p:extLst>
      <p:ext uri="{BB962C8B-B14F-4D97-AF65-F5344CB8AC3E}">
        <p14:creationId xmlns:p14="http://schemas.microsoft.com/office/powerpoint/2010/main" val="236654529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extBox 3">
            <a:extLst>
              <a:ext uri="{FF2B5EF4-FFF2-40B4-BE49-F238E27FC236}">
                <a16:creationId xmlns:a16="http://schemas.microsoft.com/office/drawing/2014/main" id="{050D484F-1EC7-47DC-AAB6-15CFCE87CD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22639" y="333375"/>
            <a:ext cx="4486741" cy="4770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22BBEA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22BBEA"/>
              </a:buClr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22BBEA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22BBEA"/>
              </a:buClr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22BBEA"/>
              </a:buClr>
              <a:buFont typeface="Wingdings" panose="05000000000000000000" pitchFamily="2" charset="2"/>
              <a:buChar char="v"/>
              <a:defRPr sz="1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2BBEA"/>
              </a:buClr>
              <a:buFont typeface="Wingdings" panose="05000000000000000000" pitchFamily="2" charset="2"/>
              <a:buChar char="v"/>
              <a:defRPr sz="1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2BBEA"/>
              </a:buClr>
              <a:buFont typeface="Wingdings" panose="05000000000000000000" pitchFamily="2" charset="2"/>
              <a:buChar char="v"/>
              <a:defRPr sz="1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2BBEA"/>
              </a:buClr>
              <a:buFont typeface="Wingdings" panose="05000000000000000000" pitchFamily="2" charset="2"/>
              <a:buChar char="v"/>
              <a:defRPr sz="1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2BBEA"/>
              </a:buClr>
              <a:buFont typeface="Wingdings" panose="05000000000000000000" pitchFamily="2" charset="2"/>
              <a:buChar char="v"/>
              <a:defRPr sz="1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fr-FR" sz="2500" dirty="0">
                <a:latin typeface="DJB Miss Molly Brown" pitchFamily="2" charset="0"/>
                <a:cs typeface="Arial" panose="020B0604020202020204" pitchFamily="34" charset="0"/>
              </a:rPr>
              <a:t>What will be the color of my h1 ?</a:t>
            </a:r>
          </a:p>
        </p:txBody>
      </p:sp>
      <p:sp>
        <p:nvSpPr>
          <p:cNvPr id="17411" name="TextBox 2">
            <a:extLst>
              <a:ext uri="{FF2B5EF4-FFF2-40B4-BE49-F238E27FC236}">
                <a16:creationId xmlns:a16="http://schemas.microsoft.com/office/drawing/2014/main" id="{F4C5B28F-EA7E-42F8-8AA6-12C0F55DC0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1675" y="4508501"/>
            <a:ext cx="1741488" cy="415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22BBEA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22BBEA"/>
              </a:buClr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22BBEA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22BBEA"/>
              </a:buClr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22BBEA"/>
              </a:buClr>
              <a:buFont typeface="Wingdings" panose="05000000000000000000" pitchFamily="2" charset="2"/>
              <a:buChar char="v"/>
              <a:defRPr sz="1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2BBEA"/>
              </a:buClr>
              <a:buFont typeface="Wingdings" panose="05000000000000000000" pitchFamily="2" charset="2"/>
              <a:buChar char="v"/>
              <a:defRPr sz="1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2BBEA"/>
              </a:buClr>
              <a:buFont typeface="Wingdings" panose="05000000000000000000" pitchFamily="2" charset="2"/>
              <a:buChar char="v"/>
              <a:defRPr sz="1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2BBEA"/>
              </a:buClr>
              <a:buFont typeface="Wingdings" panose="05000000000000000000" pitchFamily="2" charset="2"/>
              <a:buChar char="v"/>
              <a:defRPr sz="1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2BBEA"/>
              </a:buClr>
              <a:buFont typeface="Wingdings" panose="05000000000000000000" pitchFamily="2" charset="2"/>
              <a:buChar char="v"/>
              <a:defRPr sz="1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fr-FR" sz="2100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blue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0BFD7845-355E-40FB-AF9D-E4D929463844}"/>
              </a:ext>
            </a:extLst>
          </p:cNvPr>
          <p:cNvSpPr/>
          <p:nvPr/>
        </p:nvSpPr>
        <p:spPr>
          <a:xfrm>
            <a:off x="2460625" y="4581525"/>
            <a:ext cx="685800" cy="6858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3600" dirty="0"/>
              <a:t>1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317C9AD-68BA-4D0C-B506-D0436BC8BA9F}"/>
              </a:ext>
            </a:extLst>
          </p:cNvPr>
          <p:cNvSpPr/>
          <p:nvPr/>
        </p:nvSpPr>
        <p:spPr>
          <a:xfrm>
            <a:off x="2460625" y="5878513"/>
            <a:ext cx="685800" cy="6858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3600" dirty="0"/>
              <a:t>2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FF04DF69-0B97-47F5-A4C6-D5B9483E5D46}"/>
              </a:ext>
            </a:extLst>
          </p:cNvPr>
          <p:cNvSpPr/>
          <p:nvPr/>
        </p:nvSpPr>
        <p:spPr>
          <a:xfrm>
            <a:off x="6521450" y="4610100"/>
            <a:ext cx="685800" cy="6858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3600" dirty="0"/>
              <a:t>3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AF72639B-70AB-4B3D-B2AF-0D42A353DF6C}"/>
              </a:ext>
            </a:extLst>
          </p:cNvPr>
          <p:cNvSpPr/>
          <p:nvPr/>
        </p:nvSpPr>
        <p:spPr>
          <a:xfrm>
            <a:off x="6521450" y="5864225"/>
            <a:ext cx="685800" cy="6858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3600" dirty="0"/>
              <a:t>4</a:t>
            </a:r>
          </a:p>
        </p:txBody>
      </p:sp>
      <p:sp>
        <p:nvSpPr>
          <p:cNvPr id="17416" name="TextBox 2">
            <a:extLst>
              <a:ext uri="{FF2B5EF4-FFF2-40B4-BE49-F238E27FC236}">
                <a16:creationId xmlns:a16="http://schemas.microsoft.com/office/drawing/2014/main" id="{BC1CF953-E235-47C8-87A0-07E5098F11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97250" y="5935664"/>
            <a:ext cx="1741488" cy="414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22BBEA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22BBEA"/>
              </a:buClr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22BBEA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22BBEA"/>
              </a:buClr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22BBEA"/>
              </a:buClr>
              <a:buFont typeface="Wingdings" panose="05000000000000000000" pitchFamily="2" charset="2"/>
              <a:buChar char="v"/>
              <a:defRPr sz="1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2BBEA"/>
              </a:buClr>
              <a:buFont typeface="Wingdings" panose="05000000000000000000" pitchFamily="2" charset="2"/>
              <a:buChar char="v"/>
              <a:defRPr sz="1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2BBEA"/>
              </a:buClr>
              <a:buFont typeface="Wingdings" panose="05000000000000000000" pitchFamily="2" charset="2"/>
              <a:buChar char="v"/>
              <a:defRPr sz="1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2BBEA"/>
              </a:buClr>
              <a:buFont typeface="Wingdings" panose="05000000000000000000" pitchFamily="2" charset="2"/>
              <a:buChar char="v"/>
              <a:defRPr sz="1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2BBEA"/>
              </a:buClr>
              <a:buFont typeface="Wingdings" panose="05000000000000000000" pitchFamily="2" charset="2"/>
              <a:buChar char="v"/>
              <a:defRPr sz="1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fr-FR" sz="2100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green</a:t>
            </a:r>
          </a:p>
        </p:txBody>
      </p:sp>
      <p:sp>
        <p:nvSpPr>
          <p:cNvPr id="17417" name="TextBox 2">
            <a:extLst>
              <a:ext uri="{FF2B5EF4-FFF2-40B4-BE49-F238E27FC236}">
                <a16:creationId xmlns:a16="http://schemas.microsoft.com/office/drawing/2014/main" id="{2ADA513C-507B-49D5-9D1F-061DA55B3E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43814" y="4581526"/>
            <a:ext cx="1741487" cy="415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22BBEA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22BBEA"/>
              </a:buClr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22BBEA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22BBEA"/>
              </a:buClr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22BBEA"/>
              </a:buClr>
              <a:buFont typeface="Wingdings" panose="05000000000000000000" pitchFamily="2" charset="2"/>
              <a:buChar char="v"/>
              <a:defRPr sz="1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2BBEA"/>
              </a:buClr>
              <a:buFont typeface="Wingdings" panose="05000000000000000000" pitchFamily="2" charset="2"/>
              <a:buChar char="v"/>
              <a:defRPr sz="1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2BBEA"/>
              </a:buClr>
              <a:buFont typeface="Wingdings" panose="05000000000000000000" pitchFamily="2" charset="2"/>
              <a:buChar char="v"/>
              <a:defRPr sz="1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2BBEA"/>
              </a:buClr>
              <a:buFont typeface="Wingdings" panose="05000000000000000000" pitchFamily="2" charset="2"/>
              <a:buChar char="v"/>
              <a:defRPr sz="1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2BBEA"/>
              </a:buClr>
              <a:buFont typeface="Wingdings" panose="05000000000000000000" pitchFamily="2" charset="2"/>
              <a:buChar char="v"/>
              <a:defRPr sz="1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fr-FR" sz="2100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orange</a:t>
            </a:r>
          </a:p>
        </p:txBody>
      </p:sp>
      <p:sp>
        <p:nvSpPr>
          <p:cNvPr id="17418" name="TextBox 2">
            <a:extLst>
              <a:ext uri="{FF2B5EF4-FFF2-40B4-BE49-F238E27FC236}">
                <a16:creationId xmlns:a16="http://schemas.microsoft.com/office/drawing/2014/main" id="{9C9E7B54-70DB-4C2F-BBCF-49C5070943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43814" y="5935664"/>
            <a:ext cx="1741487" cy="414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22BBEA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22BBEA"/>
              </a:buClr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22BBEA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22BBEA"/>
              </a:buClr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22BBEA"/>
              </a:buClr>
              <a:buFont typeface="Wingdings" panose="05000000000000000000" pitchFamily="2" charset="2"/>
              <a:buChar char="v"/>
              <a:defRPr sz="1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2BBEA"/>
              </a:buClr>
              <a:buFont typeface="Wingdings" panose="05000000000000000000" pitchFamily="2" charset="2"/>
              <a:buChar char="v"/>
              <a:defRPr sz="1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2BBEA"/>
              </a:buClr>
              <a:buFont typeface="Wingdings" panose="05000000000000000000" pitchFamily="2" charset="2"/>
              <a:buChar char="v"/>
              <a:defRPr sz="1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2BBEA"/>
              </a:buClr>
              <a:buFont typeface="Wingdings" panose="05000000000000000000" pitchFamily="2" charset="2"/>
              <a:buChar char="v"/>
              <a:defRPr sz="1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2BBEA"/>
              </a:buClr>
              <a:buFont typeface="Wingdings" panose="05000000000000000000" pitchFamily="2" charset="2"/>
              <a:buChar char="v"/>
              <a:defRPr sz="1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fr-FR" sz="2100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All colors</a:t>
            </a:r>
          </a:p>
        </p:txBody>
      </p:sp>
      <p:sp>
        <p:nvSpPr>
          <p:cNvPr id="17422" name="TextBox 2">
            <a:extLst>
              <a:ext uri="{FF2B5EF4-FFF2-40B4-BE49-F238E27FC236}">
                <a16:creationId xmlns:a16="http://schemas.microsoft.com/office/drawing/2014/main" id="{A9663C13-97C9-43DE-B627-7830CD1458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33194" y="1173163"/>
            <a:ext cx="3168650" cy="2862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22BBEA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22BBEA"/>
              </a:buClr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22BBEA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22BBEA"/>
              </a:buClr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22BBEA"/>
              </a:buClr>
              <a:buFont typeface="Wingdings" panose="05000000000000000000" pitchFamily="2" charset="2"/>
              <a:buChar char="v"/>
              <a:defRPr sz="1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2BBEA"/>
              </a:buClr>
              <a:buFont typeface="Wingdings" panose="05000000000000000000" pitchFamily="2" charset="2"/>
              <a:buChar char="v"/>
              <a:defRPr sz="1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2BBEA"/>
              </a:buClr>
              <a:buFont typeface="Wingdings" panose="05000000000000000000" pitchFamily="2" charset="2"/>
              <a:buChar char="v"/>
              <a:defRPr sz="1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2BBEA"/>
              </a:buClr>
              <a:buFont typeface="Wingdings" panose="05000000000000000000" pitchFamily="2" charset="2"/>
              <a:buChar char="v"/>
              <a:defRPr sz="1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2BBEA"/>
              </a:buClr>
              <a:buFont typeface="Wingdings" panose="05000000000000000000" pitchFamily="2" charset="2"/>
              <a:buChar char="v"/>
              <a:defRPr sz="1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fr-FR" altLang="fr-FR" sz="1800" b="1" dirty="0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h1</a:t>
            </a:r>
            <a:r>
              <a:rPr lang="fr-FR" altLang="fr-FR" sz="1800" dirty="0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pPr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fr-FR" altLang="fr-FR" sz="1800" dirty="0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fr-FR" altLang="fr-FR" sz="1800" dirty="0" err="1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color</a:t>
            </a:r>
            <a:r>
              <a:rPr lang="fr-FR" altLang="fr-FR" sz="1800" dirty="0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= green;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fr-FR" altLang="fr-FR" sz="1800" dirty="0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endParaRPr lang="en-US" altLang="fr-FR" sz="1800" dirty="0">
              <a:latin typeface="Consolas" panose="020B0609020204030204" pitchFamily="49" charset="0"/>
              <a:ea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fr-FR" sz="1800" dirty="0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#</a:t>
            </a:r>
            <a:r>
              <a:rPr lang="en-US" altLang="fr-FR" sz="1800" b="1" dirty="0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id1</a:t>
            </a:r>
            <a:r>
              <a:rPr lang="en-US" altLang="fr-FR" sz="1800" dirty="0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{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fr-FR" altLang="fr-FR" sz="1800" dirty="0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fr-FR" altLang="fr-FR" sz="1800" dirty="0" err="1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color</a:t>
            </a:r>
            <a:r>
              <a:rPr lang="fr-FR" altLang="fr-FR" sz="1800" dirty="0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fr-FR" altLang="fr-FR" sz="1800" dirty="0" err="1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blue</a:t>
            </a:r>
            <a:r>
              <a:rPr lang="fr-FR" altLang="fr-FR" sz="1800" dirty="0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en-US" altLang="fr-FR" sz="1800" dirty="0">
              <a:latin typeface="Consolas" panose="020B0609020204030204" pitchFamily="49" charset="0"/>
              <a:ea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fr-FR" altLang="fr-FR" sz="1800" dirty="0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en-US" altLang="fr-FR" sz="1800" dirty="0">
              <a:latin typeface="Consolas" panose="020B0609020204030204" pitchFamily="49" charset="0"/>
              <a:ea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fr-FR" sz="1800" dirty="0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altLang="fr-FR" sz="1800" b="1" dirty="0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orange</a:t>
            </a:r>
            <a:r>
              <a:rPr lang="en-US" altLang="fr-FR" sz="1800" dirty="0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fr-FR" altLang="fr-FR" sz="1800" dirty="0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fr-FR" altLang="fr-FR" sz="1800" dirty="0" err="1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color</a:t>
            </a:r>
            <a:r>
              <a:rPr lang="fr-FR" altLang="fr-FR" sz="1800" dirty="0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= orange;</a:t>
            </a:r>
            <a:endParaRPr lang="en-US" altLang="fr-FR" sz="1800" dirty="0">
              <a:latin typeface="Consolas" panose="020B0609020204030204" pitchFamily="49" charset="0"/>
              <a:ea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fr-FR" altLang="fr-FR" sz="1800" dirty="0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en-US" altLang="fr-FR" sz="1800" dirty="0">
              <a:latin typeface="Consolas" panose="020B0609020204030204" pitchFamily="49" charset="0"/>
              <a:ea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6D2987D-0646-4BB9-B0C4-DE57AFC9B972}"/>
              </a:ext>
            </a:extLst>
          </p:cNvPr>
          <p:cNvSpPr txBox="1"/>
          <p:nvPr/>
        </p:nvSpPr>
        <p:spPr>
          <a:xfrm>
            <a:off x="431800" y="446494"/>
            <a:ext cx="84991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/>
              <a:t>Q3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1FD8A27-FA91-48E2-903A-25419576C280}"/>
              </a:ext>
            </a:extLst>
          </p:cNvPr>
          <p:cNvSpPr/>
          <p:nvPr/>
        </p:nvSpPr>
        <p:spPr>
          <a:xfrm>
            <a:off x="1281713" y="1887834"/>
            <a:ext cx="6693424" cy="923330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&lt;body&gt;</a:t>
            </a:r>
          </a:p>
          <a:p>
            <a:r>
              <a:rPr lang="en-US" dirty="0">
                <a:latin typeface="Consolas" panose="020B0609020204030204" pitchFamily="49" charset="0"/>
              </a:rPr>
              <a:t>    &lt;h1 id=“id1” class=“orange”&gt;Hello&lt;/h1&gt; </a:t>
            </a:r>
          </a:p>
          <a:p>
            <a:r>
              <a:rPr lang="en-US" dirty="0">
                <a:latin typeface="Consolas" panose="020B0609020204030204" pitchFamily="49" charset="0"/>
              </a:rPr>
              <a:t>&lt;/body&gt;</a:t>
            </a:r>
            <a:endParaRPr lang="en-US" dirty="0">
              <a:effectLst/>
              <a:latin typeface="Consolas" panose="020B0609020204030204" pitchFamily="49" charset="0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FEC6FE4-8310-4D7C-8990-F12F948570AE}"/>
              </a:ext>
            </a:extLst>
          </p:cNvPr>
          <p:cNvCxnSpPr>
            <a:cxnSpLocks/>
          </p:cNvCxnSpPr>
          <p:nvPr/>
        </p:nvCxnSpPr>
        <p:spPr>
          <a:xfrm>
            <a:off x="7207250" y="1088845"/>
            <a:ext cx="0" cy="2946581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extBox 3">
            <a:extLst>
              <a:ext uri="{FF2B5EF4-FFF2-40B4-BE49-F238E27FC236}">
                <a16:creationId xmlns:a16="http://schemas.microsoft.com/office/drawing/2014/main" id="{050D484F-1EC7-47DC-AAB6-15CFCE87CD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22639" y="333375"/>
            <a:ext cx="4486741" cy="4770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22BBEA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22BBEA"/>
              </a:buClr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22BBEA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22BBEA"/>
              </a:buClr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22BBEA"/>
              </a:buClr>
              <a:buFont typeface="Wingdings" panose="05000000000000000000" pitchFamily="2" charset="2"/>
              <a:buChar char="v"/>
              <a:defRPr sz="1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2BBEA"/>
              </a:buClr>
              <a:buFont typeface="Wingdings" panose="05000000000000000000" pitchFamily="2" charset="2"/>
              <a:buChar char="v"/>
              <a:defRPr sz="1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2BBEA"/>
              </a:buClr>
              <a:buFont typeface="Wingdings" panose="05000000000000000000" pitchFamily="2" charset="2"/>
              <a:buChar char="v"/>
              <a:defRPr sz="1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2BBEA"/>
              </a:buClr>
              <a:buFont typeface="Wingdings" panose="05000000000000000000" pitchFamily="2" charset="2"/>
              <a:buChar char="v"/>
              <a:defRPr sz="1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2BBEA"/>
              </a:buClr>
              <a:buFont typeface="Wingdings" panose="05000000000000000000" pitchFamily="2" charset="2"/>
              <a:buChar char="v"/>
              <a:defRPr sz="1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fr-FR" sz="2500" dirty="0">
                <a:latin typeface="DJB Miss Molly Brown" pitchFamily="2" charset="0"/>
                <a:cs typeface="Arial" panose="020B0604020202020204" pitchFamily="34" charset="0"/>
              </a:rPr>
              <a:t>What will be the color of my h1 ?</a:t>
            </a:r>
          </a:p>
        </p:txBody>
      </p:sp>
      <p:sp>
        <p:nvSpPr>
          <p:cNvPr id="17411" name="TextBox 2">
            <a:extLst>
              <a:ext uri="{FF2B5EF4-FFF2-40B4-BE49-F238E27FC236}">
                <a16:creationId xmlns:a16="http://schemas.microsoft.com/office/drawing/2014/main" id="{F4C5B28F-EA7E-42F8-8AA6-12C0F55DC0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1675" y="4508501"/>
            <a:ext cx="1741488" cy="415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22BBEA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22BBEA"/>
              </a:buClr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22BBEA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22BBEA"/>
              </a:buClr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22BBEA"/>
              </a:buClr>
              <a:buFont typeface="Wingdings" panose="05000000000000000000" pitchFamily="2" charset="2"/>
              <a:buChar char="v"/>
              <a:defRPr sz="1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2BBEA"/>
              </a:buClr>
              <a:buFont typeface="Wingdings" panose="05000000000000000000" pitchFamily="2" charset="2"/>
              <a:buChar char="v"/>
              <a:defRPr sz="1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2BBEA"/>
              </a:buClr>
              <a:buFont typeface="Wingdings" panose="05000000000000000000" pitchFamily="2" charset="2"/>
              <a:buChar char="v"/>
              <a:defRPr sz="1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2BBEA"/>
              </a:buClr>
              <a:buFont typeface="Wingdings" panose="05000000000000000000" pitchFamily="2" charset="2"/>
              <a:buChar char="v"/>
              <a:defRPr sz="1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2BBEA"/>
              </a:buClr>
              <a:buFont typeface="Wingdings" panose="05000000000000000000" pitchFamily="2" charset="2"/>
              <a:buChar char="v"/>
              <a:defRPr sz="1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fr-FR" sz="2100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blue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0BFD7845-355E-40FB-AF9D-E4D929463844}"/>
              </a:ext>
            </a:extLst>
          </p:cNvPr>
          <p:cNvSpPr/>
          <p:nvPr/>
        </p:nvSpPr>
        <p:spPr>
          <a:xfrm>
            <a:off x="2460625" y="4581525"/>
            <a:ext cx="685800" cy="6858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3600" dirty="0"/>
              <a:t>1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317C9AD-68BA-4D0C-B506-D0436BC8BA9F}"/>
              </a:ext>
            </a:extLst>
          </p:cNvPr>
          <p:cNvSpPr/>
          <p:nvPr/>
        </p:nvSpPr>
        <p:spPr>
          <a:xfrm>
            <a:off x="2460625" y="5878513"/>
            <a:ext cx="685800" cy="6858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3600" dirty="0"/>
              <a:t>2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FF04DF69-0B97-47F5-A4C6-D5B9483E5D46}"/>
              </a:ext>
            </a:extLst>
          </p:cNvPr>
          <p:cNvSpPr/>
          <p:nvPr/>
        </p:nvSpPr>
        <p:spPr>
          <a:xfrm>
            <a:off x="6521450" y="4610100"/>
            <a:ext cx="685800" cy="6858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3600" dirty="0"/>
              <a:t>3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AF72639B-70AB-4B3D-B2AF-0D42A353DF6C}"/>
              </a:ext>
            </a:extLst>
          </p:cNvPr>
          <p:cNvSpPr/>
          <p:nvPr/>
        </p:nvSpPr>
        <p:spPr>
          <a:xfrm>
            <a:off x="6521450" y="5864225"/>
            <a:ext cx="685800" cy="6858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3600" dirty="0"/>
              <a:t>4</a:t>
            </a:r>
          </a:p>
        </p:txBody>
      </p:sp>
      <p:sp>
        <p:nvSpPr>
          <p:cNvPr id="17416" name="TextBox 2">
            <a:extLst>
              <a:ext uri="{FF2B5EF4-FFF2-40B4-BE49-F238E27FC236}">
                <a16:creationId xmlns:a16="http://schemas.microsoft.com/office/drawing/2014/main" id="{BC1CF953-E235-47C8-87A0-07E5098F11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97250" y="5935664"/>
            <a:ext cx="1741488" cy="414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22BBEA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22BBEA"/>
              </a:buClr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22BBEA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22BBEA"/>
              </a:buClr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22BBEA"/>
              </a:buClr>
              <a:buFont typeface="Wingdings" panose="05000000000000000000" pitchFamily="2" charset="2"/>
              <a:buChar char="v"/>
              <a:defRPr sz="1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2BBEA"/>
              </a:buClr>
              <a:buFont typeface="Wingdings" panose="05000000000000000000" pitchFamily="2" charset="2"/>
              <a:buChar char="v"/>
              <a:defRPr sz="1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2BBEA"/>
              </a:buClr>
              <a:buFont typeface="Wingdings" panose="05000000000000000000" pitchFamily="2" charset="2"/>
              <a:buChar char="v"/>
              <a:defRPr sz="1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2BBEA"/>
              </a:buClr>
              <a:buFont typeface="Wingdings" panose="05000000000000000000" pitchFamily="2" charset="2"/>
              <a:buChar char="v"/>
              <a:defRPr sz="1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2BBEA"/>
              </a:buClr>
              <a:buFont typeface="Wingdings" panose="05000000000000000000" pitchFamily="2" charset="2"/>
              <a:buChar char="v"/>
              <a:defRPr sz="1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fr-FR" sz="2100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green</a:t>
            </a:r>
          </a:p>
        </p:txBody>
      </p:sp>
      <p:sp>
        <p:nvSpPr>
          <p:cNvPr id="17417" name="TextBox 2">
            <a:extLst>
              <a:ext uri="{FF2B5EF4-FFF2-40B4-BE49-F238E27FC236}">
                <a16:creationId xmlns:a16="http://schemas.microsoft.com/office/drawing/2014/main" id="{2ADA513C-507B-49D5-9D1F-061DA55B3E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43814" y="4581526"/>
            <a:ext cx="1741487" cy="415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22BBEA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22BBEA"/>
              </a:buClr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22BBEA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22BBEA"/>
              </a:buClr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22BBEA"/>
              </a:buClr>
              <a:buFont typeface="Wingdings" panose="05000000000000000000" pitchFamily="2" charset="2"/>
              <a:buChar char="v"/>
              <a:defRPr sz="1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2BBEA"/>
              </a:buClr>
              <a:buFont typeface="Wingdings" panose="05000000000000000000" pitchFamily="2" charset="2"/>
              <a:buChar char="v"/>
              <a:defRPr sz="1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2BBEA"/>
              </a:buClr>
              <a:buFont typeface="Wingdings" panose="05000000000000000000" pitchFamily="2" charset="2"/>
              <a:buChar char="v"/>
              <a:defRPr sz="1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2BBEA"/>
              </a:buClr>
              <a:buFont typeface="Wingdings" panose="05000000000000000000" pitchFamily="2" charset="2"/>
              <a:buChar char="v"/>
              <a:defRPr sz="1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2BBEA"/>
              </a:buClr>
              <a:buFont typeface="Wingdings" panose="05000000000000000000" pitchFamily="2" charset="2"/>
              <a:buChar char="v"/>
              <a:defRPr sz="1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fr-FR" sz="2100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orange</a:t>
            </a:r>
          </a:p>
        </p:txBody>
      </p:sp>
      <p:sp>
        <p:nvSpPr>
          <p:cNvPr id="17418" name="TextBox 2">
            <a:extLst>
              <a:ext uri="{FF2B5EF4-FFF2-40B4-BE49-F238E27FC236}">
                <a16:creationId xmlns:a16="http://schemas.microsoft.com/office/drawing/2014/main" id="{9C9E7B54-70DB-4C2F-BBCF-49C5070943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43814" y="5935664"/>
            <a:ext cx="1741487" cy="414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22BBEA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22BBEA"/>
              </a:buClr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22BBEA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22BBEA"/>
              </a:buClr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22BBEA"/>
              </a:buClr>
              <a:buFont typeface="Wingdings" panose="05000000000000000000" pitchFamily="2" charset="2"/>
              <a:buChar char="v"/>
              <a:defRPr sz="1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2BBEA"/>
              </a:buClr>
              <a:buFont typeface="Wingdings" panose="05000000000000000000" pitchFamily="2" charset="2"/>
              <a:buChar char="v"/>
              <a:defRPr sz="1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2BBEA"/>
              </a:buClr>
              <a:buFont typeface="Wingdings" panose="05000000000000000000" pitchFamily="2" charset="2"/>
              <a:buChar char="v"/>
              <a:defRPr sz="1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2BBEA"/>
              </a:buClr>
              <a:buFont typeface="Wingdings" panose="05000000000000000000" pitchFamily="2" charset="2"/>
              <a:buChar char="v"/>
              <a:defRPr sz="1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2BBEA"/>
              </a:buClr>
              <a:buFont typeface="Wingdings" panose="05000000000000000000" pitchFamily="2" charset="2"/>
              <a:buChar char="v"/>
              <a:defRPr sz="1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fr-FR" sz="2100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All colors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7BAEEF02-28F3-4B72-96CF-AFC31D53B505}"/>
              </a:ext>
            </a:extLst>
          </p:cNvPr>
          <p:cNvSpPr/>
          <p:nvPr/>
        </p:nvSpPr>
        <p:spPr>
          <a:xfrm>
            <a:off x="1822450" y="4137660"/>
            <a:ext cx="2743200" cy="1371521"/>
          </a:xfrm>
          <a:prstGeom prst="ellipse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3899F06-3B86-4E6F-A8EC-FCFB6A40B6E6}"/>
              </a:ext>
            </a:extLst>
          </p:cNvPr>
          <p:cNvSpPr txBox="1"/>
          <p:nvPr/>
        </p:nvSpPr>
        <p:spPr>
          <a:xfrm>
            <a:off x="431800" y="446494"/>
            <a:ext cx="84991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/>
              <a:t>Q3</a:t>
            </a:r>
          </a:p>
        </p:txBody>
      </p:sp>
      <p:sp>
        <p:nvSpPr>
          <p:cNvPr id="20" name="TextBox 2">
            <a:extLst>
              <a:ext uri="{FF2B5EF4-FFF2-40B4-BE49-F238E27FC236}">
                <a16:creationId xmlns:a16="http://schemas.microsoft.com/office/drawing/2014/main" id="{C3693F4A-3DCF-4523-A869-66C297F8D9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33194" y="1173163"/>
            <a:ext cx="3168650" cy="2862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22BBEA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22BBEA"/>
              </a:buClr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22BBEA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22BBEA"/>
              </a:buClr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22BBEA"/>
              </a:buClr>
              <a:buFont typeface="Wingdings" panose="05000000000000000000" pitchFamily="2" charset="2"/>
              <a:buChar char="v"/>
              <a:defRPr sz="1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2BBEA"/>
              </a:buClr>
              <a:buFont typeface="Wingdings" panose="05000000000000000000" pitchFamily="2" charset="2"/>
              <a:buChar char="v"/>
              <a:defRPr sz="1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2BBEA"/>
              </a:buClr>
              <a:buFont typeface="Wingdings" panose="05000000000000000000" pitchFamily="2" charset="2"/>
              <a:buChar char="v"/>
              <a:defRPr sz="1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2BBEA"/>
              </a:buClr>
              <a:buFont typeface="Wingdings" panose="05000000000000000000" pitchFamily="2" charset="2"/>
              <a:buChar char="v"/>
              <a:defRPr sz="1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2BBEA"/>
              </a:buClr>
              <a:buFont typeface="Wingdings" panose="05000000000000000000" pitchFamily="2" charset="2"/>
              <a:buChar char="v"/>
              <a:defRPr sz="1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fr-FR" altLang="fr-FR" sz="1800" b="1" dirty="0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h1</a:t>
            </a:r>
            <a:r>
              <a:rPr lang="fr-FR" altLang="fr-FR" sz="1800" dirty="0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pPr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fr-FR" altLang="fr-FR" sz="1800" dirty="0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fr-FR" altLang="fr-FR" sz="1800" dirty="0" err="1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color</a:t>
            </a:r>
            <a:r>
              <a:rPr lang="fr-FR" altLang="fr-FR" sz="1800" dirty="0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= green;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fr-FR" altLang="fr-FR" sz="1800" dirty="0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endParaRPr lang="en-US" altLang="fr-FR" sz="1800" dirty="0">
              <a:latin typeface="Consolas" panose="020B0609020204030204" pitchFamily="49" charset="0"/>
              <a:ea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fr-FR" sz="1800" dirty="0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#</a:t>
            </a:r>
            <a:r>
              <a:rPr lang="en-US" altLang="fr-FR" sz="1800" b="1" dirty="0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id1</a:t>
            </a:r>
            <a:r>
              <a:rPr lang="en-US" altLang="fr-FR" sz="1800" dirty="0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{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fr-FR" altLang="fr-FR" sz="1800" dirty="0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fr-FR" altLang="fr-FR" sz="1800" dirty="0" err="1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color</a:t>
            </a:r>
            <a:r>
              <a:rPr lang="fr-FR" altLang="fr-FR" sz="1800" dirty="0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fr-FR" altLang="fr-FR" sz="1800" dirty="0" err="1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blue</a:t>
            </a:r>
            <a:r>
              <a:rPr lang="fr-FR" altLang="fr-FR" sz="1800" dirty="0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en-US" altLang="fr-FR" sz="1800" dirty="0">
              <a:latin typeface="Consolas" panose="020B0609020204030204" pitchFamily="49" charset="0"/>
              <a:ea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fr-FR" altLang="fr-FR" sz="1800" dirty="0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en-US" altLang="fr-FR" sz="1800" dirty="0">
              <a:latin typeface="Consolas" panose="020B0609020204030204" pitchFamily="49" charset="0"/>
              <a:ea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fr-FR" sz="1800" dirty="0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altLang="fr-FR" sz="1800" b="1" dirty="0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orange</a:t>
            </a:r>
            <a:r>
              <a:rPr lang="en-US" altLang="fr-FR" sz="1800" dirty="0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fr-FR" altLang="fr-FR" sz="1800" dirty="0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fr-FR" altLang="fr-FR" sz="1800" dirty="0" err="1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color</a:t>
            </a:r>
            <a:r>
              <a:rPr lang="fr-FR" altLang="fr-FR" sz="1800" dirty="0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= orange;</a:t>
            </a:r>
            <a:endParaRPr lang="en-US" altLang="fr-FR" sz="1800" dirty="0">
              <a:latin typeface="Consolas" panose="020B0609020204030204" pitchFamily="49" charset="0"/>
              <a:ea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fr-FR" altLang="fr-FR" sz="1800" dirty="0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en-US" altLang="fr-FR" sz="1800" dirty="0">
              <a:latin typeface="Consolas" panose="020B0609020204030204" pitchFamily="49" charset="0"/>
              <a:ea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CADE6A0-B4BA-4864-BA70-3171362FCCB3}"/>
              </a:ext>
            </a:extLst>
          </p:cNvPr>
          <p:cNvSpPr/>
          <p:nvPr/>
        </p:nvSpPr>
        <p:spPr>
          <a:xfrm>
            <a:off x="1281713" y="1887834"/>
            <a:ext cx="6693424" cy="923330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&lt;body&gt;</a:t>
            </a:r>
          </a:p>
          <a:p>
            <a:r>
              <a:rPr lang="en-US" dirty="0">
                <a:latin typeface="Consolas" panose="020B0609020204030204" pitchFamily="49" charset="0"/>
              </a:rPr>
              <a:t>    &lt;h1 id=“id1” class=“orange”&gt;Hello&lt;/h1&gt; </a:t>
            </a:r>
          </a:p>
          <a:p>
            <a:r>
              <a:rPr lang="en-US" dirty="0">
                <a:latin typeface="Consolas" panose="020B0609020204030204" pitchFamily="49" charset="0"/>
              </a:rPr>
              <a:t>&lt;/body&gt;</a:t>
            </a:r>
            <a:endParaRPr lang="en-US" dirty="0">
              <a:effectLst/>
              <a:latin typeface="Consolas" panose="020B0609020204030204" pitchFamily="49" charset="0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45E66195-B14B-44AA-A503-5D0D078066DD}"/>
              </a:ext>
            </a:extLst>
          </p:cNvPr>
          <p:cNvCxnSpPr>
            <a:cxnSpLocks/>
          </p:cNvCxnSpPr>
          <p:nvPr/>
        </p:nvCxnSpPr>
        <p:spPr>
          <a:xfrm>
            <a:off x="7207250" y="1088845"/>
            <a:ext cx="0" cy="2946581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29474300"/>
      </p:ext>
    </p:extLst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13F3299-4758-42F4-AC2C-78A8C2CC97EB}"/>
              </a:ext>
            </a:extLst>
          </p:cNvPr>
          <p:cNvSpPr txBox="1"/>
          <p:nvPr/>
        </p:nvSpPr>
        <p:spPr>
          <a:xfrm>
            <a:off x="2882900" y="2367205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&lt;p class="</a:t>
            </a: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</a:rPr>
              <a:t>highlight</a:t>
            </a:r>
            <a:r>
              <a:rPr lang="en-US" dirty="0">
                <a:latin typeface="Consolas" panose="020B0609020204030204" pitchFamily="49" charset="0"/>
              </a:rPr>
              <a:t>"&gt;Important text&lt;/p&gt;&lt;span class="</a:t>
            </a: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</a:rPr>
              <a:t>highlight</a:t>
            </a:r>
            <a:r>
              <a:rPr lang="en-US" dirty="0">
                <a:latin typeface="Consolas" panose="020B0609020204030204" pitchFamily="49" charset="0"/>
              </a:rPr>
              <a:t>"&gt;Another important text&lt;/span&gt;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6917174-2579-41C6-B68E-CB6543DD9520}"/>
              </a:ext>
            </a:extLst>
          </p:cNvPr>
          <p:cNvSpPr txBox="1"/>
          <p:nvPr/>
        </p:nvSpPr>
        <p:spPr>
          <a:xfrm>
            <a:off x="431800" y="446494"/>
            <a:ext cx="84991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/>
              <a:t>Q4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D1084C0-074E-44F7-A08A-9D5EFCDA9983}"/>
              </a:ext>
            </a:extLst>
          </p:cNvPr>
          <p:cNvSpPr txBox="1"/>
          <p:nvPr/>
        </p:nvSpPr>
        <p:spPr>
          <a:xfrm>
            <a:off x="2565400" y="997635"/>
            <a:ext cx="80264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Given the following HTML, which CSS rule will apply styles to all elements with the class "</a:t>
            </a:r>
            <a:r>
              <a:rPr lang="en-US" sz="2800" dirty="0">
                <a:solidFill>
                  <a:schemeClr val="accent1"/>
                </a:solidFill>
              </a:rPr>
              <a:t>highlight</a:t>
            </a:r>
            <a:r>
              <a:rPr lang="en-US" sz="2800" dirty="0"/>
              <a:t>"?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55E2E86-CA7A-48B2-835B-006F00938C16}"/>
              </a:ext>
            </a:extLst>
          </p:cNvPr>
          <p:cNvSpPr txBox="1"/>
          <p:nvPr/>
        </p:nvSpPr>
        <p:spPr>
          <a:xfrm>
            <a:off x="3632200" y="3271516"/>
            <a:ext cx="6096000" cy="32694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300000"/>
              </a:lnSpc>
            </a:pPr>
            <a:r>
              <a:rPr lang="en-US" dirty="0"/>
              <a:t>A) highlight { background-color: yellow; }</a:t>
            </a:r>
          </a:p>
          <a:p>
            <a:pPr>
              <a:lnSpc>
                <a:spcPct val="300000"/>
              </a:lnSpc>
            </a:pPr>
            <a:r>
              <a:rPr lang="en-US" dirty="0"/>
              <a:t>B) #highlight { background-color: yellow; }</a:t>
            </a:r>
          </a:p>
          <a:p>
            <a:pPr>
              <a:lnSpc>
                <a:spcPct val="300000"/>
              </a:lnSpc>
            </a:pPr>
            <a:r>
              <a:rPr lang="en-US" dirty="0"/>
              <a:t>C) .highlight { background-color: yellow; }</a:t>
            </a:r>
          </a:p>
          <a:p>
            <a:pPr>
              <a:lnSpc>
                <a:spcPct val="300000"/>
              </a:lnSpc>
            </a:pPr>
            <a:r>
              <a:rPr lang="en-US" dirty="0"/>
              <a:t>D) *highlight { background-color: yellow; }</a:t>
            </a:r>
          </a:p>
        </p:txBody>
      </p:sp>
    </p:spTree>
    <p:extLst>
      <p:ext uri="{BB962C8B-B14F-4D97-AF65-F5344CB8AC3E}">
        <p14:creationId xmlns:p14="http://schemas.microsoft.com/office/powerpoint/2010/main" val="29912253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13F3299-4758-42F4-AC2C-78A8C2CC97EB}"/>
              </a:ext>
            </a:extLst>
          </p:cNvPr>
          <p:cNvSpPr txBox="1"/>
          <p:nvPr/>
        </p:nvSpPr>
        <p:spPr>
          <a:xfrm>
            <a:off x="2882900" y="2367205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&lt;p class="</a:t>
            </a: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</a:rPr>
              <a:t>highlight</a:t>
            </a:r>
            <a:r>
              <a:rPr lang="en-US" dirty="0">
                <a:latin typeface="Consolas" panose="020B0609020204030204" pitchFamily="49" charset="0"/>
              </a:rPr>
              <a:t>"&gt;Important text&lt;/p&gt;&lt;span class="</a:t>
            </a: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</a:rPr>
              <a:t>highlight</a:t>
            </a:r>
            <a:r>
              <a:rPr lang="en-US" dirty="0">
                <a:latin typeface="Consolas" panose="020B0609020204030204" pitchFamily="49" charset="0"/>
              </a:rPr>
              <a:t>"&gt;Another important text&lt;/span&gt;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6917174-2579-41C6-B68E-CB6543DD9520}"/>
              </a:ext>
            </a:extLst>
          </p:cNvPr>
          <p:cNvSpPr txBox="1"/>
          <p:nvPr/>
        </p:nvSpPr>
        <p:spPr>
          <a:xfrm>
            <a:off x="431800" y="446494"/>
            <a:ext cx="84991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/>
              <a:t>Q4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D1084C0-074E-44F7-A08A-9D5EFCDA9983}"/>
              </a:ext>
            </a:extLst>
          </p:cNvPr>
          <p:cNvSpPr txBox="1"/>
          <p:nvPr/>
        </p:nvSpPr>
        <p:spPr>
          <a:xfrm>
            <a:off x="2565400" y="997635"/>
            <a:ext cx="80264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Given the following HTML, which CSS rule will apply styles to all elements with the class "</a:t>
            </a:r>
            <a:r>
              <a:rPr lang="en-US" sz="2800" dirty="0">
                <a:solidFill>
                  <a:schemeClr val="accent1"/>
                </a:solidFill>
              </a:rPr>
              <a:t>highlight</a:t>
            </a:r>
            <a:r>
              <a:rPr lang="en-US" sz="2800" dirty="0"/>
              <a:t>"?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55E2E86-CA7A-48B2-835B-006F00938C16}"/>
              </a:ext>
            </a:extLst>
          </p:cNvPr>
          <p:cNvSpPr txBox="1"/>
          <p:nvPr/>
        </p:nvSpPr>
        <p:spPr>
          <a:xfrm>
            <a:off x="3657600" y="3271516"/>
            <a:ext cx="6096000" cy="32694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300000"/>
              </a:lnSpc>
            </a:pPr>
            <a:r>
              <a:rPr lang="en-US" dirty="0"/>
              <a:t>A) highlight { background-color: yellow; }</a:t>
            </a:r>
          </a:p>
          <a:p>
            <a:pPr>
              <a:lnSpc>
                <a:spcPct val="300000"/>
              </a:lnSpc>
            </a:pPr>
            <a:r>
              <a:rPr lang="en-US" dirty="0"/>
              <a:t>B) #highlight { background-color: yellow; }</a:t>
            </a:r>
          </a:p>
          <a:p>
            <a:pPr>
              <a:lnSpc>
                <a:spcPct val="300000"/>
              </a:lnSpc>
            </a:pPr>
            <a:r>
              <a:rPr lang="en-US" dirty="0"/>
              <a:t>C) .highlight { background-color: yellow; }</a:t>
            </a:r>
          </a:p>
          <a:p>
            <a:pPr>
              <a:lnSpc>
                <a:spcPct val="300000"/>
              </a:lnSpc>
            </a:pPr>
            <a:r>
              <a:rPr lang="en-US" dirty="0"/>
              <a:t>D) *highlight { background-color: yellow; }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93EECE1-02EE-4666-BD1B-D9C01698DDA8}"/>
              </a:ext>
            </a:extLst>
          </p:cNvPr>
          <p:cNvSpPr/>
          <p:nvPr/>
        </p:nvSpPr>
        <p:spPr>
          <a:xfrm>
            <a:off x="3189514" y="5105400"/>
            <a:ext cx="4913086" cy="754965"/>
          </a:xfrm>
          <a:prstGeom prst="ellipse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9562963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402B2D1-0F8B-4618-A306-4CE32E0531C1}"/>
              </a:ext>
            </a:extLst>
          </p:cNvPr>
          <p:cNvSpPr txBox="1"/>
          <p:nvPr/>
        </p:nvSpPr>
        <p:spPr>
          <a:xfrm>
            <a:off x="1295400" y="1676400"/>
            <a:ext cx="4616970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&lt;body&gt;</a:t>
            </a:r>
          </a:p>
          <a:p>
            <a:r>
              <a:rPr lang="en-US" dirty="0">
                <a:latin typeface="Consolas" panose="020B0609020204030204" pitchFamily="49" charset="0"/>
              </a:rPr>
              <a:t>    &lt;div id="main" class="text"&gt;</a:t>
            </a:r>
          </a:p>
          <a:p>
            <a:r>
              <a:rPr lang="en-US" dirty="0">
                <a:latin typeface="Consolas" panose="020B0609020204030204" pitchFamily="49" charset="0"/>
              </a:rPr>
              <a:t>        &lt;p&gt;This is a paragraph.&lt;/p&gt;</a:t>
            </a:r>
          </a:p>
          <a:p>
            <a:r>
              <a:rPr lang="en-US" dirty="0">
                <a:latin typeface="Consolas" panose="020B0609020204030204" pitchFamily="49" charset="0"/>
              </a:rPr>
              <a:t>    &lt;/div&gt;</a:t>
            </a:r>
          </a:p>
          <a:p>
            <a:r>
              <a:rPr lang="en-US" dirty="0">
                <a:latin typeface="Consolas" panose="020B0609020204030204" pitchFamily="49" charset="0"/>
              </a:rPr>
              <a:t>&lt;/body&gt;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3763D8C-89BF-4A23-81DB-5B08D0CAC991}"/>
              </a:ext>
            </a:extLst>
          </p:cNvPr>
          <p:cNvSpPr txBox="1"/>
          <p:nvPr/>
        </p:nvSpPr>
        <p:spPr>
          <a:xfrm>
            <a:off x="6616700" y="1401802"/>
            <a:ext cx="427990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 	body {</a:t>
            </a:r>
          </a:p>
          <a:p>
            <a:r>
              <a:rPr lang="en-US" dirty="0">
                <a:latin typeface="Consolas" panose="020B0609020204030204" pitchFamily="49" charset="0"/>
              </a:rPr>
              <a:t>            color: black;</a:t>
            </a:r>
          </a:p>
          <a:p>
            <a:r>
              <a:rPr lang="en-US" dirty="0">
                <a:latin typeface="Consolas" panose="020B0609020204030204" pitchFamily="49" charset="0"/>
              </a:rPr>
              <a:t>        }</a:t>
            </a:r>
          </a:p>
          <a:p>
            <a:r>
              <a:rPr lang="en-US" dirty="0">
                <a:latin typeface="Consolas" panose="020B0609020204030204" pitchFamily="49" charset="0"/>
              </a:rPr>
              <a:t>        .text {</a:t>
            </a:r>
          </a:p>
          <a:p>
            <a:r>
              <a:rPr lang="en-US" dirty="0">
                <a:latin typeface="Consolas" panose="020B0609020204030204" pitchFamily="49" charset="0"/>
              </a:rPr>
              <a:t>            color: red;</a:t>
            </a:r>
          </a:p>
          <a:p>
            <a:r>
              <a:rPr lang="en-US" dirty="0">
                <a:latin typeface="Consolas" panose="020B0609020204030204" pitchFamily="49" charset="0"/>
              </a:rPr>
              <a:t>        }</a:t>
            </a:r>
          </a:p>
          <a:p>
            <a:r>
              <a:rPr lang="en-US" dirty="0">
                <a:latin typeface="Consolas" panose="020B0609020204030204" pitchFamily="49" charset="0"/>
              </a:rPr>
              <a:t>        #main {</a:t>
            </a:r>
          </a:p>
          <a:p>
            <a:r>
              <a:rPr lang="en-US" dirty="0">
                <a:latin typeface="Consolas" panose="020B0609020204030204" pitchFamily="49" charset="0"/>
              </a:rPr>
              <a:t>            color: blue;</a:t>
            </a:r>
          </a:p>
          <a:p>
            <a:r>
              <a:rPr lang="en-US" dirty="0">
                <a:latin typeface="Consolas" panose="020B0609020204030204" pitchFamily="49" charset="0"/>
              </a:rPr>
              <a:t>        }</a:t>
            </a:r>
            <a:endParaRPr lang="en-US" dirty="0"/>
          </a:p>
        </p:txBody>
      </p:sp>
      <p:sp>
        <p:nvSpPr>
          <p:cNvPr id="6" name="TextBox 3">
            <a:extLst>
              <a:ext uri="{FF2B5EF4-FFF2-40B4-BE49-F238E27FC236}">
                <a16:creationId xmlns:a16="http://schemas.microsoft.com/office/drawing/2014/main" id="{7BF426BD-BEC7-4C77-BE58-B4D6A1CD57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22639" y="333375"/>
            <a:ext cx="5994783" cy="4770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22BBEA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22BBEA"/>
              </a:buClr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22BBEA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22BBEA"/>
              </a:buClr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22BBEA"/>
              </a:buClr>
              <a:buFont typeface="Wingdings" panose="05000000000000000000" pitchFamily="2" charset="2"/>
              <a:buChar char="v"/>
              <a:defRPr sz="1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2BBEA"/>
              </a:buClr>
              <a:buFont typeface="Wingdings" panose="05000000000000000000" pitchFamily="2" charset="2"/>
              <a:buChar char="v"/>
              <a:defRPr sz="1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2BBEA"/>
              </a:buClr>
              <a:buFont typeface="Wingdings" panose="05000000000000000000" pitchFamily="2" charset="2"/>
              <a:buChar char="v"/>
              <a:defRPr sz="1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2BBEA"/>
              </a:buClr>
              <a:buFont typeface="Wingdings" panose="05000000000000000000" pitchFamily="2" charset="2"/>
              <a:buChar char="v"/>
              <a:defRPr sz="1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2BBEA"/>
              </a:buClr>
              <a:buFont typeface="Wingdings" panose="05000000000000000000" pitchFamily="2" charset="2"/>
              <a:buChar char="v"/>
              <a:defRPr sz="1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fr-FR" sz="2500" dirty="0">
                <a:latin typeface="DJB Miss Molly Brown" pitchFamily="2" charset="0"/>
                <a:cs typeface="Arial" panose="020B0604020202020204" pitchFamily="34" charset="0"/>
              </a:rPr>
              <a:t>Which element(s) will have a </a:t>
            </a:r>
            <a:r>
              <a:rPr lang="en-US" altLang="fr-FR" sz="2500" dirty="0">
                <a:solidFill>
                  <a:srgbClr val="FF0000"/>
                </a:solidFill>
                <a:latin typeface="DJB Miss Molly Brown" pitchFamily="2" charset="0"/>
                <a:cs typeface="Arial" panose="020B0604020202020204" pitchFamily="34" charset="0"/>
              </a:rPr>
              <a:t>red</a:t>
            </a:r>
            <a:r>
              <a:rPr lang="en-US" altLang="fr-FR" sz="2500" dirty="0">
                <a:latin typeface="DJB Miss Molly Brown" pitchFamily="2" charset="0"/>
                <a:cs typeface="Arial" panose="020B0604020202020204" pitchFamily="34" charset="0"/>
              </a:rPr>
              <a:t> font color 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B8B8BA6-AAF0-4D35-8220-7CA07F8B0D75}"/>
              </a:ext>
            </a:extLst>
          </p:cNvPr>
          <p:cNvSpPr txBox="1"/>
          <p:nvPr/>
        </p:nvSpPr>
        <p:spPr>
          <a:xfrm>
            <a:off x="431800" y="446494"/>
            <a:ext cx="84991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/>
              <a:t>Q5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A1B3FD9-089C-49D0-AD7F-8F2503639DB6}"/>
              </a:ext>
            </a:extLst>
          </p:cNvPr>
          <p:cNvCxnSpPr>
            <a:cxnSpLocks/>
          </p:cNvCxnSpPr>
          <p:nvPr/>
        </p:nvCxnSpPr>
        <p:spPr>
          <a:xfrm>
            <a:off x="6445250" y="1401802"/>
            <a:ext cx="0" cy="2946581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AC2740FD-866D-480D-9BD8-9F721BBF1E13}"/>
              </a:ext>
            </a:extLst>
          </p:cNvPr>
          <p:cNvSpPr txBox="1"/>
          <p:nvPr/>
        </p:nvSpPr>
        <p:spPr>
          <a:xfrm>
            <a:off x="3869122" y="4348383"/>
            <a:ext cx="6096000" cy="22307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dirty="0"/>
              <a:t>A) The &lt;div&gt;</a:t>
            </a:r>
          </a:p>
          <a:p>
            <a:pPr>
              <a:lnSpc>
                <a:spcPct val="200000"/>
              </a:lnSpc>
            </a:pPr>
            <a:r>
              <a:rPr lang="en-US" dirty="0"/>
              <a:t>B) The &lt;div&gt; and the &lt;p&gt;</a:t>
            </a:r>
          </a:p>
          <a:p>
            <a:pPr>
              <a:lnSpc>
                <a:spcPct val="200000"/>
              </a:lnSpc>
            </a:pPr>
            <a:r>
              <a:rPr lang="en-US" dirty="0"/>
              <a:t>C) The &lt;p&gt;</a:t>
            </a:r>
          </a:p>
          <a:p>
            <a:pPr>
              <a:lnSpc>
                <a:spcPct val="200000"/>
              </a:lnSpc>
            </a:pPr>
            <a:r>
              <a:rPr lang="en-US" dirty="0"/>
              <a:t>D) None</a:t>
            </a:r>
          </a:p>
        </p:txBody>
      </p:sp>
    </p:spTree>
    <p:extLst>
      <p:ext uri="{BB962C8B-B14F-4D97-AF65-F5344CB8AC3E}">
        <p14:creationId xmlns:p14="http://schemas.microsoft.com/office/powerpoint/2010/main" val="76258113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402B2D1-0F8B-4618-A306-4CE32E0531C1}"/>
              </a:ext>
            </a:extLst>
          </p:cNvPr>
          <p:cNvSpPr txBox="1"/>
          <p:nvPr/>
        </p:nvSpPr>
        <p:spPr>
          <a:xfrm>
            <a:off x="1295400" y="1676400"/>
            <a:ext cx="4616970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&lt;body&gt;</a:t>
            </a:r>
          </a:p>
          <a:p>
            <a:r>
              <a:rPr lang="en-US" dirty="0">
                <a:latin typeface="Consolas" panose="020B0609020204030204" pitchFamily="49" charset="0"/>
              </a:rPr>
              <a:t>    &lt;div id="main" class="text"&gt;</a:t>
            </a:r>
          </a:p>
          <a:p>
            <a:r>
              <a:rPr lang="en-US" dirty="0">
                <a:latin typeface="Consolas" panose="020B0609020204030204" pitchFamily="49" charset="0"/>
              </a:rPr>
              <a:t>        &lt;p&gt;This is a paragraph.&lt;/p&gt;</a:t>
            </a:r>
          </a:p>
          <a:p>
            <a:r>
              <a:rPr lang="en-US" dirty="0">
                <a:latin typeface="Consolas" panose="020B0609020204030204" pitchFamily="49" charset="0"/>
              </a:rPr>
              <a:t>    &lt;/div&gt;</a:t>
            </a:r>
          </a:p>
          <a:p>
            <a:r>
              <a:rPr lang="en-US" dirty="0">
                <a:latin typeface="Consolas" panose="020B0609020204030204" pitchFamily="49" charset="0"/>
              </a:rPr>
              <a:t>&lt;/body&gt;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3763D8C-89BF-4A23-81DB-5B08D0CAC991}"/>
              </a:ext>
            </a:extLst>
          </p:cNvPr>
          <p:cNvSpPr txBox="1"/>
          <p:nvPr/>
        </p:nvSpPr>
        <p:spPr>
          <a:xfrm>
            <a:off x="6616700" y="1401802"/>
            <a:ext cx="427990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 	body {</a:t>
            </a:r>
          </a:p>
          <a:p>
            <a:r>
              <a:rPr lang="en-US" dirty="0">
                <a:latin typeface="Consolas" panose="020B0609020204030204" pitchFamily="49" charset="0"/>
              </a:rPr>
              <a:t>            color: black;</a:t>
            </a:r>
          </a:p>
          <a:p>
            <a:r>
              <a:rPr lang="en-US" dirty="0">
                <a:latin typeface="Consolas" panose="020B0609020204030204" pitchFamily="49" charset="0"/>
              </a:rPr>
              <a:t>        }</a:t>
            </a:r>
          </a:p>
          <a:p>
            <a:r>
              <a:rPr lang="en-US" dirty="0">
                <a:latin typeface="Consolas" panose="020B0609020204030204" pitchFamily="49" charset="0"/>
              </a:rPr>
              <a:t>        .text {</a:t>
            </a:r>
          </a:p>
          <a:p>
            <a:r>
              <a:rPr lang="en-US" dirty="0">
                <a:latin typeface="Consolas" panose="020B0609020204030204" pitchFamily="49" charset="0"/>
              </a:rPr>
              <a:t>            color: red;</a:t>
            </a:r>
          </a:p>
          <a:p>
            <a:r>
              <a:rPr lang="en-US" dirty="0">
                <a:latin typeface="Consolas" panose="020B0609020204030204" pitchFamily="49" charset="0"/>
              </a:rPr>
              <a:t>        }</a:t>
            </a:r>
          </a:p>
          <a:p>
            <a:r>
              <a:rPr lang="en-US" dirty="0">
                <a:latin typeface="Consolas" panose="020B0609020204030204" pitchFamily="49" charset="0"/>
              </a:rPr>
              <a:t>        #main {</a:t>
            </a:r>
          </a:p>
          <a:p>
            <a:r>
              <a:rPr lang="en-US" dirty="0">
                <a:latin typeface="Consolas" panose="020B0609020204030204" pitchFamily="49" charset="0"/>
              </a:rPr>
              <a:t>            color: blue;</a:t>
            </a:r>
          </a:p>
          <a:p>
            <a:r>
              <a:rPr lang="en-US" dirty="0">
                <a:latin typeface="Consolas" panose="020B0609020204030204" pitchFamily="49" charset="0"/>
              </a:rPr>
              <a:t>        }</a:t>
            </a:r>
            <a:endParaRPr lang="en-US" dirty="0"/>
          </a:p>
        </p:txBody>
      </p:sp>
      <p:sp>
        <p:nvSpPr>
          <p:cNvPr id="6" name="TextBox 3">
            <a:extLst>
              <a:ext uri="{FF2B5EF4-FFF2-40B4-BE49-F238E27FC236}">
                <a16:creationId xmlns:a16="http://schemas.microsoft.com/office/drawing/2014/main" id="{7BF426BD-BEC7-4C77-BE58-B4D6A1CD57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22639" y="333375"/>
            <a:ext cx="5994783" cy="4770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22BBEA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22BBEA"/>
              </a:buClr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22BBEA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22BBEA"/>
              </a:buClr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22BBEA"/>
              </a:buClr>
              <a:buFont typeface="Wingdings" panose="05000000000000000000" pitchFamily="2" charset="2"/>
              <a:buChar char="v"/>
              <a:defRPr sz="1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2BBEA"/>
              </a:buClr>
              <a:buFont typeface="Wingdings" panose="05000000000000000000" pitchFamily="2" charset="2"/>
              <a:buChar char="v"/>
              <a:defRPr sz="1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2BBEA"/>
              </a:buClr>
              <a:buFont typeface="Wingdings" panose="05000000000000000000" pitchFamily="2" charset="2"/>
              <a:buChar char="v"/>
              <a:defRPr sz="1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2BBEA"/>
              </a:buClr>
              <a:buFont typeface="Wingdings" panose="05000000000000000000" pitchFamily="2" charset="2"/>
              <a:buChar char="v"/>
              <a:defRPr sz="1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2BBEA"/>
              </a:buClr>
              <a:buFont typeface="Wingdings" panose="05000000000000000000" pitchFamily="2" charset="2"/>
              <a:buChar char="v"/>
              <a:defRPr sz="1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fr-FR" sz="2500" dirty="0">
                <a:latin typeface="DJB Miss Molly Brown" pitchFamily="2" charset="0"/>
                <a:cs typeface="Arial" panose="020B0604020202020204" pitchFamily="34" charset="0"/>
              </a:rPr>
              <a:t>Which element(s) will have a </a:t>
            </a:r>
            <a:r>
              <a:rPr lang="en-US" altLang="fr-FR" sz="2500" dirty="0">
                <a:solidFill>
                  <a:srgbClr val="FF0000"/>
                </a:solidFill>
                <a:latin typeface="DJB Miss Molly Brown" pitchFamily="2" charset="0"/>
                <a:cs typeface="Arial" panose="020B0604020202020204" pitchFamily="34" charset="0"/>
              </a:rPr>
              <a:t>red</a:t>
            </a:r>
            <a:r>
              <a:rPr lang="en-US" altLang="fr-FR" sz="2500" dirty="0">
                <a:latin typeface="DJB Miss Molly Brown" pitchFamily="2" charset="0"/>
                <a:cs typeface="Arial" panose="020B0604020202020204" pitchFamily="34" charset="0"/>
              </a:rPr>
              <a:t> font color 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B8B8BA6-AAF0-4D35-8220-7CA07F8B0D75}"/>
              </a:ext>
            </a:extLst>
          </p:cNvPr>
          <p:cNvSpPr txBox="1"/>
          <p:nvPr/>
        </p:nvSpPr>
        <p:spPr>
          <a:xfrm>
            <a:off x="431800" y="446494"/>
            <a:ext cx="84991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/>
              <a:t>Q5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A1B3FD9-089C-49D0-AD7F-8F2503639DB6}"/>
              </a:ext>
            </a:extLst>
          </p:cNvPr>
          <p:cNvCxnSpPr>
            <a:cxnSpLocks/>
          </p:cNvCxnSpPr>
          <p:nvPr/>
        </p:nvCxnSpPr>
        <p:spPr>
          <a:xfrm>
            <a:off x="6445250" y="1401802"/>
            <a:ext cx="0" cy="2946581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AC2740FD-866D-480D-9BD8-9F721BBF1E13}"/>
              </a:ext>
            </a:extLst>
          </p:cNvPr>
          <p:cNvSpPr txBox="1"/>
          <p:nvPr/>
        </p:nvSpPr>
        <p:spPr>
          <a:xfrm>
            <a:off x="3869122" y="4348383"/>
            <a:ext cx="6096000" cy="22307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dirty="0"/>
              <a:t>A) The &lt;div&gt;</a:t>
            </a:r>
          </a:p>
          <a:p>
            <a:pPr>
              <a:lnSpc>
                <a:spcPct val="200000"/>
              </a:lnSpc>
            </a:pPr>
            <a:r>
              <a:rPr lang="en-US" dirty="0"/>
              <a:t>B) The &lt;div&gt; and the &lt;p&gt;</a:t>
            </a:r>
          </a:p>
          <a:p>
            <a:pPr>
              <a:lnSpc>
                <a:spcPct val="200000"/>
              </a:lnSpc>
            </a:pPr>
            <a:r>
              <a:rPr lang="en-US" dirty="0"/>
              <a:t>C) The &lt;p&gt;</a:t>
            </a:r>
          </a:p>
          <a:p>
            <a:pPr>
              <a:lnSpc>
                <a:spcPct val="200000"/>
              </a:lnSpc>
            </a:pPr>
            <a:r>
              <a:rPr lang="en-US" dirty="0"/>
              <a:t>D) None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9B5E20C-1C3A-4BF0-AB64-F2242D143C80}"/>
              </a:ext>
            </a:extLst>
          </p:cNvPr>
          <p:cNvSpPr/>
          <p:nvPr/>
        </p:nvSpPr>
        <p:spPr>
          <a:xfrm>
            <a:off x="3606800" y="6100309"/>
            <a:ext cx="1917700" cy="642173"/>
          </a:xfrm>
          <a:prstGeom prst="ellipse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53F6359-C4E1-450E-9D51-3548D83532D1}"/>
              </a:ext>
            </a:extLst>
          </p:cNvPr>
          <p:cNvSpPr txBox="1"/>
          <p:nvPr/>
        </p:nvSpPr>
        <p:spPr>
          <a:xfrm>
            <a:off x="5786822" y="5934670"/>
            <a:ext cx="427990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The &lt;div id="main" class="text"&gt; element and its child &lt;p&gt; will both inherit the color blue from the #main rule.</a:t>
            </a:r>
          </a:p>
        </p:txBody>
      </p:sp>
    </p:spTree>
    <p:extLst>
      <p:ext uri="{BB962C8B-B14F-4D97-AF65-F5344CB8AC3E}">
        <p14:creationId xmlns:p14="http://schemas.microsoft.com/office/powerpoint/2010/main" val="358344911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402B2D1-0F8B-4618-A306-4CE32E0531C1}"/>
              </a:ext>
            </a:extLst>
          </p:cNvPr>
          <p:cNvSpPr txBox="1"/>
          <p:nvPr/>
        </p:nvSpPr>
        <p:spPr>
          <a:xfrm>
            <a:off x="1182396" y="1687817"/>
            <a:ext cx="5250155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&lt;body&gt;</a:t>
            </a:r>
          </a:p>
          <a:p>
            <a:r>
              <a:rPr lang="en-US" dirty="0">
                <a:latin typeface="Consolas" panose="020B0609020204030204" pitchFamily="49" charset="0"/>
              </a:rPr>
              <a:t>    &lt;div&gt;</a:t>
            </a:r>
          </a:p>
          <a:p>
            <a:r>
              <a:rPr lang="en-US" dirty="0">
                <a:latin typeface="Consolas" panose="020B0609020204030204" pitchFamily="49" charset="0"/>
              </a:rPr>
              <a:t>        &lt;p class="highlight"&gt;Monday.&lt;/p&gt;</a:t>
            </a:r>
          </a:p>
          <a:p>
            <a:r>
              <a:rPr lang="en-US" dirty="0">
                <a:latin typeface="Consolas" panose="020B0609020204030204" pitchFamily="49" charset="0"/>
              </a:rPr>
              <a:t>        &lt;p&gt;Tuesday&lt;/p&gt;</a:t>
            </a:r>
          </a:p>
          <a:p>
            <a:r>
              <a:rPr lang="en-US" dirty="0">
                <a:latin typeface="Consolas" panose="020B0609020204030204" pitchFamily="49" charset="0"/>
              </a:rPr>
              <a:t>    &lt;/div&gt;</a:t>
            </a:r>
          </a:p>
          <a:p>
            <a:r>
              <a:rPr lang="en-US" dirty="0">
                <a:latin typeface="Consolas" panose="020B0609020204030204" pitchFamily="49" charset="0"/>
              </a:rPr>
              <a:t>&lt;/body&gt;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3763D8C-89BF-4A23-81DB-5B08D0CAC991}"/>
              </a:ext>
            </a:extLst>
          </p:cNvPr>
          <p:cNvSpPr txBox="1"/>
          <p:nvPr/>
        </p:nvSpPr>
        <p:spPr>
          <a:xfrm>
            <a:off x="6868729" y="1563743"/>
            <a:ext cx="42799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 p {</a:t>
            </a:r>
          </a:p>
          <a:p>
            <a:pPr lvl="1"/>
            <a:r>
              <a:rPr lang="en-US" dirty="0">
                <a:latin typeface="Consolas" panose="020B0609020204030204" pitchFamily="49" charset="0"/>
              </a:rPr>
              <a:t>   color: green;</a:t>
            </a:r>
          </a:p>
          <a:p>
            <a:r>
              <a:rPr lang="en-US" dirty="0">
                <a:latin typeface="Consolas" panose="020B0609020204030204" pitchFamily="49" charset="0"/>
              </a:rPr>
              <a:t>}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.highlight {</a:t>
            </a:r>
          </a:p>
          <a:p>
            <a:r>
              <a:rPr lang="en-US" dirty="0">
                <a:latin typeface="Consolas" panose="020B0609020204030204" pitchFamily="49" charset="0"/>
              </a:rPr>
              <a:t>	color: red;</a:t>
            </a:r>
          </a:p>
          <a:p>
            <a:r>
              <a:rPr lang="en-US" dirty="0">
                <a:latin typeface="Consolas" panose="020B0609020204030204" pitchFamily="49" charset="0"/>
              </a:rPr>
              <a:t>}</a:t>
            </a:r>
            <a:endParaRPr lang="en-US" dirty="0"/>
          </a:p>
        </p:txBody>
      </p:sp>
      <p:sp>
        <p:nvSpPr>
          <p:cNvPr id="6" name="TextBox 3">
            <a:extLst>
              <a:ext uri="{FF2B5EF4-FFF2-40B4-BE49-F238E27FC236}">
                <a16:creationId xmlns:a16="http://schemas.microsoft.com/office/drawing/2014/main" id="{7BF426BD-BEC7-4C77-BE58-B4D6A1CD57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22639" y="333375"/>
            <a:ext cx="6280822" cy="4770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22BBEA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22BBEA"/>
              </a:buClr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22BBEA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22BBEA"/>
              </a:buClr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22BBEA"/>
              </a:buClr>
              <a:buFont typeface="Wingdings" panose="05000000000000000000" pitchFamily="2" charset="2"/>
              <a:buChar char="v"/>
              <a:defRPr sz="1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2BBEA"/>
              </a:buClr>
              <a:buFont typeface="Wingdings" panose="05000000000000000000" pitchFamily="2" charset="2"/>
              <a:buChar char="v"/>
              <a:defRPr sz="1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2BBEA"/>
              </a:buClr>
              <a:buFont typeface="Wingdings" panose="05000000000000000000" pitchFamily="2" charset="2"/>
              <a:buChar char="v"/>
              <a:defRPr sz="1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2BBEA"/>
              </a:buClr>
              <a:buFont typeface="Wingdings" panose="05000000000000000000" pitchFamily="2" charset="2"/>
              <a:buChar char="v"/>
              <a:defRPr sz="1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2BBEA"/>
              </a:buClr>
              <a:buFont typeface="Wingdings" panose="05000000000000000000" pitchFamily="2" charset="2"/>
              <a:buChar char="v"/>
              <a:defRPr sz="1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fr-FR" sz="2500" dirty="0">
                <a:latin typeface="DJB Miss Molly Brown" pitchFamily="2" charset="0"/>
                <a:cs typeface="Arial" panose="020B0604020202020204" pitchFamily="34" charset="0"/>
              </a:rPr>
              <a:t>Which element(s) will have a </a:t>
            </a:r>
            <a:r>
              <a:rPr lang="en-US" altLang="fr-FR" sz="2500" dirty="0">
                <a:solidFill>
                  <a:srgbClr val="FF0000"/>
                </a:solidFill>
                <a:latin typeface="DJB Miss Molly Brown" pitchFamily="2" charset="0"/>
                <a:cs typeface="Arial" panose="020B0604020202020204" pitchFamily="34" charset="0"/>
              </a:rPr>
              <a:t>green</a:t>
            </a:r>
            <a:r>
              <a:rPr lang="en-US" altLang="fr-FR" sz="2500" dirty="0">
                <a:latin typeface="DJB Miss Molly Brown" pitchFamily="2" charset="0"/>
                <a:cs typeface="Arial" panose="020B0604020202020204" pitchFamily="34" charset="0"/>
              </a:rPr>
              <a:t> text color 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B8B8BA6-AAF0-4D35-8220-7CA07F8B0D75}"/>
              </a:ext>
            </a:extLst>
          </p:cNvPr>
          <p:cNvSpPr txBox="1"/>
          <p:nvPr/>
        </p:nvSpPr>
        <p:spPr>
          <a:xfrm>
            <a:off x="431800" y="446494"/>
            <a:ext cx="84991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/>
              <a:t>Q6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A1B3FD9-089C-49D0-AD7F-8F2503639DB6}"/>
              </a:ext>
            </a:extLst>
          </p:cNvPr>
          <p:cNvCxnSpPr>
            <a:cxnSpLocks/>
          </p:cNvCxnSpPr>
          <p:nvPr/>
        </p:nvCxnSpPr>
        <p:spPr>
          <a:xfrm>
            <a:off x="6445250" y="1401802"/>
            <a:ext cx="0" cy="2946581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AC2740FD-866D-480D-9BD8-9F721BBF1E13}"/>
              </a:ext>
            </a:extLst>
          </p:cNvPr>
          <p:cNvSpPr txBox="1"/>
          <p:nvPr/>
        </p:nvSpPr>
        <p:spPr>
          <a:xfrm>
            <a:off x="3820729" y="4353364"/>
            <a:ext cx="6096000" cy="22307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dirty="0"/>
              <a:t>A) Both paragraphs</a:t>
            </a:r>
          </a:p>
          <a:p>
            <a:pPr>
              <a:lnSpc>
                <a:spcPct val="200000"/>
              </a:lnSpc>
            </a:pPr>
            <a:r>
              <a:rPr lang="en-US" dirty="0"/>
              <a:t>B) Only the paragraph with the class "highlight"</a:t>
            </a:r>
          </a:p>
          <a:p>
            <a:pPr>
              <a:lnSpc>
                <a:spcPct val="200000"/>
              </a:lnSpc>
            </a:pPr>
            <a:r>
              <a:rPr lang="en-US" dirty="0"/>
              <a:t>C) Only the normal paragraph</a:t>
            </a:r>
          </a:p>
          <a:p>
            <a:pPr>
              <a:lnSpc>
                <a:spcPct val="200000"/>
              </a:lnSpc>
            </a:pPr>
            <a:r>
              <a:rPr lang="en-US" dirty="0"/>
              <a:t>D) Neither paragraph</a:t>
            </a:r>
          </a:p>
        </p:txBody>
      </p:sp>
    </p:spTree>
    <p:extLst>
      <p:ext uri="{BB962C8B-B14F-4D97-AF65-F5344CB8AC3E}">
        <p14:creationId xmlns:p14="http://schemas.microsoft.com/office/powerpoint/2010/main" val="236952671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402B2D1-0F8B-4618-A306-4CE32E0531C1}"/>
              </a:ext>
            </a:extLst>
          </p:cNvPr>
          <p:cNvSpPr txBox="1"/>
          <p:nvPr/>
        </p:nvSpPr>
        <p:spPr>
          <a:xfrm>
            <a:off x="1195095" y="1627473"/>
            <a:ext cx="5250155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&lt;body&gt;</a:t>
            </a:r>
          </a:p>
          <a:p>
            <a:r>
              <a:rPr lang="en-US" dirty="0">
                <a:latin typeface="Consolas" panose="020B0609020204030204" pitchFamily="49" charset="0"/>
              </a:rPr>
              <a:t>    &lt;div&gt;</a:t>
            </a:r>
          </a:p>
          <a:p>
            <a:r>
              <a:rPr lang="en-US" dirty="0">
                <a:latin typeface="Consolas" panose="020B0609020204030204" pitchFamily="49" charset="0"/>
              </a:rPr>
              <a:t>        &lt;p class="highlight"&gt;Monday.&lt;/p&gt;</a:t>
            </a:r>
          </a:p>
          <a:p>
            <a:r>
              <a:rPr lang="en-US" dirty="0">
                <a:latin typeface="Consolas" panose="020B0609020204030204" pitchFamily="49" charset="0"/>
              </a:rPr>
              <a:t>        &lt;p&gt;Tuesday&lt;/p&gt;</a:t>
            </a:r>
          </a:p>
          <a:p>
            <a:r>
              <a:rPr lang="en-US" dirty="0">
                <a:latin typeface="Consolas" panose="020B0609020204030204" pitchFamily="49" charset="0"/>
              </a:rPr>
              <a:t>    &lt;/div&gt;</a:t>
            </a:r>
          </a:p>
          <a:p>
            <a:r>
              <a:rPr lang="en-US" dirty="0">
                <a:latin typeface="Consolas" panose="020B0609020204030204" pitchFamily="49" charset="0"/>
              </a:rPr>
              <a:t>&lt;/body&gt;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3763D8C-89BF-4A23-81DB-5B08D0CAC991}"/>
              </a:ext>
            </a:extLst>
          </p:cNvPr>
          <p:cNvSpPr txBox="1"/>
          <p:nvPr/>
        </p:nvSpPr>
        <p:spPr>
          <a:xfrm>
            <a:off x="6868729" y="1563743"/>
            <a:ext cx="42799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 p {</a:t>
            </a:r>
          </a:p>
          <a:p>
            <a:pPr lvl="1"/>
            <a:r>
              <a:rPr lang="en-US" dirty="0">
                <a:latin typeface="Consolas" panose="020B0609020204030204" pitchFamily="49" charset="0"/>
              </a:rPr>
              <a:t>   color: green;</a:t>
            </a:r>
          </a:p>
          <a:p>
            <a:r>
              <a:rPr lang="en-US" dirty="0">
                <a:latin typeface="Consolas" panose="020B0609020204030204" pitchFamily="49" charset="0"/>
              </a:rPr>
              <a:t>}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.highlight {</a:t>
            </a:r>
          </a:p>
          <a:p>
            <a:r>
              <a:rPr lang="en-US" dirty="0">
                <a:latin typeface="Consolas" panose="020B0609020204030204" pitchFamily="49" charset="0"/>
              </a:rPr>
              <a:t>	color: red;</a:t>
            </a:r>
          </a:p>
          <a:p>
            <a:r>
              <a:rPr lang="en-US" dirty="0">
                <a:latin typeface="Consolas" panose="020B0609020204030204" pitchFamily="49" charset="0"/>
              </a:rPr>
              <a:t>}</a:t>
            </a:r>
            <a:endParaRPr lang="en-US" dirty="0"/>
          </a:p>
        </p:txBody>
      </p:sp>
      <p:sp>
        <p:nvSpPr>
          <p:cNvPr id="6" name="TextBox 3">
            <a:extLst>
              <a:ext uri="{FF2B5EF4-FFF2-40B4-BE49-F238E27FC236}">
                <a16:creationId xmlns:a16="http://schemas.microsoft.com/office/drawing/2014/main" id="{7BF426BD-BEC7-4C77-BE58-B4D6A1CD57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22639" y="333375"/>
            <a:ext cx="6280822" cy="4770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22BBEA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22BBEA"/>
              </a:buClr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22BBEA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22BBEA"/>
              </a:buClr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22BBEA"/>
              </a:buClr>
              <a:buFont typeface="Wingdings" panose="05000000000000000000" pitchFamily="2" charset="2"/>
              <a:buChar char="v"/>
              <a:defRPr sz="1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2BBEA"/>
              </a:buClr>
              <a:buFont typeface="Wingdings" panose="05000000000000000000" pitchFamily="2" charset="2"/>
              <a:buChar char="v"/>
              <a:defRPr sz="1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2BBEA"/>
              </a:buClr>
              <a:buFont typeface="Wingdings" panose="05000000000000000000" pitchFamily="2" charset="2"/>
              <a:buChar char="v"/>
              <a:defRPr sz="1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2BBEA"/>
              </a:buClr>
              <a:buFont typeface="Wingdings" panose="05000000000000000000" pitchFamily="2" charset="2"/>
              <a:buChar char="v"/>
              <a:defRPr sz="1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2BBEA"/>
              </a:buClr>
              <a:buFont typeface="Wingdings" panose="05000000000000000000" pitchFamily="2" charset="2"/>
              <a:buChar char="v"/>
              <a:defRPr sz="1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fr-FR" sz="2500" dirty="0">
                <a:latin typeface="DJB Miss Molly Brown" pitchFamily="2" charset="0"/>
                <a:cs typeface="Arial" panose="020B0604020202020204" pitchFamily="34" charset="0"/>
              </a:rPr>
              <a:t>Which element(s) will have a </a:t>
            </a:r>
            <a:r>
              <a:rPr lang="en-US" altLang="fr-FR" sz="2500" dirty="0">
                <a:solidFill>
                  <a:srgbClr val="FF0000"/>
                </a:solidFill>
                <a:latin typeface="DJB Miss Molly Brown" pitchFamily="2" charset="0"/>
                <a:cs typeface="Arial" panose="020B0604020202020204" pitchFamily="34" charset="0"/>
              </a:rPr>
              <a:t>green</a:t>
            </a:r>
            <a:r>
              <a:rPr lang="en-US" altLang="fr-FR" sz="2500" dirty="0">
                <a:latin typeface="DJB Miss Molly Brown" pitchFamily="2" charset="0"/>
                <a:cs typeface="Arial" panose="020B0604020202020204" pitchFamily="34" charset="0"/>
              </a:rPr>
              <a:t> text color 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B8B8BA6-AAF0-4D35-8220-7CA07F8B0D75}"/>
              </a:ext>
            </a:extLst>
          </p:cNvPr>
          <p:cNvSpPr txBox="1"/>
          <p:nvPr/>
        </p:nvSpPr>
        <p:spPr>
          <a:xfrm>
            <a:off x="431800" y="446494"/>
            <a:ext cx="84991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/>
              <a:t>Q6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A1B3FD9-089C-49D0-AD7F-8F2503639DB6}"/>
              </a:ext>
            </a:extLst>
          </p:cNvPr>
          <p:cNvCxnSpPr>
            <a:cxnSpLocks/>
          </p:cNvCxnSpPr>
          <p:nvPr/>
        </p:nvCxnSpPr>
        <p:spPr>
          <a:xfrm>
            <a:off x="6445250" y="1401802"/>
            <a:ext cx="0" cy="2946581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AC2740FD-866D-480D-9BD8-9F721BBF1E13}"/>
              </a:ext>
            </a:extLst>
          </p:cNvPr>
          <p:cNvSpPr txBox="1"/>
          <p:nvPr/>
        </p:nvSpPr>
        <p:spPr>
          <a:xfrm>
            <a:off x="3820729" y="4353364"/>
            <a:ext cx="6096000" cy="22307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dirty="0"/>
              <a:t>A) Both paragraphs</a:t>
            </a:r>
          </a:p>
          <a:p>
            <a:pPr>
              <a:lnSpc>
                <a:spcPct val="200000"/>
              </a:lnSpc>
            </a:pPr>
            <a:r>
              <a:rPr lang="en-US" dirty="0"/>
              <a:t>B) Only the paragraph with the class "highlight"</a:t>
            </a:r>
          </a:p>
          <a:p>
            <a:pPr>
              <a:lnSpc>
                <a:spcPct val="200000"/>
              </a:lnSpc>
            </a:pPr>
            <a:r>
              <a:rPr lang="en-US" dirty="0"/>
              <a:t>C) Only the normal paragraph</a:t>
            </a:r>
          </a:p>
          <a:p>
            <a:pPr>
              <a:lnSpc>
                <a:spcPct val="200000"/>
              </a:lnSpc>
            </a:pPr>
            <a:r>
              <a:rPr lang="en-US" dirty="0"/>
              <a:t>D) Neither paragraph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D22D511-20DB-4F26-8562-9233A3B1DF52}"/>
              </a:ext>
            </a:extLst>
          </p:cNvPr>
          <p:cNvSpPr/>
          <p:nvPr/>
        </p:nvSpPr>
        <p:spPr>
          <a:xfrm>
            <a:off x="3632200" y="5468733"/>
            <a:ext cx="3543300" cy="642173"/>
          </a:xfrm>
          <a:prstGeom prst="ellipse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1411233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94FC50C8-7466-44C5-95BC-FE9C7668AAD0}"/>
              </a:ext>
            </a:extLst>
          </p:cNvPr>
          <p:cNvSpPr txBox="1"/>
          <p:nvPr/>
        </p:nvSpPr>
        <p:spPr>
          <a:xfrm>
            <a:off x="3435541" y="4474666"/>
            <a:ext cx="20231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800" dirty="0"/>
              <a:t>div h1 { </a:t>
            </a:r>
            <a:r>
              <a:rPr lang="fr-FR" sz="1800" dirty="0" err="1"/>
              <a:t>color</a:t>
            </a:r>
            <a:r>
              <a:rPr lang="fr-FR" sz="1800" dirty="0"/>
              <a:t> : </a:t>
            </a:r>
            <a:r>
              <a:rPr lang="fr-FR" sz="1800" dirty="0" err="1"/>
              <a:t>red</a:t>
            </a:r>
            <a:r>
              <a:rPr lang="fr-FR" sz="1800" dirty="0"/>
              <a:t>;}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4A45417-ED2E-4348-9917-8F32E406B829}"/>
              </a:ext>
            </a:extLst>
          </p:cNvPr>
          <p:cNvSpPr txBox="1"/>
          <p:nvPr/>
        </p:nvSpPr>
        <p:spPr>
          <a:xfrm>
            <a:off x="3435541" y="5536342"/>
            <a:ext cx="2027991" cy="46487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fr-FR" sz="1800" dirty="0"/>
              <a:t>div , h1{</a:t>
            </a:r>
            <a:r>
              <a:rPr lang="fr-FR" sz="1800" dirty="0" err="1"/>
              <a:t>color</a:t>
            </a:r>
            <a:r>
              <a:rPr lang="fr-FR" sz="1800" dirty="0"/>
              <a:t> : </a:t>
            </a:r>
            <a:r>
              <a:rPr lang="fr-FR" sz="1800" dirty="0" err="1"/>
              <a:t>red</a:t>
            </a:r>
            <a:r>
              <a:rPr lang="fr-FR" sz="1800" dirty="0"/>
              <a:t>;}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4FC0486D-4397-444A-81ED-D15702F94D18}"/>
              </a:ext>
            </a:extLst>
          </p:cNvPr>
          <p:cNvSpPr/>
          <p:nvPr/>
        </p:nvSpPr>
        <p:spPr>
          <a:xfrm>
            <a:off x="2578291" y="4246545"/>
            <a:ext cx="685800" cy="6858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3600" dirty="0"/>
              <a:t>1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B18DB27A-C2DB-4AE8-B642-95B8F1B7BABA}"/>
              </a:ext>
            </a:extLst>
          </p:cNvPr>
          <p:cNvSpPr/>
          <p:nvPr/>
        </p:nvSpPr>
        <p:spPr>
          <a:xfrm>
            <a:off x="2578291" y="5543533"/>
            <a:ext cx="685800" cy="6858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3600" dirty="0"/>
              <a:t>2</a:t>
            </a: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6E770195-C054-4BA5-9260-99BE213E7578}"/>
              </a:ext>
            </a:extLst>
          </p:cNvPr>
          <p:cNvSpPr/>
          <p:nvPr/>
        </p:nvSpPr>
        <p:spPr>
          <a:xfrm>
            <a:off x="6639116" y="4275120"/>
            <a:ext cx="685800" cy="6858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3600" dirty="0"/>
              <a:t>3</a:t>
            </a: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8CFA9831-F56F-4DCE-94A8-593DC65A79E2}"/>
              </a:ext>
            </a:extLst>
          </p:cNvPr>
          <p:cNvSpPr/>
          <p:nvPr/>
        </p:nvSpPr>
        <p:spPr>
          <a:xfrm>
            <a:off x="6639116" y="5529245"/>
            <a:ext cx="685800" cy="6858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3600" dirty="0"/>
              <a:t>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9121E48-635D-4F72-808B-CCB47B6483E0}"/>
              </a:ext>
            </a:extLst>
          </p:cNvPr>
          <p:cNvSpPr txBox="1"/>
          <p:nvPr/>
        </p:nvSpPr>
        <p:spPr>
          <a:xfrm>
            <a:off x="7689118" y="4474666"/>
            <a:ext cx="2646750" cy="46487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fr-FR" sz="1800" dirty="0"/>
              <a:t>.selection  h1 {</a:t>
            </a:r>
            <a:r>
              <a:rPr lang="fr-FR" sz="1800" dirty="0" err="1"/>
              <a:t>color</a:t>
            </a:r>
            <a:r>
              <a:rPr lang="fr-FR" sz="1800" dirty="0"/>
              <a:t> : </a:t>
            </a:r>
            <a:r>
              <a:rPr lang="fr-FR" sz="1800" dirty="0" err="1"/>
              <a:t>red</a:t>
            </a:r>
            <a:r>
              <a:rPr lang="fr-FR" sz="1800" dirty="0"/>
              <a:t>;}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C3C75B0-04C9-4251-865D-619F2DED5983}"/>
              </a:ext>
            </a:extLst>
          </p:cNvPr>
          <p:cNvSpPr txBox="1"/>
          <p:nvPr/>
        </p:nvSpPr>
        <p:spPr>
          <a:xfrm>
            <a:off x="7689118" y="5536342"/>
            <a:ext cx="2651560" cy="46487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fr-FR" sz="1800" dirty="0"/>
              <a:t>.selection,  h1{</a:t>
            </a:r>
            <a:r>
              <a:rPr lang="fr-FR" sz="1800" dirty="0" err="1"/>
              <a:t>color</a:t>
            </a:r>
            <a:r>
              <a:rPr lang="fr-FR" sz="1800" dirty="0"/>
              <a:t> : </a:t>
            </a:r>
            <a:r>
              <a:rPr lang="fr-FR" sz="1800" dirty="0" err="1"/>
              <a:t>red</a:t>
            </a:r>
            <a:r>
              <a:rPr lang="fr-FR" sz="1800" dirty="0"/>
              <a:t>;}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1290103-91E5-468F-8469-1DC1F01AB162}"/>
              </a:ext>
            </a:extLst>
          </p:cNvPr>
          <p:cNvSpPr txBox="1"/>
          <p:nvPr/>
        </p:nvSpPr>
        <p:spPr>
          <a:xfrm>
            <a:off x="4402267" y="863223"/>
            <a:ext cx="3730508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&lt;body&gt;</a:t>
            </a:r>
          </a:p>
          <a:p>
            <a:r>
              <a:rPr lang="en-US" dirty="0">
                <a:latin typeface="Consolas" panose="020B0609020204030204" pitchFamily="49" charset="0"/>
              </a:rPr>
              <a:t>    &lt;h1&gt;Monday&lt;/h1&gt;</a:t>
            </a:r>
          </a:p>
          <a:p>
            <a:r>
              <a:rPr lang="en-US" dirty="0">
                <a:latin typeface="Consolas" panose="020B0609020204030204" pitchFamily="49" charset="0"/>
              </a:rPr>
              <a:t>    &lt;div&gt;</a:t>
            </a:r>
          </a:p>
          <a:p>
            <a:r>
              <a:rPr lang="en-US" dirty="0">
                <a:latin typeface="Consolas" panose="020B0609020204030204" pitchFamily="49" charset="0"/>
              </a:rPr>
              <a:t>	&lt;h1&gt;Tuesday&lt;/h1&gt;</a:t>
            </a:r>
          </a:p>
          <a:p>
            <a:r>
              <a:rPr lang="en-US" dirty="0">
                <a:latin typeface="Consolas" panose="020B0609020204030204" pitchFamily="49" charset="0"/>
              </a:rPr>
              <a:t>    &lt;/div&gt;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    &lt;div class=“selection”&gt;</a:t>
            </a:r>
          </a:p>
          <a:p>
            <a:r>
              <a:rPr lang="en-US" dirty="0">
                <a:latin typeface="Consolas" panose="020B0609020204030204" pitchFamily="49" charset="0"/>
              </a:rPr>
              <a:t>	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&lt;h1&gt;Wednesday&lt;/h1&gt;</a:t>
            </a:r>
          </a:p>
          <a:p>
            <a:r>
              <a:rPr lang="en-US" dirty="0">
                <a:latin typeface="Consolas" panose="020B0609020204030204" pitchFamily="49" charset="0"/>
              </a:rPr>
              <a:t>    &lt;/div&gt;</a:t>
            </a:r>
          </a:p>
          <a:p>
            <a:r>
              <a:rPr lang="en-US" dirty="0">
                <a:latin typeface="Consolas" panose="020B0609020204030204" pitchFamily="49" charset="0"/>
              </a:rPr>
              <a:t>&lt;/body&gt;</a:t>
            </a:r>
          </a:p>
        </p:txBody>
      </p:sp>
      <p:sp>
        <p:nvSpPr>
          <p:cNvPr id="40" name="TextBox 3">
            <a:extLst>
              <a:ext uri="{FF2B5EF4-FFF2-40B4-BE49-F238E27FC236}">
                <a16:creationId xmlns:a16="http://schemas.microsoft.com/office/drawing/2014/main" id="{1E6372E3-C5F1-4C9F-9A6B-C1D4037228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22639" y="333375"/>
            <a:ext cx="6144311" cy="4770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22BBEA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22BBEA"/>
              </a:buClr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22BBEA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22BBEA"/>
              </a:buClr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22BBEA"/>
              </a:buClr>
              <a:buFont typeface="Wingdings" panose="05000000000000000000" pitchFamily="2" charset="2"/>
              <a:buChar char="v"/>
              <a:defRPr sz="1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2BBEA"/>
              </a:buClr>
              <a:buFont typeface="Wingdings" panose="05000000000000000000" pitchFamily="2" charset="2"/>
              <a:buChar char="v"/>
              <a:defRPr sz="1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2BBEA"/>
              </a:buClr>
              <a:buFont typeface="Wingdings" panose="05000000000000000000" pitchFamily="2" charset="2"/>
              <a:buChar char="v"/>
              <a:defRPr sz="1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2BBEA"/>
              </a:buClr>
              <a:buFont typeface="Wingdings" panose="05000000000000000000" pitchFamily="2" charset="2"/>
              <a:buChar char="v"/>
              <a:defRPr sz="1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2BBEA"/>
              </a:buClr>
              <a:buFont typeface="Wingdings" panose="05000000000000000000" pitchFamily="2" charset="2"/>
              <a:buChar char="v"/>
              <a:defRPr sz="1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fr-FR" sz="2500" dirty="0">
                <a:latin typeface="DJB Miss Molly Brown" pitchFamily="2" charset="0"/>
                <a:cs typeface="Arial" panose="020B0604020202020204" pitchFamily="34" charset="0"/>
              </a:rPr>
              <a:t>What is the rule to display Wednesday in red?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DFFC000-10E0-4060-A6AD-3EC6F3DA70C1}"/>
              </a:ext>
            </a:extLst>
          </p:cNvPr>
          <p:cNvSpPr txBox="1"/>
          <p:nvPr/>
        </p:nvSpPr>
        <p:spPr>
          <a:xfrm>
            <a:off x="330200" y="333375"/>
            <a:ext cx="84991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/>
              <a:t>Q7</a:t>
            </a:r>
          </a:p>
        </p:txBody>
      </p:sp>
    </p:spTree>
    <p:extLst>
      <p:ext uri="{BB962C8B-B14F-4D97-AF65-F5344CB8AC3E}">
        <p14:creationId xmlns:p14="http://schemas.microsoft.com/office/powerpoint/2010/main" val="1512882139"/>
      </p:ext>
    </p:extLst>
  </p:cSld>
  <p:clrMapOvr>
    <a:masterClrMapping/>
  </p:clrMapOvr>
  <p:transition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94FC50C8-7466-44C5-95BC-FE9C7668AAD0}"/>
              </a:ext>
            </a:extLst>
          </p:cNvPr>
          <p:cNvSpPr txBox="1"/>
          <p:nvPr/>
        </p:nvSpPr>
        <p:spPr>
          <a:xfrm>
            <a:off x="3435541" y="4474666"/>
            <a:ext cx="20231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800" dirty="0"/>
              <a:t>div h1 { </a:t>
            </a:r>
            <a:r>
              <a:rPr lang="fr-FR" sz="1800" dirty="0" err="1"/>
              <a:t>color</a:t>
            </a:r>
            <a:r>
              <a:rPr lang="fr-FR" sz="1800" dirty="0"/>
              <a:t> : </a:t>
            </a:r>
            <a:r>
              <a:rPr lang="fr-FR" sz="1800" dirty="0" err="1"/>
              <a:t>red</a:t>
            </a:r>
            <a:r>
              <a:rPr lang="fr-FR" sz="1800" dirty="0"/>
              <a:t>;}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4A45417-ED2E-4348-9917-8F32E406B829}"/>
              </a:ext>
            </a:extLst>
          </p:cNvPr>
          <p:cNvSpPr txBox="1"/>
          <p:nvPr/>
        </p:nvSpPr>
        <p:spPr>
          <a:xfrm>
            <a:off x="3435541" y="5536342"/>
            <a:ext cx="2027991" cy="46487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fr-FR" sz="1800" dirty="0"/>
              <a:t>div , h1{</a:t>
            </a:r>
            <a:r>
              <a:rPr lang="fr-FR" sz="1800" dirty="0" err="1"/>
              <a:t>color</a:t>
            </a:r>
            <a:r>
              <a:rPr lang="fr-FR" sz="1800" dirty="0"/>
              <a:t> : </a:t>
            </a:r>
            <a:r>
              <a:rPr lang="fr-FR" sz="1800" dirty="0" err="1"/>
              <a:t>red</a:t>
            </a:r>
            <a:r>
              <a:rPr lang="fr-FR" sz="1800" dirty="0"/>
              <a:t>;}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4FC0486D-4397-444A-81ED-D15702F94D18}"/>
              </a:ext>
            </a:extLst>
          </p:cNvPr>
          <p:cNvSpPr/>
          <p:nvPr/>
        </p:nvSpPr>
        <p:spPr>
          <a:xfrm>
            <a:off x="2578291" y="4246545"/>
            <a:ext cx="685800" cy="6858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3600" dirty="0"/>
              <a:t>1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B18DB27A-C2DB-4AE8-B642-95B8F1B7BABA}"/>
              </a:ext>
            </a:extLst>
          </p:cNvPr>
          <p:cNvSpPr/>
          <p:nvPr/>
        </p:nvSpPr>
        <p:spPr>
          <a:xfrm>
            <a:off x="2578291" y="5543533"/>
            <a:ext cx="685800" cy="6858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3600" dirty="0"/>
              <a:t>2</a:t>
            </a: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6E770195-C054-4BA5-9260-99BE213E7578}"/>
              </a:ext>
            </a:extLst>
          </p:cNvPr>
          <p:cNvSpPr/>
          <p:nvPr/>
        </p:nvSpPr>
        <p:spPr>
          <a:xfrm>
            <a:off x="6639116" y="4275120"/>
            <a:ext cx="685800" cy="6858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3600" dirty="0"/>
              <a:t>3</a:t>
            </a: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8CFA9831-F56F-4DCE-94A8-593DC65A79E2}"/>
              </a:ext>
            </a:extLst>
          </p:cNvPr>
          <p:cNvSpPr/>
          <p:nvPr/>
        </p:nvSpPr>
        <p:spPr>
          <a:xfrm>
            <a:off x="6639116" y="5529245"/>
            <a:ext cx="685800" cy="6858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3600" dirty="0"/>
              <a:t>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9121E48-635D-4F72-808B-CCB47B6483E0}"/>
              </a:ext>
            </a:extLst>
          </p:cNvPr>
          <p:cNvSpPr txBox="1"/>
          <p:nvPr/>
        </p:nvSpPr>
        <p:spPr>
          <a:xfrm>
            <a:off x="7689118" y="4474666"/>
            <a:ext cx="2646750" cy="46487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fr-FR" sz="1800" dirty="0"/>
              <a:t>.selection  h1 {</a:t>
            </a:r>
            <a:r>
              <a:rPr lang="fr-FR" sz="1800" dirty="0" err="1"/>
              <a:t>color</a:t>
            </a:r>
            <a:r>
              <a:rPr lang="fr-FR" sz="1800" dirty="0"/>
              <a:t> : </a:t>
            </a:r>
            <a:r>
              <a:rPr lang="fr-FR" sz="1800" dirty="0" err="1"/>
              <a:t>red</a:t>
            </a:r>
            <a:r>
              <a:rPr lang="fr-FR" sz="1800" dirty="0"/>
              <a:t>;}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C3C75B0-04C9-4251-865D-619F2DED5983}"/>
              </a:ext>
            </a:extLst>
          </p:cNvPr>
          <p:cNvSpPr txBox="1"/>
          <p:nvPr/>
        </p:nvSpPr>
        <p:spPr>
          <a:xfrm>
            <a:off x="7689118" y="5536342"/>
            <a:ext cx="2651560" cy="46487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fr-FR" sz="1800" dirty="0"/>
              <a:t>.selection,  h1{</a:t>
            </a:r>
            <a:r>
              <a:rPr lang="fr-FR" sz="1800" dirty="0" err="1"/>
              <a:t>color</a:t>
            </a:r>
            <a:r>
              <a:rPr lang="fr-FR" sz="1800" dirty="0"/>
              <a:t> : </a:t>
            </a:r>
            <a:r>
              <a:rPr lang="fr-FR" sz="1800" dirty="0" err="1"/>
              <a:t>red</a:t>
            </a:r>
            <a:r>
              <a:rPr lang="fr-FR" sz="1800" dirty="0"/>
              <a:t>;}</a:t>
            </a: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4771F74C-F48E-4CB8-BC43-61BD727A09C8}"/>
              </a:ext>
            </a:extLst>
          </p:cNvPr>
          <p:cNvSpPr/>
          <p:nvPr/>
        </p:nvSpPr>
        <p:spPr>
          <a:xfrm>
            <a:off x="7482114" y="4204416"/>
            <a:ext cx="3135393" cy="1005369"/>
          </a:xfrm>
          <a:prstGeom prst="ellipse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63942E1-F03D-498C-8644-BA3CE80F850A}"/>
              </a:ext>
            </a:extLst>
          </p:cNvPr>
          <p:cNvSpPr txBox="1"/>
          <p:nvPr/>
        </p:nvSpPr>
        <p:spPr>
          <a:xfrm>
            <a:off x="4402267" y="863223"/>
            <a:ext cx="3730508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&lt;body&gt;</a:t>
            </a:r>
          </a:p>
          <a:p>
            <a:r>
              <a:rPr lang="en-US" dirty="0">
                <a:latin typeface="Consolas" panose="020B0609020204030204" pitchFamily="49" charset="0"/>
              </a:rPr>
              <a:t>    &lt;h1&gt;Monday&lt;/h1&gt;</a:t>
            </a:r>
          </a:p>
          <a:p>
            <a:r>
              <a:rPr lang="en-US" dirty="0">
                <a:latin typeface="Consolas" panose="020B0609020204030204" pitchFamily="49" charset="0"/>
              </a:rPr>
              <a:t>    &lt;div&gt;</a:t>
            </a:r>
          </a:p>
          <a:p>
            <a:r>
              <a:rPr lang="en-US" dirty="0">
                <a:latin typeface="Consolas" panose="020B0609020204030204" pitchFamily="49" charset="0"/>
              </a:rPr>
              <a:t>	&lt;h1&gt;Tuesday&lt;/h1&gt;</a:t>
            </a:r>
          </a:p>
          <a:p>
            <a:r>
              <a:rPr lang="en-US" dirty="0">
                <a:latin typeface="Consolas" panose="020B0609020204030204" pitchFamily="49" charset="0"/>
              </a:rPr>
              <a:t>    &lt;/div&gt;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    &lt;div class=“selection”&gt;</a:t>
            </a:r>
          </a:p>
          <a:p>
            <a:r>
              <a:rPr lang="en-US" dirty="0">
                <a:latin typeface="Consolas" panose="020B0609020204030204" pitchFamily="49" charset="0"/>
              </a:rPr>
              <a:t>	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&lt;h1&gt;Wednesday&lt;/h1&gt;</a:t>
            </a:r>
          </a:p>
          <a:p>
            <a:r>
              <a:rPr lang="en-US" dirty="0">
                <a:latin typeface="Consolas" panose="020B0609020204030204" pitchFamily="49" charset="0"/>
              </a:rPr>
              <a:t>    &lt;/div&gt;</a:t>
            </a:r>
          </a:p>
          <a:p>
            <a:r>
              <a:rPr lang="en-US" dirty="0">
                <a:latin typeface="Consolas" panose="020B0609020204030204" pitchFamily="49" charset="0"/>
              </a:rPr>
              <a:t>&lt;/body&gt;</a:t>
            </a:r>
          </a:p>
        </p:txBody>
      </p:sp>
      <p:sp>
        <p:nvSpPr>
          <p:cNvPr id="40" name="TextBox 3">
            <a:extLst>
              <a:ext uri="{FF2B5EF4-FFF2-40B4-BE49-F238E27FC236}">
                <a16:creationId xmlns:a16="http://schemas.microsoft.com/office/drawing/2014/main" id="{7506C83F-D266-46A0-BB5E-6715E29921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22639" y="333375"/>
            <a:ext cx="6144311" cy="4770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22BBEA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22BBEA"/>
              </a:buClr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22BBEA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22BBEA"/>
              </a:buClr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22BBEA"/>
              </a:buClr>
              <a:buFont typeface="Wingdings" panose="05000000000000000000" pitchFamily="2" charset="2"/>
              <a:buChar char="v"/>
              <a:defRPr sz="1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2BBEA"/>
              </a:buClr>
              <a:buFont typeface="Wingdings" panose="05000000000000000000" pitchFamily="2" charset="2"/>
              <a:buChar char="v"/>
              <a:defRPr sz="1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2BBEA"/>
              </a:buClr>
              <a:buFont typeface="Wingdings" panose="05000000000000000000" pitchFamily="2" charset="2"/>
              <a:buChar char="v"/>
              <a:defRPr sz="1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2BBEA"/>
              </a:buClr>
              <a:buFont typeface="Wingdings" panose="05000000000000000000" pitchFamily="2" charset="2"/>
              <a:buChar char="v"/>
              <a:defRPr sz="1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2BBEA"/>
              </a:buClr>
              <a:buFont typeface="Wingdings" panose="05000000000000000000" pitchFamily="2" charset="2"/>
              <a:buChar char="v"/>
              <a:defRPr sz="1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fr-FR" sz="2500" dirty="0">
                <a:latin typeface="DJB Miss Molly Brown" pitchFamily="2" charset="0"/>
                <a:cs typeface="Arial" panose="020B0604020202020204" pitchFamily="34" charset="0"/>
              </a:rPr>
              <a:t>What is the rule to display Wednesday in red?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6A3A28E-C91C-4E46-8206-5ACAECBA7E2C}"/>
              </a:ext>
            </a:extLst>
          </p:cNvPr>
          <p:cNvSpPr txBox="1"/>
          <p:nvPr/>
        </p:nvSpPr>
        <p:spPr>
          <a:xfrm>
            <a:off x="330200" y="333375"/>
            <a:ext cx="84991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/>
              <a:t>Q7</a:t>
            </a:r>
          </a:p>
        </p:txBody>
      </p:sp>
    </p:spTree>
    <p:extLst>
      <p:ext uri="{BB962C8B-B14F-4D97-AF65-F5344CB8AC3E}">
        <p14:creationId xmlns:p14="http://schemas.microsoft.com/office/powerpoint/2010/main" val="175733587"/>
      </p:ext>
    </p:extLst>
  </p:cSld>
  <p:clrMapOvr>
    <a:masterClrMapping/>
  </p:clrMapOvr>
  <p:transition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DD"/>
        </a:solidFill>
        <a:effectLst/>
      </p:bgPr>
    </p:bg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/>
          <p:cNvSpPr txBox="1"/>
          <p:nvPr/>
        </p:nvSpPr>
        <p:spPr>
          <a:xfrm>
            <a:off x="814389" y="252995"/>
            <a:ext cx="10405151" cy="10771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lang="en-US" sz="3200" b="1" i="0" dirty="0">
                <a:solidFill>
                  <a:srgbClr val="1F2328"/>
                </a:solidFill>
                <a:effectLst/>
                <a:latin typeface="-apple-system"/>
              </a:rPr>
              <a:t>Congratulations !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lang="en-US" sz="3200" dirty="0">
                <a:solidFill>
                  <a:srgbClr val="1F2328"/>
                </a:solidFill>
                <a:latin typeface="-apple-system"/>
              </a:rPr>
              <a:t>You should now master those concepts</a:t>
            </a:r>
            <a:r>
              <a:rPr lang="en-US" sz="3200" i="0" dirty="0">
                <a:solidFill>
                  <a:srgbClr val="1F2328"/>
                </a:solidFill>
                <a:effectLst/>
                <a:latin typeface="-apple-system"/>
              </a:rPr>
              <a:t> </a:t>
            </a:r>
            <a:endParaRPr sz="320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9" name="Google Shape;99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74077" y="271181"/>
            <a:ext cx="801896" cy="80189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99;p2">
            <a:extLst>
              <a:ext uri="{FF2B5EF4-FFF2-40B4-BE49-F238E27FC236}">
                <a16:creationId xmlns:a16="http://schemas.microsoft.com/office/drawing/2014/main" id="{B4115F10-8760-4507-91A8-A8B5DECB6C3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91716" y="229478"/>
            <a:ext cx="801896" cy="801896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2881178-8600-4B89-8875-4E5FE856D530}"/>
              </a:ext>
            </a:extLst>
          </p:cNvPr>
          <p:cNvSpPr txBox="1"/>
          <p:nvPr/>
        </p:nvSpPr>
        <p:spPr>
          <a:xfrm>
            <a:off x="1089256" y="1936492"/>
            <a:ext cx="10772544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3200" dirty="0"/>
              <a:t>Apply inline, internal, and external </a:t>
            </a:r>
            <a:r>
              <a:rPr lang="en-US" sz="3200" b="1" dirty="0"/>
              <a:t>CSS styles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3200" dirty="0"/>
              <a:t>Manipulate </a:t>
            </a:r>
            <a:r>
              <a:rPr lang="en-US" sz="3200" b="1" dirty="0"/>
              <a:t>font and color properties</a:t>
            </a:r>
            <a:r>
              <a:rPr lang="en-US" sz="3200" dirty="0"/>
              <a:t> on HTML elements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endParaRPr lang="en-US" sz="3200" b="1" dirty="0"/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3200" dirty="0"/>
              <a:t>Use various </a:t>
            </a:r>
            <a:r>
              <a:rPr lang="en-US" sz="3200" b="1" dirty="0"/>
              <a:t>CSS selectors </a:t>
            </a:r>
            <a:r>
              <a:rPr lang="en-US" sz="3200" dirty="0"/>
              <a:t>to target HTML elements</a:t>
            </a:r>
          </a:p>
          <a:p>
            <a:pPr marL="1371600" lvl="2" indent="-457200">
              <a:buFont typeface="Wingdings" panose="05000000000000000000" pitchFamily="2" charset="2"/>
              <a:buChar char="§"/>
            </a:pPr>
            <a:r>
              <a:rPr lang="en-US" sz="3200" dirty="0">
                <a:solidFill>
                  <a:schemeClr val="accent2"/>
                </a:solidFill>
              </a:rPr>
              <a:t>Type</a:t>
            </a:r>
            <a:r>
              <a:rPr lang="en-US" sz="3200" dirty="0"/>
              <a:t> Selector  </a:t>
            </a:r>
            <a:r>
              <a:rPr lang="en-US" sz="3200" dirty="0">
                <a:solidFill>
                  <a:schemeClr val="bg1">
                    <a:lumMod val="50000"/>
                  </a:schemeClr>
                </a:solidFill>
              </a:rPr>
              <a:t>h3 {}</a:t>
            </a:r>
          </a:p>
          <a:p>
            <a:pPr marL="1371600" lvl="2" indent="-457200">
              <a:buFont typeface="Wingdings" panose="05000000000000000000" pitchFamily="2" charset="2"/>
              <a:buChar char="§"/>
            </a:pPr>
            <a:r>
              <a:rPr lang="en-US" sz="3200" dirty="0">
                <a:solidFill>
                  <a:schemeClr val="accent6"/>
                </a:solidFill>
              </a:rPr>
              <a:t>ID</a:t>
            </a:r>
            <a:r>
              <a:rPr lang="en-US" sz="3200" dirty="0"/>
              <a:t> Selector </a:t>
            </a:r>
            <a:r>
              <a:rPr lang="en-US" sz="3200" dirty="0">
                <a:solidFill>
                  <a:schemeClr val="bg1">
                    <a:lumMod val="50000"/>
                  </a:schemeClr>
                </a:solidFill>
              </a:rPr>
              <a:t>#id {}</a:t>
            </a:r>
          </a:p>
          <a:p>
            <a:pPr marL="1371600" lvl="2" indent="-457200">
              <a:buFont typeface="Wingdings" panose="05000000000000000000" pitchFamily="2" charset="2"/>
              <a:buChar char="§"/>
            </a:pPr>
            <a:r>
              <a:rPr lang="en-US" sz="3200" dirty="0">
                <a:solidFill>
                  <a:schemeClr val="accent1"/>
                </a:solidFill>
              </a:rPr>
              <a:t>Class</a:t>
            </a:r>
            <a:r>
              <a:rPr lang="en-US" sz="3200" dirty="0"/>
              <a:t> Selector </a:t>
            </a:r>
            <a:r>
              <a:rPr lang="en-US" sz="3200" dirty="0">
                <a:solidFill>
                  <a:schemeClr val="bg1">
                    <a:lumMod val="50000"/>
                  </a:schemeClr>
                </a:solidFill>
              </a:rPr>
              <a:t>.class {}</a:t>
            </a:r>
          </a:p>
          <a:p>
            <a:pPr marL="1371600" lvl="2" indent="-457200">
              <a:buFont typeface="Wingdings" panose="05000000000000000000" pitchFamily="2" charset="2"/>
              <a:buChar char="§"/>
            </a:pPr>
            <a:r>
              <a:rPr lang="en-US" sz="3200" dirty="0">
                <a:solidFill>
                  <a:srgbClr val="A1459D"/>
                </a:solidFill>
              </a:rPr>
              <a:t>Grouping </a:t>
            </a:r>
            <a:r>
              <a:rPr lang="en-US" sz="3200" dirty="0"/>
              <a:t>Selector</a:t>
            </a:r>
            <a:r>
              <a:rPr lang="en-US" sz="3200" dirty="0">
                <a:solidFill>
                  <a:srgbClr val="A1459D"/>
                </a:solidFill>
              </a:rPr>
              <a:t>    </a:t>
            </a:r>
            <a:r>
              <a:rPr lang="en-US" sz="3200" dirty="0">
                <a:solidFill>
                  <a:schemeClr val="bg1">
                    <a:lumMod val="50000"/>
                  </a:schemeClr>
                </a:solidFill>
              </a:rPr>
              <a:t>h3, .warning {}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endParaRPr lang="en-US" sz="3200" dirty="0"/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3200" dirty="0"/>
              <a:t>Understand the </a:t>
            </a:r>
            <a:r>
              <a:rPr lang="en-US" sz="3200" b="1" dirty="0"/>
              <a:t>concept of CSS Inheritance</a:t>
            </a:r>
            <a:endParaRPr lang="en-US" sz="3200" i="1" dirty="0"/>
          </a:p>
        </p:txBody>
      </p:sp>
    </p:spTree>
    <p:extLst>
      <p:ext uri="{BB962C8B-B14F-4D97-AF65-F5344CB8AC3E}">
        <p14:creationId xmlns:p14="http://schemas.microsoft.com/office/powerpoint/2010/main" val="420692624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1843;p248">
            <a:extLst>
              <a:ext uri="{FF2B5EF4-FFF2-40B4-BE49-F238E27FC236}">
                <a16:creationId xmlns:a16="http://schemas.microsoft.com/office/drawing/2014/main" id="{17A0B1EF-BCBF-4A5E-A2E3-53DD5B2B4DE3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403741" y="4758266"/>
            <a:ext cx="1652916" cy="165291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98;p2">
            <a:extLst>
              <a:ext uri="{FF2B5EF4-FFF2-40B4-BE49-F238E27FC236}">
                <a16:creationId xmlns:a16="http://schemas.microsoft.com/office/drawing/2014/main" id="{14A92AB3-6BA9-4C5D-BFCF-FB016DFC2FD4}"/>
              </a:ext>
            </a:extLst>
          </p:cNvPr>
          <p:cNvSpPr txBox="1"/>
          <p:nvPr/>
        </p:nvSpPr>
        <p:spPr>
          <a:xfrm>
            <a:off x="3002273" y="1098517"/>
            <a:ext cx="5577854" cy="8001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4000" b="0" i="0" u="none" strike="noStrike" cap="none" dirty="0">
                <a:solidFill>
                  <a:srgbClr val="000000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3-2-1 Challenge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98241C1-95DB-4741-8DEB-FBD10583A0AB}"/>
              </a:ext>
            </a:extLst>
          </p:cNvPr>
          <p:cNvSpPr txBox="1"/>
          <p:nvPr/>
        </p:nvSpPr>
        <p:spPr>
          <a:xfrm>
            <a:off x="0" y="0"/>
            <a:ext cx="2590800" cy="36933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>
              <a:defRPr/>
            </a:pPr>
            <a:r>
              <a:rPr lang="en-US" dirty="0"/>
              <a:t>WRAPPING THE LESSON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A8C8CFF-2EFC-4F38-A134-ED96C4BA3AEE}"/>
              </a:ext>
            </a:extLst>
          </p:cNvPr>
          <p:cNvSpPr txBox="1"/>
          <p:nvPr/>
        </p:nvSpPr>
        <p:spPr>
          <a:xfrm>
            <a:off x="2577118" y="2198769"/>
            <a:ext cx="678333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 algn="l">
              <a:buFont typeface="Wingdings" panose="05000000000000000000" pitchFamily="2" charset="2"/>
              <a:buChar char="ü"/>
            </a:pPr>
            <a:r>
              <a:rPr lang="en-US" sz="2400" b="0" i="0" dirty="0">
                <a:solidFill>
                  <a:srgbClr val="374151"/>
                </a:solidFill>
                <a:effectLst/>
              </a:rPr>
              <a:t>List three things you </a:t>
            </a:r>
            <a:r>
              <a:rPr lang="en-US" sz="2400" b="1" i="0" dirty="0">
                <a:solidFill>
                  <a:srgbClr val="374151"/>
                </a:solidFill>
                <a:effectLst/>
              </a:rPr>
              <a:t>learned</a:t>
            </a:r>
            <a:r>
              <a:rPr lang="en-US" sz="2400" b="0" i="0" dirty="0">
                <a:solidFill>
                  <a:srgbClr val="374151"/>
                </a:solidFill>
                <a:effectLst/>
              </a:rPr>
              <a:t> today.</a:t>
            </a:r>
          </a:p>
          <a:p>
            <a:pPr marL="342900" indent="-342900" algn="l">
              <a:buFont typeface="Wingdings" panose="05000000000000000000" pitchFamily="2" charset="2"/>
              <a:buChar char="ü"/>
            </a:pPr>
            <a:r>
              <a:rPr lang="en-US" sz="2400" b="0" i="0" dirty="0">
                <a:solidFill>
                  <a:srgbClr val="374151"/>
                </a:solidFill>
                <a:effectLst/>
              </a:rPr>
              <a:t>List two </a:t>
            </a:r>
            <a:r>
              <a:rPr lang="en-US" sz="2400" b="1" i="0" dirty="0">
                <a:solidFill>
                  <a:srgbClr val="374151"/>
                </a:solidFill>
                <a:effectLst/>
              </a:rPr>
              <a:t>questions</a:t>
            </a:r>
            <a:r>
              <a:rPr lang="en-US" sz="2400" b="0" i="0" dirty="0">
                <a:solidFill>
                  <a:srgbClr val="374151"/>
                </a:solidFill>
                <a:effectLst/>
              </a:rPr>
              <a:t> you still have.</a:t>
            </a:r>
          </a:p>
          <a:p>
            <a:pPr marL="342900" indent="-342900" algn="l">
              <a:buFont typeface="Wingdings" panose="05000000000000000000" pitchFamily="2" charset="2"/>
              <a:buChar char="ü"/>
            </a:pPr>
            <a:r>
              <a:rPr lang="en-US" sz="2400" b="0" i="0" dirty="0">
                <a:solidFill>
                  <a:srgbClr val="374151"/>
                </a:solidFill>
                <a:effectLst/>
              </a:rPr>
              <a:t>List one aspect of the lesson or topic you </a:t>
            </a:r>
            <a:r>
              <a:rPr lang="en-US" sz="2400" b="1" i="0" dirty="0">
                <a:solidFill>
                  <a:srgbClr val="374151"/>
                </a:solidFill>
                <a:effectLst/>
              </a:rPr>
              <a:t>enjoyed</a:t>
            </a:r>
            <a:r>
              <a:rPr lang="en-US" sz="2400" b="0" i="0" dirty="0">
                <a:solidFill>
                  <a:srgbClr val="374151"/>
                </a:solidFill>
                <a:effectLst/>
              </a:rPr>
              <a:t>.</a:t>
            </a:r>
          </a:p>
        </p:txBody>
      </p:sp>
      <p:pic>
        <p:nvPicPr>
          <p:cNvPr id="6" name="Google Shape;1850;p249">
            <a:extLst>
              <a:ext uri="{FF2B5EF4-FFF2-40B4-BE49-F238E27FC236}">
                <a16:creationId xmlns:a16="http://schemas.microsoft.com/office/drawing/2014/main" id="{187B54F2-F1F8-45A3-BED0-3D0B5B64C19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120207" y="4659231"/>
            <a:ext cx="1697154" cy="1694415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1857;p250">
            <a:extLst>
              <a:ext uri="{FF2B5EF4-FFF2-40B4-BE49-F238E27FC236}">
                <a16:creationId xmlns:a16="http://schemas.microsoft.com/office/drawing/2014/main" id="{A3279E6E-8CAA-4DCB-AAC0-10035EEFCC7E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843204" y="4685749"/>
            <a:ext cx="1606323" cy="160373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0738906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92E25DE-4F3A-4DA6-B266-00702537D1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390725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C2E142C-0FAA-4AE4-AC86-2901D0AEBE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3391" y="2108200"/>
            <a:ext cx="8861850" cy="415487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0DC9D11-B9FB-47DA-98BD-0B8464ECE8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71469" y="230120"/>
            <a:ext cx="7125694" cy="96215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7AE1279-C1A6-46AB-BDBC-B5FD356DD301}"/>
              </a:ext>
            </a:extLst>
          </p:cNvPr>
          <p:cNvSpPr txBox="1"/>
          <p:nvPr/>
        </p:nvSpPr>
        <p:spPr>
          <a:xfrm>
            <a:off x="3924300" y="1422399"/>
            <a:ext cx="5054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5"/>
              </a:rPr>
              <a:t>https://adam-marsden.co.uk/css-cheat-sheet</a:t>
            </a:r>
            <a:endParaRPr lang="en-US" dirty="0"/>
          </a:p>
        </p:txBody>
      </p:sp>
      <p:sp>
        <p:nvSpPr>
          <p:cNvPr id="10" name="Google Shape;107;p2">
            <a:extLst>
              <a:ext uri="{FF2B5EF4-FFF2-40B4-BE49-F238E27FC236}">
                <a16:creationId xmlns:a16="http://schemas.microsoft.com/office/drawing/2014/main" id="{4D0293DD-8F84-4913-A978-D6DAE0EBDA2D}"/>
              </a:ext>
            </a:extLst>
          </p:cNvPr>
          <p:cNvSpPr txBox="1"/>
          <p:nvPr/>
        </p:nvSpPr>
        <p:spPr>
          <a:xfrm>
            <a:off x="0" y="-4207"/>
            <a:ext cx="2095838" cy="369332"/>
          </a:xfrm>
          <a:prstGeom prst="rect">
            <a:avLst/>
          </a:prstGeom>
          <a:solidFill>
            <a:schemeClr val="dk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lang="en-US" sz="18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HAVE A LOOK !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8CDCBAE-526D-4C7A-BC13-7B09C38E75A6}"/>
              </a:ext>
            </a:extLst>
          </p:cNvPr>
          <p:cNvSpPr txBox="1"/>
          <p:nvPr/>
        </p:nvSpPr>
        <p:spPr>
          <a:xfrm>
            <a:off x="3924301" y="6258548"/>
            <a:ext cx="54991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1800" b="0" i="1" u="none" strike="noStrike" cap="none" dirty="0">
                <a:solidFill>
                  <a:srgbClr val="000000"/>
                </a:solidFill>
                <a:ea typeface="Montserrat"/>
                <a:cs typeface="Montserrat"/>
                <a:sym typeface="Montserrat"/>
              </a:rPr>
              <a:t>A nice summary of everything you need to know on CSS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112002147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F3D6D76D-44E9-4AFD-8989-AB87277639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1047919" y="3934719"/>
            <a:ext cx="9156700" cy="2934511"/>
          </a:xfrm>
          <a:prstGeom prst="rect">
            <a:avLst/>
          </a:prstGeom>
        </p:spPr>
      </p:pic>
      <p:sp>
        <p:nvSpPr>
          <p:cNvPr id="107" name="Google Shape;107;p2"/>
          <p:cNvSpPr txBox="1"/>
          <p:nvPr/>
        </p:nvSpPr>
        <p:spPr>
          <a:xfrm>
            <a:off x="0" y="-4207"/>
            <a:ext cx="2095838" cy="369332"/>
          </a:xfrm>
          <a:prstGeom prst="rect">
            <a:avLst/>
          </a:prstGeom>
          <a:solidFill>
            <a:schemeClr val="dk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lang="en-US" sz="18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TODO AFTER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2"/>
          <p:cNvSpPr txBox="1"/>
          <p:nvPr/>
        </p:nvSpPr>
        <p:spPr>
          <a:xfrm>
            <a:off x="4026535" y="180458"/>
            <a:ext cx="3906618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 sz="3600" b="1" i="0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After this session !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C4049DA7-019C-43C3-A527-9F53ACA7BA32}"/>
              </a:ext>
            </a:extLst>
          </p:cNvPr>
          <p:cNvCxnSpPr>
            <a:cxnSpLocks/>
          </p:cNvCxnSpPr>
          <p:nvPr/>
        </p:nvCxnSpPr>
        <p:spPr>
          <a:xfrm flipV="1">
            <a:off x="5756920" y="1416499"/>
            <a:ext cx="0" cy="475255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59E6F8B6-1135-4122-B832-A668B3021CF8}"/>
              </a:ext>
            </a:extLst>
          </p:cNvPr>
          <p:cNvSpPr txBox="1"/>
          <p:nvPr/>
        </p:nvSpPr>
        <p:spPr>
          <a:xfrm>
            <a:off x="6756775" y="1154889"/>
            <a:ext cx="31413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28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PART 2  – PLAY !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01BCF1F-0F04-4D79-A27D-630EC752EB40}"/>
              </a:ext>
            </a:extLst>
          </p:cNvPr>
          <p:cNvSpPr txBox="1"/>
          <p:nvPr/>
        </p:nvSpPr>
        <p:spPr>
          <a:xfrm>
            <a:off x="5878244" y="1928719"/>
            <a:ext cx="513265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000" dirty="0"/>
              <a:t>Go as far as you can on this game</a:t>
            </a:r>
          </a:p>
          <a:p>
            <a:r>
              <a:rPr lang="en-US" sz="2000" dirty="0"/>
              <a:t>	</a:t>
            </a:r>
            <a:r>
              <a:rPr lang="en-US" sz="2000" dirty="0">
                <a:hlinkClick r:id="rId4"/>
              </a:rPr>
              <a:t>https://flukeout.github.io/</a:t>
            </a:r>
            <a:endParaRPr lang="en-US" sz="20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0724F1F-8408-4C56-B6D7-1B5A70D4A51C}"/>
              </a:ext>
            </a:extLst>
          </p:cNvPr>
          <p:cNvSpPr txBox="1"/>
          <p:nvPr/>
        </p:nvSpPr>
        <p:spPr>
          <a:xfrm>
            <a:off x="892321" y="1173490"/>
            <a:ext cx="43114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28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PART 1  – LEARN MORE !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E641B67-9777-447B-825B-866205AB5C8C}"/>
              </a:ext>
            </a:extLst>
          </p:cNvPr>
          <p:cNvSpPr txBox="1"/>
          <p:nvPr/>
        </p:nvSpPr>
        <p:spPr>
          <a:xfrm>
            <a:off x="239753" y="1997839"/>
            <a:ext cx="5132656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000" dirty="0"/>
              <a:t>Read more about CSS Selectors</a:t>
            </a:r>
          </a:p>
          <a:p>
            <a:r>
              <a:rPr lang="en-US" sz="2000" dirty="0">
                <a:hlinkClick r:id="rId5"/>
              </a:rPr>
              <a:t>https://web.dev/learn/css/selectors</a:t>
            </a:r>
            <a:endParaRPr lang="en-US" sz="2000" dirty="0"/>
          </a:p>
          <a:p>
            <a:endParaRPr lang="en-US" sz="2000" dirty="0"/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00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Read the CSS Cheat </a:t>
            </a: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Sheet</a:t>
            </a:r>
          </a:p>
          <a:p>
            <a:r>
              <a:rPr lang="en-US" sz="200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6"/>
              </a:rPr>
              <a:t>https://adam-marsden.co.uk/css-cheat-sheet</a:t>
            </a:r>
            <a:endParaRPr lang="en-US" sz="200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endParaRPr lang="en-US"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endParaRPr lang="en-US" sz="2000" dirty="0"/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00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Another great article about </a:t>
            </a:r>
            <a:r>
              <a:rPr lang="en-US" sz="2000" dirty="0"/>
              <a:t>CSS Selectors</a:t>
            </a:r>
            <a:endParaRPr lang="en-US"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r>
              <a:rPr lang="en-US" sz="200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7"/>
              </a:rPr>
              <a:t>https://css-tricks.com/css-selectors/</a:t>
            </a:r>
            <a:endParaRPr lang="en-US"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endParaRPr lang="en-US" sz="20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2C593F74-60F2-4717-9338-4C6ECBBFA9E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672102">
            <a:off x="7545013" y="3701757"/>
            <a:ext cx="2921758" cy="1159044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CB3C94C3-2DCD-48D1-8D24-60C2C0E4280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0574895">
            <a:off x="7354714" y="4930524"/>
            <a:ext cx="3876060" cy="1204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61214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4016</TotalTime>
  <Words>2515</Words>
  <Application>Microsoft Office PowerPoint</Application>
  <PresentationFormat>Widescreen</PresentationFormat>
  <Paragraphs>514</Paragraphs>
  <Slides>39</Slides>
  <Notes>8</Notes>
  <HiddenSlides>1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51" baseType="lpstr">
      <vt:lpstr>-apple-system</vt:lpstr>
      <vt:lpstr>Arial</vt:lpstr>
      <vt:lpstr>Calibri</vt:lpstr>
      <vt:lpstr>Calibri Light</vt:lpstr>
      <vt:lpstr>Consolas</vt:lpstr>
      <vt:lpstr>DJB Miss Molly Brown</vt:lpstr>
      <vt:lpstr>Montserrat</vt:lpstr>
      <vt:lpstr>Montserrat Black</vt:lpstr>
      <vt:lpstr>Open Sans</vt:lpstr>
      <vt:lpstr>Verdana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Jeanne Peyssard</dc:creator>
  <cp:lastModifiedBy>Ronan Ogor</cp:lastModifiedBy>
  <cp:revision>119</cp:revision>
  <dcterms:created xsi:type="dcterms:W3CDTF">2022-06-22T03:27:32Z</dcterms:created>
  <dcterms:modified xsi:type="dcterms:W3CDTF">2026-09-19T06:58:06Z</dcterms:modified>
</cp:coreProperties>
</file>